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e5ac36758a4c6d" /><Relationship Type="http://schemas.openxmlformats.org/officeDocument/2006/relationships/extended-properties" Target="/docProps/app.xml" Id="Rb813fa520c6a43a2" /><Relationship Type="http://schemas.openxmlformats.org/officeDocument/2006/relationships/officeDocument" Target="/ppt/presentation.xml" Id="R20427bc527c84f7a" /></Relationships>
</file>

<file path=ppt/presentation.xml><?xml version="1.0" encoding="utf-8"?>
<p:presentation xmlns:p="http://schemas.openxmlformats.org/presentationml/2006/main">
  <p:sldMasterIdLst>
    <p:sldMasterId xmlns:r="http://schemas.openxmlformats.org/officeDocument/2006/relationships" id="2147483648" r:id="Rcb9e7c7c549644b5"/>
  </p:sldMasterIdLst>
  <p:notesMasterIdLst>
    <p:notesMasterId xmlns:r="http://schemas.openxmlformats.org/officeDocument/2006/relationships" r:id="Rbb825875e45a4225"/>
  </p:notesMasterIdLst>
  <p:sldIdLst>
    <p:sldId xmlns:r="http://schemas.openxmlformats.org/officeDocument/2006/relationships" id="256" r:id="R70253ea9534643b4"/>
    <p:sldId xmlns:r="http://schemas.openxmlformats.org/officeDocument/2006/relationships" id="257" r:id="R4d52db441042413c"/>
    <p:sldId xmlns:r="http://schemas.openxmlformats.org/officeDocument/2006/relationships" id="258" r:id="R4f8d116a35194c80"/>
    <p:sldId xmlns:r="http://schemas.openxmlformats.org/officeDocument/2006/relationships" id="259" r:id="Re22b4b3ea5fa41be"/>
    <p:sldId xmlns:r="http://schemas.openxmlformats.org/officeDocument/2006/relationships" id="260" r:id="R1dc95a558177422f"/>
    <p:sldId xmlns:r="http://schemas.openxmlformats.org/officeDocument/2006/relationships" id="261" r:id="R8b3cc3164d4541fb"/>
    <p:sldId xmlns:r="http://schemas.openxmlformats.org/officeDocument/2006/relationships" id="262" r:id="R33addcf9cc9a4058"/>
    <p:sldId xmlns:r="http://schemas.openxmlformats.org/officeDocument/2006/relationships" id="263" r:id="Rfcaf533f97eb4322"/>
    <p:sldId xmlns:r="http://schemas.openxmlformats.org/officeDocument/2006/relationships" id="264" r:id="R76eae055221d44c6"/>
    <p:sldId xmlns:r="http://schemas.openxmlformats.org/officeDocument/2006/relationships" id="265" r:id="Rce6894932f4f4b82"/>
    <p:sldId xmlns:r="http://schemas.openxmlformats.org/officeDocument/2006/relationships" id="266" r:id="R786de9477c5d4227"/>
    <p:sldId xmlns:r="http://schemas.openxmlformats.org/officeDocument/2006/relationships" id="267" r:id="R15f2543bcd1c4ebb"/>
    <p:sldId xmlns:r="http://schemas.openxmlformats.org/officeDocument/2006/relationships" id="268" r:id="Rf3c04b3e50e14b65"/>
    <p:sldId xmlns:r="http://schemas.openxmlformats.org/officeDocument/2006/relationships" id="269" r:id="R021219c1122c4d99"/>
    <p:sldId xmlns:r="http://schemas.openxmlformats.org/officeDocument/2006/relationships" id="270" r:id="R7850310bda2e48b1"/>
    <p:sldId xmlns:r="http://schemas.openxmlformats.org/officeDocument/2006/relationships" id="271" r:id="Ra3656784b9c442ca"/>
    <p:sldId xmlns:r="http://schemas.openxmlformats.org/officeDocument/2006/relationships" id="272" r:id="Rabae0c1eb067439c"/>
    <p:sldId xmlns:r="http://schemas.openxmlformats.org/officeDocument/2006/relationships" id="273" r:id="R5732b8fc869d4480"/>
    <p:sldId xmlns:r="http://schemas.openxmlformats.org/officeDocument/2006/relationships" id="274" r:id="Re8aff5cd47d54888"/>
    <p:sldId xmlns:r="http://schemas.openxmlformats.org/officeDocument/2006/relationships" id="275" r:id="Rb4a18654063840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6c89c19c674820" /><Relationship Type="http://schemas.openxmlformats.org/officeDocument/2006/relationships/slideMaster" Target="/ppt/slideMasters/slideMaster1.xml" Id="Rcb9e7c7c549644b5" /><Relationship Type="http://schemas.openxmlformats.org/officeDocument/2006/relationships/notesMaster" Target="/ppt/notesMasters/notesMaster1.xml" Id="Rbb825875e45a4225" /><Relationship Type="http://schemas.openxmlformats.org/officeDocument/2006/relationships/presProps" Target="/ppt/presProps.xml" Id="R9eec9af3634a4328" /><Relationship Type="http://schemas.openxmlformats.org/officeDocument/2006/relationships/tableStyles" Target="/ppt/tableStyles.xml" Id="Rdb8f4bc524a34aa0" /><Relationship Type="http://schemas.openxmlformats.org/officeDocument/2006/relationships/slide" Target="/ppt/slides/slide1.xml" Id="R70253ea9534643b4" /><Relationship Type="http://schemas.openxmlformats.org/officeDocument/2006/relationships/slide" Target="/ppt/slides/slide2.xml" Id="R4d52db441042413c" /><Relationship Type="http://schemas.openxmlformats.org/officeDocument/2006/relationships/slide" Target="/ppt/slides/slide3.xml" Id="R4f8d116a35194c80" /><Relationship Type="http://schemas.openxmlformats.org/officeDocument/2006/relationships/slide" Target="/ppt/slides/slide4.xml" Id="Re22b4b3ea5fa41be" /><Relationship Type="http://schemas.openxmlformats.org/officeDocument/2006/relationships/slide" Target="/ppt/slides/slide5.xml" Id="R1dc95a558177422f" /><Relationship Type="http://schemas.openxmlformats.org/officeDocument/2006/relationships/slide" Target="/ppt/slides/slide6.xml" Id="R8b3cc3164d4541fb" /><Relationship Type="http://schemas.openxmlformats.org/officeDocument/2006/relationships/slide" Target="/ppt/slides/slide7.xml" Id="R33addcf9cc9a4058" /><Relationship Type="http://schemas.openxmlformats.org/officeDocument/2006/relationships/slide" Target="/ppt/slides/slide8.xml" Id="Rfcaf533f97eb4322" /><Relationship Type="http://schemas.openxmlformats.org/officeDocument/2006/relationships/slide" Target="/ppt/slides/slide9.xml" Id="R76eae055221d44c6" /><Relationship Type="http://schemas.openxmlformats.org/officeDocument/2006/relationships/slide" Target="/ppt/slides/slide10.xml" Id="Rce6894932f4f4b82" /><Relationship Type="http://schemas.openxmlformats.org/officeDocument/2006/relationships/slide" Target="/ppt/slides/slide11.xml" Id="R786de9477c5d4227" /><Relationship Type="http://schemas.openxmlformats.org/officeDocument/2006/relationships/slide" Target="/ppt/slides/slide12.xml" Id="R15f2543bcd1c4ebb" /><Relationship Type="http://schemas.openxmlformats.org/officeDocument/2006/relationships/slide" Target="/ppt/slides/slide13.xml" Id="Rf3c04b3e50e14b65" /><Relationship Type="http://schemas.openxmlformats.org/officeDocument/2006/relationships/slide" Target="/ppt/slides/slide14.xml" Id="R021219c1122c4d99" /><Relationship Type="http://schemas.openxmlformats.org/officeDocument/2006/relationships/slide" Target="/ppt/slides/slide15.xml" Id="R7850310bda2e48b1" /><Relationship Type="http://schemas.openxmlformats.org/officeDocument/2006/relationships/slide" Target="/ppt/slides/slide16.xml" Id="Ra3656784b9c442ca" /><Relationship Type="http://schemas.openxmlformats.org/officeDocument/2006/relationships/slide" Target="/ppt/slides/slide17.xml" Id="Rabae0c1eb067439c" /><Relationship Type="http://schemas.openxmlformats.org/officeDocument/2006/relationships/slide" Target="/ppt/slides/slide18.xml" Id="R5732b8fc869d4480" /><Relationship Type="http://schemas.openxmlformats.org/officeDocument/2006/relationships/slide" Target="/ppt/slides/slide19.xml" Id="Re8aff5cd47d54888" /><Relationship Type="http://schemas.openxmlformats.org/officeDocument/2006/relationships/slide" Target="/ppt/slides/slide20.xml" Id="Rb4a18654063840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3c52d7243c4f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a67d175eb84662" /><Relationship Type="http://schemas.openxmlformats.org/officeDocument/2006/relationships/notesMaster" Target="/ppt/notesMasters/notesMaster1.xml" Id="R5f770ae4b2ae4d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25e50788fd4c98" /><Relationship Type="http://schemas.openxmlformats.org/officeDocument/2006/relationships/notesMaster" Target="/ppt/notesMasters/notesMaster1.xml" Id="R3afb7898a8ed46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33fe52645549cd" /><Relationship Type="http://schemas.openxmlformats.org/officeDocument/2006/relationships/notesMaster" Target="/ppt/notesMasters/notesMaster1.xml" Id="R9360ee903ca144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a218520cbe4513" /><Relationship Type="http://schemas.openxmlformats.org/officeDocument/2006/relationships/notesMaster" Target="/ppt/notesMasters/notesMaster1.xml" Id="R2161ad6481e34f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2e706984dc4068" /><Relationship Type="http://schemas.openxmlformats.org/officeDocument/2006/relationships/notesMaster" Target="/ppt/notesMasters/notesMaster1.xml" Id="R71cc82ce08da47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2e13c88ddb4165" /><Relationship Type="http://schemas.openxmlformats.org/officeDocument/2006/relationships/notesMaster" Target="/ppt/notesMasters/notesMaster1.xml" Id="R315a98e1b7c848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81e421088e4f1d" /><Relationship Type="http://schemas.openxmlformats.org/officeDocument/2006/relationships/notesMaster" Target="/ppt/notesMasters/notesMaster1.xml" Id="R667e7facfc6243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1a722f465746cb" /><Relationship Type="http://schemas.openxmlformats.org/officeDocument/2006/relationships/notesMaster" Target="/ppt/notesMasters/notesMaster1.xml" Id="Rf66d9e3bea884e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c959dd76294ed5" /><Relationship Type="http://schemas.openxmlformats.org/officeDocument/2006/relationships/notesMaster" Target="/ppt/notesMasters/notesMaster1.xml" Id="Rf70864cbab204a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cdd82de6254837" /><Relationship Type="http://schemas.openxmlformats.org/officeDocument/2006/relationships/notesMaster" Target="/ppt/notesMasters/notesMaster1.xml" Id="R5ee7a5e65d054e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40db7f319f4273" /><Relationship Type="http://schemas.openxmlformats.org/officeDocument/2006/relationships/notesMaster" Target="/ppt/notesMasters/notesMaster1.xml" Id="Rfdf974289a0d44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1dfd60f2a54fc3" /><Relationship Type="http://schemas.openxmlformats.org/officeDocument/2006/relationships/notesMaster" Target="/ppt/notesMasters/notesMaster1.xml" Id="R0e4943e884b445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eee4f5d14549eb" /><Relationship Type="http://schemas.openxmlformats.org/officeDocument/2006/relationships/notesMaster" Target="/ppt/notesMasters/notesMaster1.xml" Id="Rded85b6b518a4de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1cab52e03b4148" /><Relationship Type="http://schemas.openxmlformats.org/officeDocument/2006/relationships/notesMaster" Target="/ppt/notesMasters/notesMaster1.xml" Id="Rd7dc52e22f3d48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0b1e7815d0c4210" /><Relationship Type="http://schemas.openxmlformats.org/officeDocument/2006/relationships/notesMaster" Target="/ppt/notesMasters/notesMaster1.xml" Id="R0a9ddae69bc4434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237ec942234b0d" /><Relationship Type="http://schemas.openxmlformats.org/officeDocument/2006/relationships/notesMaster" Target="/ppt/notesMasters/notesMaster1.xml" Id="Rc1d8f139e0dd40b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7fbd4b6bdba49b9" /><Relationship Type="http://schemas.openxmlformats.org/officeDocument/2006/relationships/notesMaster" Target="/ppt/notesMasters/notesMaster1.xml" Id="R73826a7f6f2746c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5c2184aed3b4492" /><Relationship Type="http://schemas.openxmlformats.org/officeDocument/2006/relationships/notesMaster" Target="/ppt/notesMasters/notesMaster1.xml" Id="R733da1b4bc81436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c2ab2ba28954afe" /><Relationship Type="http://schemas.openxmlformats.org/officeDocument/2006/relationships/notesMaster" Target="/ppt/notesMasters/notesMaster1.xml" Id="R967611f3ef3d4b3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ed0f0cf7b33467b" /><Relationship Type="http://schemas.openxmlformats.org/officeDocument/2006/relationships/notesMaster" Target="/ppt/notesMasters/notesMaster1.xml" Id="R0df9b65ff8a94c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project does not let multiple agents chat freely. It turns deep research into an inspectable, recoverable engineering system centered 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diagram top to bottom. LangGraph controls the research lifecycle: Recon, Plan, parallel Workers, aggregation, layered audit, and a conditional satisfaction decision. ResearchRuntime wraps external side effects with typed contracts and stable operation keys. Tavily retrieves full pages, local BM25 selects chunks, and the Model Gateway routes and accounts for model calls. Three SQLite ledgers preserve execution position, research evidence, successful operations, and model telemetry.</a:t>
            </a:r>
          </a:p>
          <a:p xmlns:a="http://schemas.openxmlformats.org/drawingml/2006/main">
            <a:r>
              <a:t/>
            </a:r>
          </a:p>
          <a:p xmlns:a="http://schemas.openxmlformats.org/drawingml/2006/main">
            <a:r>
              <a:t>[Sources]</a:t>
            </a:r>
          </a:p>
          <a:p xmlns:a="http://schemas.openxmlformats.org/drawingml/2006/main">
            <a:r>
              <a:t>- Local code: src/deepresearch/graph.py</a:t>
            </a:r>
          </a:p>
          <a:p xmlns:a="http://schemas.openxmlformats.org/drawingml/2006/main">
            <a:r>
              <a:t>- Local code: src/deepresearch/runtime.py</a:t>
            </a:r>
          </a:p>
          <a:p xmlns:a="http://schemas.openxmlformats.org/drawingml/2006/main">
            <a:r>
              <a:t>- Local code: src/deepresearch/store.py</a:t>
            </a:r>
          </a:p>
          <a:p xmlns:a="http://schemas.openxmlformats.org/drawingml/2006/main">
            <a:r>
              <a:t>- Local code: src/deepresearch/model_gateway/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system has two feedback loops operating at different scales.</a:t>
            </a:r>
          </a:p>
          <a:p xmlns:a="http://schemas.openxmlformats.org/drawingml/2006/main">
            <a:r>
              <a:t>The inner loop belongs to one Worker. After every search or followed source, it evaluates accepted evidence and chooses SEARCH, FOLLOW_SOURCE, or STOP. A hard adaptive-step limit prevents open-ended exploration.</a:t>
            </a:r>
          </a:p>
          <a:p xmlns:a="http://schemas.openxmlformats.org/drawingml/2006/main">
            <a:r>
              <a:t>The outer loop operates after a complete parallel Worker wave. The system aggregates persisted evidence, audits claims, and applies deterministic sufficiency gates. If a report-changing gap remains and a replan round is available, the Supervisor appends a small set of targeted tasks and dispatches only that new wave.</a:t>
            </a:r>
          </a:p>
          <a:p xmlns:a="http://schemas.openxmlformats.org/drawingml/2006/main">
            <a:r>
              <a:t>The key design choice is that both loops react to explicit evidence gaps; neither loop is unconstrained model reflection.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uses two bounded loops. The inner Worker loop adapts queries and source following within one ResearchTask. The outer research loop evaluates the combined evidence across all tasks and creates new tasks only when the Auditor finds global gaps. Both loops persist progress before continuing, so adaptation is inspectable and resumable rather than hidden inside one long prompt.</a:t>
            </a:r>
          </a:p>
          <a:p xmlns:a="http://schemas.openxmlformats.org/drawingml/2006/main">
            <a:r>
              <a:t/>
            </a:r>
          </a:p>
          <a:p xmlns:a="http://schemas.openxmlformats.org/drawingml/2006/main">
            <a:r>
              <a:t>[Sources]</a:t>
            </a:r>
          </a:p>
          <a:p xmlns:a="http://schemas.openxmlformats.org/drawingml/2006/main">
            <a:r>
              <a:t>- Local code: src/deepresearch/graph.py: research_worker, audit_node, replan_node</a:t>
            </a:r>
          </a:p>
          <a:p xmlns:a="http://schemas.openxmlformats.org/drawingml/2006/main">
            <a:r>
              <a:t>- Local code: src/deepresearch/schemas.py: WorkerDecision, AuditResult, ReplanDecision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Worker is an adaptive evidence process, not a single search call. It formulates queries from the ResearchTask, retrieves and reads pages, evaluates source quality, extracts atomic evidence, then decides its next action from accumulated evidence and errors. The WorkerDecision schema makes that choice explicit. The graph still imposes a deterministic step ceiling so model autonomy cannot become an unbounded loop.</a:t>
            </a:r>
          </a:p>
          <a:p xmlns:a="http://schemas.openxmlformats.org/drawingml/2006/main">
            <a:r>
              <a:t/>
            </a:r>
          </a:p>
          <a:p xmlns:a="http://schemas.openxmlformats.org/drawingml/2006/main">
            <a:r>
              <a:t>[Sources]</a:t>
            </a:r>
          </a:p>
          <a:p xmlns:a="http://schemas.openxmlformats.org/drawingml/2006/main">
            <a:r>
              <a:t>- Local code: src/deepresearch/graph.py: research_worker</a:t>
            </a:r>
          </a:p>
          <a:p xmlns:a="http://schemas.openxmlformats.org/drawingml/2006/main">
            <a:r>
              <a:t>- Local code: src/deepresearch/agents/worker.py</a:t>
            </a:r>
          </a:p>
          <a:p xmlns:a="http://schemas.openxmlformats.org/drawingml/2006/main">
            <a:r>
              <a:t>- Local code: src/deepresearch/schemas.py: WorkerDecision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Replan is the outer-loop adaptation point. It receives a compact ResearchStateDigest plus the Auditor's structured actionable gaps. It does not discard completed evidence or repeat the initial decomposition. ReplanDecision can continue with a bounded set of new ResearchTasks, retire tasks, or stop. Pydantic validation ensures that a continuation actually contains work and a stop decision cannot secretly add work.</a:t>
            </a:r>
          </a:p>
          <a:p xmlns:a="http://schemas.openxmlformats.org/drawingml/2006/main">
            <a:r>
              <a:t/>
            </a:r>
          </a:p>
          <a:p xmlns:a="http://schemas.openxmlformats.org/drawingml/2006/main">
            <a:r>
              <a:t>[Sources]</a:t>
            </a:r>
          </a:p>
          <a:p xmlns:a="http://schemas.openxmlformats.org/drawingml/2006/main">
            <a:r>
              <a:t>- Local code: src/deepresearch/graph.py: replan_node</a:t>
            </a:r>
          </a:p>
          <a:p xmlns:a="http://schemas.openxmlformats.org/drawingml/2006/main">
            <a:r>
              <a:t>- Local code: src/deepresearch/agents/planner.py: replan</a:t>
            </a:r>
          </a:p>
          <a:p xmlns:a="http://schemas.openxmlformats.org/drawingml/2006/main">
            <a:r>
              <a:t>- Local code: src/deepresearch/schemas.py: ReplanDecision, AuditGap, ResearchStateDigest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audit layer adapts to context size. AuditCoordinator first estimates whether one audit can fit the evidence. A single audit is used for smaller runs. Larger runs receive a durable AuditPlan with bounded AuditChecks. Each check selects only relevant evidence, runs a specialist audit, and returns an AuditResult. The coordinator aggregates these results, then the graph normalizes IDs and applies deterministic sufficiency gates.</a:t>
            </a:r>
          </a:p>
          <a:p xmlns:a="http://schemas.openxmlformats.org/drawingml/2006/main">
            <a:r>
              <a:t/>
            </a:r>
          </a:p>
          <a:p xmlns:a="http://schemas.openxmlformats.org/drawingml/2006/main">
            <a:r>
              <a:t>[Sources]</a:t>
            </a:r>
          </a:p>
          <a:p xmlns:a="http://schemas.openxmlformats.org/drawingml/2006/main">
            <a:r>
              <a:t>- Local code: src/deepresearch/graph.py: audit_node</a:t>
            </a:r>
          </a:p>
          <a:p xmlns:a="http://schemas.openxmlformats.org/drawingml/2006/main">
            <a:r>
              <a:t>- Local code: src/deepresearch/audit_policy.py</a:t>
            </a:r>
          </a:p>
          <a:p xmlns:a="http://schemas.openxmlformats.org/drawingml/2006/main">
            <a:r>
              <a:t>- Local code: src/deepresearch/agents/auditor.py</a:t>
            </a:r>
          </a:p>
          <a:p xmlns:a="http://schemas.openxmlformats.org/drawingml/2006/main">
            <a:r>
              <a:t>- Local code: src/deepresearch/schemas.py: AuditPlan, AuditCheck, AuditResult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Auditor's semantic result is only the first layer of completion. _apply_sufficiency_gates recomputes whether required dimensions, task execution, challenge work, audited conclusions, and source diversity meet the CoverageContract. The normalized AuditResult is persisted. Routing sends the run to Replan only when evidence is insufficient and a follow-up round remains; otherwise the Reporter must expose unresolved gaps rather than hide them.</a:t>
            </a:r>
          </a:p>
          <a:p xmlns:a="http://schemas.openxmlformats.org/drawingml/2006/main">
            <a:r>
              <a:t/>
            </a:r>
          </a:p>
          <a:p xmlns:a="http://schemas.openxmlformats.org/drawingml/2006/main">
            <a:r>
              <a:t>[Sources]</a:t>
            </a:r>
          </a:p>
          <a:p xmlns:a="http://schemas.openxmlformats.org/drawingml/2006/main">
            <a:r>
              <a:t>- Local code: src/deepresearch/graph.py: _apply_sufficiency_gates and route_after_audit</a:t>
            </a:r>
          </a:p>
          <a:p xmlns:a="http://schemas.openxmlformats.org/drawingml/2006/main">
            <a:r>
              <a:t>- Local code: src/deepresearch/schemas.py: AuditResult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problem: full-page extraction is valuable for recall, but sending every chunk to the model is wasteful. The local ranker constructs a weighted task query, computes a dependency-free BM25-style score across chunks, adds exact-phrase boosts and avoid-term penalties, then sends only the top three chunks to DeepSeek. The complete page remains stored, so ranking changes do not destroy evidence.</a:t>
            </a:r>
          </a:p>
          <a:p xmlns:a="http://schemas.openxmlformats.org/drawingml/2006/main">
            <a:r>
              <a:t/>
            </a:r>
          </a:p>
          <a:p xmlns:a="http://schemas.openxmlformats.org/drawingml/2006/main">
            <a:r>
              <a:t>[Sources]</a:t>
            </a:r>
          </a:p>
          <a:p xmlns:a="http://schemas.openxmlformats.org/drawingml/2006/main">
            <a:r>
              <a:t>- Local code: /Users/oscar/coding/takehome/src/deepresearch/agents/worker.py: rank_page_chunks</a:t>
            </a:r>
          </a:p>
          <a:p xmlns:a="http://schemas.openxmlformats.org/drawingml/2006/main">
            <a:r>
              <a:t>- Robertson &amp; Zaragoza (2009), The Probabilistic Relevance Framework: BM25 and Beyond, DOI 10.1561/1500000019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extends the EvidenceOps idea: the message protocol is a verifiable data structure, not persona chat. The final report can cite only evidence IDs that exist in the ledger.</a:t>
            </a:r>
          </a:p>
          <a:p xmlns:a="http://schemas.openxmlformats.org/drawingml/2006/main">
            <a:r>
              <a:t/>
            </a:r>
          </a:p>
          <a:p xmlns:a="http://schemas.openxmlformats.org/drawingml/2006/main">
            <a:r>
              <a:t>[Sources]</a:t>
            </a:r>
          </a:p>
          <a:p xmlns:a="http://schemas.openxmlformats.org/drawingml/2006/main">
            <a:r>
              <a:t>- Local code: src/deepresearch/schemas.py: EvidenceRecord</a:t>
            </a:r>
          </a:p>
          <a:p xmlns:a="http://schemas.openxmlformats.org/drawingml/2006/main">
            <a:r>
              <a:t>- Local code: src/deepresearch/store.py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Gateway is the only path to DeepSeek. Every call includes consistent run, task, Agent, operation, profile, attempt, and context metadata. The router selects the provider model by capability, context, and policy. Budget is reserved before parallel execution and reconciled afterward. The same boundary also performs bounded repair and writes per-attempt telemetry.</a:t>
            </a:r>
          </a:p>
          <a:p xmlns:a="http://schemas.openxmlformats.org/drawingml/2006/main">
            <a:r>
              <a:t/>
            </a:r>
          </a:p>
          <a:p xmlns:a="http://schemas.openxmlformats.org/drawingml/2006/main">
            <a:r>
              <a:t>[Sources]</a:t>
            </a:r>
          </a:p>
          <a:p xmlns:a="http://schemas.openxmlformats.org/drawingml/2006/main">
            <a:r>
              <a:t>- Local code: src/deepresearch/model_gateway/gateway.py</a:t>
            </a:r>
          </a:p>
          <a:p xmlns:a="http://schemas.openxmlformats.org/drawingml/2006/main">
            <a:r>
              <a:t>- Local code: src/deepresearch/model_gateway/router.py</a:t>
            </a:r>
          </a:p>
          <a:p xmlns:a="http://schemas.openxmlformats.org/drawingml/2006/main">
            <a:r>
              <a:t>- Local code: src/deepresearch/model_gateway/telemetry.py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Healing is layered so a local error does not force a global restart. Model-call healing handles malformed or truncated responses. Worker healing preserves partial evidence and falls back when retrieval fails. Execution healing prevents replay from repeating paid side effects. Research healing treats insufficient evidence as a planning problem and creates another targeted research wave.</a:t>
            </a:r>
          </a:p>
          <a:p xmlns:a="http://schemas.openxmlformats.org/drawingml/2006/main">
            <a:r>
              <a:t/>
            </a:r>
          </a:p>
          <a:p xmlns:a="http://schemas.openxmlformats.org/drawingml/2006/main">
            <a:r>
              <a:t>[Sources]</a:t>
            </a:r>
          </a:p>
          <a:p xmlns:a="http://schemas.openxmlformats.org/drawingml/2006/main">
            <a:r>
              <a:t>- Local code: src/deepresearch/agents/base.py</a:t>
            </a:r>
          </a:p>
          <a:p xmlns:a="http://schemas.openxmlformats.org/drawingml/2006/main">
            <a:r>
              <a:t>- Local code: src/deepresearch/graph.py: research_worker and run_graph</a:t>
            </a:r>
          </a:p>
          <a:p xmlns:a="http://schemas.openxmlformats.org/drawingml/2006/main">
            <a:r>
              <a:t>- Local code: src/deepresearch/runtime.py: _cached_call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stack is intentionally small. LangGraph owns orchestration. Pydantic owns contracts. SQLite owns durability. DeepSeek and Tavily are behind gateway and provider boundaries so the core graph is not coupled to one model or search API. Local BM25 reduces paid context before model execution, while generated HTML views expose the research trace and model economics.</a:t>
            </a:r>
          </a:p>
          <a:p xmlns:a="http://schemas.openxmlformats.org/drawingml/2006/main">
            <a:r>
              <a:t/>
            </a:r>
          </a:p>
          <a:p xmlns:a="http://schemas.openxmlformats.org/drawingml/2006/main">
            <a:r>
              <a:t>[Sources]</a:t>
            </a:r>
          </a:p>
          <a:p xmlns:a="http://schemas.openxmlformats.org/drawingml/2006/main">
            <a:r>
              <a:t>- Local source: pyproject.toml</a:t>
            </a:r>
          </a:p>
          <a:p xmlns:a="http://schemas.openxmlformats.org/drawingml/2006/main">
            <a:r>
              <a:t>- Local source: src/deepresearch/config.py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layers are logical responsibilities rather than five databases. Working memory is the live GraphState. LangGraph persists episodic snapshots in checkpoints.sqlite. research.sqlite contains both semantic research records and the procedural operation cache. model_gateway.sqlite contains the telemetry ledger. All are durable across process restarts, but keys and retrieval policies remain primarily run-scoped.</a:t>
            </a:r>
          </a:p>
          <a:p xmlns:a="http://schemas.openxmlformats.org/drawingml/2006/main">
            <a:r>
              <a:t/>
            </a:r>
          </a:p>
          <a:p xmlns:a="http://schemas.openxmlformats.org/drawingml/2006/main">
            <a:r>
              <a:t>[Sources]</a:t>
            </a:r>
          </a:p>
          <a:p xmlns:a="http://schemas.openxmlformats.org/drawingml/2006/main">
            <a:r>
              <a:t>- Local code: /Users/oscar/coding/takehome/src/deepresearch/graph.py: GraphState</a:t>
            </a:r>
          </a:p>
          <a:p xmlns:a="http://schemas.openxmlformats.org/drawingml/2006/main">
            <a:r>
              <a:t>- Local code: /Users/oscar/coding/takehome/src/deepresearch/config.py: database paths</a:t>
            </a:r>
          </a:p>
          <a:p xmlns:a="http://schemas.openxmlformats.org/drawingml/2006/main">
            <a:r>
              <a:t>- Local code: /Users/oscar/coding/takehome/src/deepresearch/store.py</a:t>
            </a:r>
          </a:p>
          <a:p xmlns:a="http://schemas.openxmlformats.org/drawingml/2006/main">
            <a:r>
              <a:t>- Local code: /Users/oscar/coding/takehome/src/deepresearch/model_gateway/telemetry.py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Semantic memory is more complex than a checkpoint because it preserves meaning and provenance, not only workflow position. A source record keeps the complete retrieved document. A Worker converts useful passages into atomic evidence records linked to the task and source. GraphState carries evidence IDs instead of full text. ResearchRuntime later reloads and selects those records for the Auditor, Reporter, or another Worker. This creates traceability today and provides the foundation for a future cross-run context compiler.</a:t>
            </a:r>
          </a:p>
          <a:p xmlns:a="http://schemas.openxmlformats.org/drawingml/2006/main">
            <a:r>
              <a:t/>
            </a:r>
          </a:p>
          <a:p xmlns:a="http://schemas.openxmlformats.org/drawingml/2006/main">
            <a:r>
              <a:t>[Sources]</a:t>
            </a:r>
          </a:p>
          <a:p xmlns:a="http://schemas.openxmlformats.org/drawingml/2006/main">
            <a:r>
              <a:t>- Local code: /Users/oscar/coding/takehome/src/deepresearch/store.py</a:t>
            </a:r>
          </a:p>
          <a:p xmlns:a="http://schemas.openxmlformats.org/drawingml/2006/main">
            <a:r>
              <a:t>- Local code: /Users/oscar/coding/takehome/src/deepresearch/schemas.py: Evidence</a:t>
            </a:r>
          </a:p>
          <a:p xmlns:a="http://schemas.openxmlformats.org/drawingml/2006/main">
            <a:r>
              <a:t>- Local code: /Users/oscar/coding/takehome/src/deepresearch/graph.py: GraphState</a:t>
            </a:r>
          </a:p>
          <a:p xmlns:a="http://schemas.openxmlformats.org/drawingml/2006/main">
            <a:r>
              <a:t>- Local code: /Users/oscar/coding/takehome/src/deepresearch/runtime.py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page to explain retrieval rather than storage alone. GraphState carries control pointers and evidence IDs. ResearchRuntime uses those IDs to reload durable research records and construct the current Agent input. Checkpoints preserve execution position; the operation cache preserves completed side effects; telemetry preserves resource history. Full page bodies do not circulate through GraphState or every prompt.</a:t>
            </a:r>
          </a:p>
          <a:p xmlns:a="http://schemas.openxmlformats.org/drawingml/2006/main">
            <a:r>
              <a:t/>
            </a:r>
          </a:p>
          <a:p xmlns:a="http://schemas.openxmlformats.org/drawingml/2006/main">
            <a:r>
              <a:t>[Sources]</a:t>
            </a:r>
          </a:p>
          <a:p xmlns:a="http://schemas.openxmlformats.org/drawingml/2006/main">
            <a:r>
              <a:t>- Local code: /Users/oscar/coding/takehome/src/deepresearch/graph.py</a:t>
            </a:r>
          </a:p>
          <a:p xmlns:a="http://schemas.openxmlformats.org/drawingml/2006/main">
            <a:r>
              <a:t>- Local code: /Users/oscar/coding/takehome/src/deepresearch/runtime.py</a:t>
            </a:r>
          </a:p>
          <a:p xmlns:a="http://schemas.openxmlformats.org/drawingml/2006/main">
            <a:r>
              <a:t>- Local code: /Users/oscar/coding/takehome/src/deepresearch/store.py</a:t>
            </a:r>
          </a:p>
          <a:p xmlns:a="http://schemas.openxmlformats.org/drawingml/2006/main">
            <a:r>
              <a:t>- Local code: /Users/oscar/coding/takehome/src/deepresearch/evidence_policy.py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checkpoint is not the same as a Worker's evidence write or an operation cache record. The checkpoint says which graph work may need to run. research.sqlite preserves domain data and successful request/response pairs. If a process dies after an API call succeeds but before the next checkpoint commits, the graph may replay the node; ResearchRuntime then returns the cached response instead of repeating the paid side effect.</a:t>
            </a:r>
          </a:p>
          <a:p xmlns:a="http://schemas.openxmlformats.org/drawingml/2006/main">
            <a:r>
              <a:t/>
            </a:r>
          </a:p>
          <a:p xmlns:a="http://schemas.openxmlformats.org/drawingml/2006/main">
            <a:r>
              <a:t>[Sources]</a:t>
            </a:r>
          </a:p>
          <a:p xmlns:a="http://schemas.openxmlformats.org/drawingml/2006/main">
            <a:r>
              <a:t>- Local code: src/deepresearch/graph.py: SqliteSaver</a:t>
            </a:r>
          </a:p>
          <a:p xmlns:a="http://schemas.openxmlformats.org/drawingml/2006/main">
            <a:r>
              <a:t>- Local code: src/deepresearch/runtime.py: _cached_call</a:t>
            </a:r>
          </a:p>
          <a:p xmlns:a="http://schemas.openxmlformats.org/drawingml/2006/main">
            <a:r>
              <a:t>- Local code: src/deepresearch/store.py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uses the latest inference-time compute scaling run. The 598 gateway model attempts are not the same as 154 top-level operations: one extraction operation can contain multiple chunk calls and schema repair attempts. Pricing was not configured, so the cost field is not used as evidence here.</a:t>
            </a:r>
          </a:p>
          <a:p xmlns:a="http://schemas.openxmlformats.org/drawingml/2006/main">
            <a:r>
              <a:t/>
            </a:r>
          </a:p>
          <a:p xmlns:a="http://schemas.openxmlformats.org/drawingml/2006/main">
            <a:r>
              <a:t>[Sources]</a:t>
            </a:r>
          </a:p>
          <a:p xmlns:a="http://schemas.openxmlformats.org/drawingml/2006/main">
            <a:r>
              <a:t>- Local run: runs/run_20260803T043814_194545Z/model_calls.json</a:t>
            </a:r>
          </a:p>
          <a:p xmlns:a="http://schemas.openxmlformats.org/drawingml/2006/main">
            <a:r>
              <a:t>- Local run: runs/run_20260803T043814_194545Z/trace.json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Advanced memory should not begin with 'add a vector database.' First build a context compiler that selects a working set by task, claim gaps, provenance diversity, and token budget. Then add cross-run consolidation, versioning, and decay.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engineering value: not the number of agents, but the system's ability to challenge conclusions with evidence, recover from failure, revise the plan around gaps, and explain the purpose and cost of every model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da2c5607b64a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e32eeddca74843" /><Relationship Type="http://schemas.openxmlformats.org/officeDocument/2006/relationships/slideLayout" Target="/ppt/slideLayouts/slideLayout1.xml" Id="R10ac730a46494d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ac730a46494d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22d19be40c441e" /><Relationship Type="http://schemas.openxmlformats.org/officeDocument/2006/relationships/notesSlide" Target="/ppt/notesSlides/notesSlide1.xml" Id="R5f64688efc8a49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5785685d42470b" /><Relationship Type="http://schemas.openxmlformats.org/officeDocument/2006/relationships/image" Target="/ppt/media/image.png" Id="R0e4d9e29712940f7" /><Relationship Type="http://schemas.openxmlformats.org/officeDocument/2006/relationships/notesSlide" Target="/ppt/notesSlides/notesSlide2.xml" Id="Re09477efb94a45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9f83bf69114dbc" /><Relationship Type="http://schemas.openxmlformats.org/officeDocument/2006/relationships/notesSlide" Target="/ppt/notesSlides/notesSlide3.xml" Id="Rcd7c44c6dbc54b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843fd570844cc3" /><Relationship Type="http://schemas.openxmlformats.org/officeDocument/2006/relationships/notesSlide" Target="/ppt/notesSlides/notesSlide4.xml" Id="Rc86b418ae87540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5381fcb929413c" /><Relationship Type="http://schemas.openxmlformats.org/officeDocument/2006/relationships/notesSlide" Target="/ppt/notesSlides/notesSlide5.xml" Id="R70c55e2ba0dc43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89dc5aaebe423b" /><Relationship Type="http://schemas.openxmlformats.org/officeDocument/2006/relationships/notesSlide" Target="/ppt/notesSlides/notesSlide6.xml" Id="Rb9ecc1b87a1747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76089acd584c99" /><Relationship Type="http://schemas.openxmlformats.org/officeDocument/2006/relationships/notesSlide" Target="/ppt/notesSlides/notesSlide7.xml" Id="R4f7cbb81f77949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b15b033a15b4bc6" /><Relationship Type="http://schemas.openxmlformats.org/officeDocument/2006/relationships/notesSlide" Target="/ppt/notesSlides/notesSlide8.xml" Id="Rf115a1b3f87e4c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001fb006f554f1e" /><Relationship Type="http://schemas.openxmlformats.org/officeDocument/2006/relationships/notesSlide" Target="/ppt/notesSlides/notesSlide9.xml" Id="R7349763d06df44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fefe906f1a94df4" /><Relationship Type="http://schemas.openxmlformats.org/officeDocument/2006/relationships/notesSlide" Target="/ppt/notesSlides/notesSlide10.xml" Id="R194e7ddca2154a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6e4b4edd00948d7" /><Relationship Type="http://schemas.openxmlformats.org/officeDocument/2006/relationships/notesSlide" Target="/ppt/notesSlides/notesSlide11.xml" Id="R4bcac1055202436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529e32509074a19" /><Relationship Type="http://schemas.openxmlformats.org/officeDocument/2006/relationships/notesSlide" Target="/ppt/notesSlides/notesSlide12.xml" Id="R33157676b43f4d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0757017ba8d46de" /><Relationship Type="http://schemas.openxmlformats.org/officeDocument/2006/relationships/notesSlide" Target="/ppt/notesSlides/notesSlide13.xml" Id="R2a60835d92764c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bb143417c2046d6" /><Relationship Type="http://schemas.openxmlformats.org/officeDocument/2006/relationships/notesSlide" Target="/ppt/notesSlides/notesSlide14.xml" Id="Ra4b10480e2954a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e3c7e607ae946bc" /><Relationship Type="http://schemas.openxmlformats.org/officeDocument/2006/relationships/notesSlide" Target="/ppt/notesSlides/notesSlide15.xml" Id="R9880a245be7b43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fc96e0b2b674974" /><Relationship Type="http://schemas.openxmlformats.org/officeDocument/2006/relationships/notesSlide" Target="/ppt/notesSlides/notesSlide16.xml" Id="R553876a6a2b049b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dbe83507c334a08" /><Relationship Type="http://schemas.openxmlformats.org/officeDocument/2006/relationships/notesSlide" Target="/ppt/notesSlides/notesSlide17.xml" Id="Ra01610af2f9e450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5ebf2e6e7194768" /><Relationship Type="http://schemas.openxmlformats.org/officeDocument/2006/relationships/chart" Target="/ppt/slides/charts/chart1.xml" Id="R1d2019e16fd64ca1" /><Relationship Type="http://schemas.openxmlformats.org/officeDocument/2006/relationships/notesSlide" Target="/ppt/notesSlides/notesSlide18.xml" Id="R63820bdb1f8840f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0226bf3c88d40e9" /><Relationship Type="http://schemas.openxmlformats.org/officeDocument/2006/relationships/notesSlide" Target="/ppt/notesSlides/notesSlide19.xml" Id="R4344d8900aa94f6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7e61e7105984bae" /><Relationship Type="http://schemas.openxmlformats.org/officeDocument/2006/relationships/notesSlide" Target="/ppt/notesSlides/notesSlide20.xml" Id="R388111a372ca4147" /></Relationships>
</file>

<file path=ppt/slides/charts/chart1.xml><?xml version="1.0" encoding="utf-8"?>
<c:chartSpace xmlns:c="http://schemas.openxmlformats.org/drawingml/2006/chart">
  <c:lang val="en-US"/>
  <c:chart>
    <c:plotArea>
      <c:barChart>
        <c:barDir val="col"/>
        <c:varyColors val="0"/>
        <c:ser>
          <c:idx val="0"/>
          <c:order val="0"/>
          <c:tx>
            <c:v>Model attempts</c:v>
          </c:tx>
          <c:spPr>
            <a:solidFill xmlns:a="http://schemas.openxmlformats.org/drawingml/2006/main">
              <a:srgbClr val="3D8DFF"/>
            </a:solidFill>
          </c:spPr>
          <c:cat>
            <c:strLit>
              <c:ptCount val="4"/>
              <c:pt idx="0">
                <c:v>Planner</c:v>
              </c:pt>
              <c:pt idx="1">
                <c:v>Source Eval</c:v>
              </c:pt>
              <c:pt idx="2">
                <c:v>Worker</c:v>
              </c:pt>
              <c:pt idx="3">
                <c:v>Auditor</c:v>
              </c:pt>
            </c:strLit>
          </c:cat>
          <c:val>
            <c:numLit>
              <c:formatCode>General</c:formatCode>
              <c:ptCount val="4"/>
              <c:pt idx="0">
                <c:v>5</c:v>
              </c:pt>
              <c:pt idx="1">
                <c:v>38</c:v>
              </c:pt>
              <c:pt idx="2">
                <c:v>553</c:v>
              </c:pt>
              <c:pt idx="3">
                <c:v>2</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111111"/>
                </a:solidFill>
              </a:defRPr>
            </a:pPr>
          </a:p>
        </c:txPr>
        <c:crossAx val="48672768"/>
        <c:lblAlgn val="ctr"/>
        <c:lblOffset val="100"/>
        <c:noMultiLvlLbl val="0"/>
      </c:catAx>
      <c:valAx>
        <c:axId val="48672768"/>
        <c:scaling>
          <c:orientation val="minMax"/>
        </c:scaling>
        <c:delete val="1"/>
        <c:axPos val="l"/>
        <c:majorGridlines>
          <c:spPr>
            <a:ln xmlns:a="http://schemas.openxmlformats.org/drawingml/2006/main" w="9525">
              <a:solidFill>
                <a:srgbClr val="F1F2F4"/>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40AE9D-195B-4607-A3C6-43568DA8F745}"/>
              </a:ext>
            </a:extLst>
          </p:cNvPr>
          <p:cNvSpPr>
            <a:spLocks xmlns:a="http://schemas.openxmlformats.org/drawingml/2006/main" noGrp="1"/>
          </p:cNvSpPr>
          <p:nvPr/>
        </p:nvSpPr>
        <p:spPr>
          <a:xfrm xmlns:a="http://schemas.openxmlformats.org/drawingml/2006/main">
            <a:off x="457200" y="4000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RESEARCH ENGINEER TAKE-HOME</a:t>
            </a:r>
          </a:p>
        </p:txBody>
      </p:sp>
      <p:sp>
        <p:nvSpPr>
          <p:cNvPr id="2" name="">
            <a:extLst xmlns:a="http://schemas.openxmlformats.org/drawingml/2006/main">
              <a:ext uri="{FF2B5EF4-FFF2-40B4-BE49-F238E27FC236}">
                <a16:creationId xmlns:a16="http://schemas.microsoft.com/office/drawing/2014/main" id="{00768C95-56E1-4DF0-ACC4-5E1A25F38F1B}"/>
              </a:ext>
            </a:extLst>
          </p:cNvPr>
          <p:cNvSpPr>
            <a:spLocks xmlns:a="http://schemas.openxmlformats.org/drawingml/2006/main" noGrp="1"/>
          </p:cNvSpPr>
          <p:nvPr/>
        </p:nvSpPr>
        <p:spPr>
          <a:xfrm xmlns:a="http://schemas.openxmlformats.org/drawingml/2006/main">
            <a:off x="457200" y="1695450"/>
            <a:ext cx="85725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5400" b="1">
                <a:solidFill>
                  <a:srgbClr val="111111"/>
                </a:solidFill>
                <a:latin typeface="Arial"/>
                <a:ea typeface="Arial"/>
                <a:cs typeface="Arial"/>
              </a:defRPr>
            </a:pPr>
            <a:r>
              <a:rPr sz="5400" b="1">
                <a:solidFill>
                  <a:srgbClr val="111111"/>
                </a:solidFill>
                <a:latin typeface="Arial"/>
                <a:ea typeface="Arial"/>
                <a:cs typeface="Arial"/>
              </a:rPr>
              <a:t>Evidence-First</a:t>
            </a:r>
          </a:p>
          <a:p xmlns:a="http://schemas.openxmlformats.org/drawingml/2006/main">
            <a:pPr algn="l">
              <a:buNone/>
              <a:defRPr sz="5400" b="1">
                <a:solidFill>
                  <a:srgbClr val="111111"/>
                </a:solidFill>
                <a:latin typeface="Arial"/>
                <a:ea typeface="Arial"/>
                <a:cs typeface="Arial"/>
              </a:defRPr>
            </a:pPr>
            <a:r>
              <a:rPr sz="5400" b="1">
                <a:solidFill>
                  <a:srgbClr val="111111"/>
                </a:solidFill>
                <a:latin typeface="Arial"/>
                <a:ea typeface="Arial"/>
                <a:cs typeface="Arial"/>
              </a:rPr>
              <a:t>Deep Research Agent</a:t>
            </a:r>
          </a:p>
        </p:txBody>
      </p:sp>
      <p:sp>
        <p:nvSpPr>
          <p:cNvPr id="3" name="">
            <a:extLst xmlns:a="http://schemas.openxmlformats.org/drawingml/2006/main">
              <a:ext uri="{FF2B5EF4-FFF2-40B4-BE49-F238E27FC236}">
                <a16:creationId xmlns:a16="http://schemas.microsoft.com/office/drawing/2014/main" id="{D25D02F6-BD42-4104-92D2-C235B877DFA2}"/>
              </a:ext>
            </a:extLst>
          </p:cNvPr>
          <p:cNvSpPr>
            <a:spLocks xmlns:a="http://schemas.openxmlformats.org/drawingml/2006/main" noGrp="1"/>
          </p:cNvSpPr>
          <p:nvPr/>
        </p:nvSpPr>
        <p:spPr>
          <a:xfrm xmlns:a="http://schemas.openxmlformats.org/drawingml/2006/main">
            <a:off x="457200" y="4343400"/>
            <a:ext cx="1428750" cy="762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4" name="">
            <a:extLst xmlns:a="http://schemas.openxmlformats.org/drawingml/2006/main">
              <a:ext uri="{FF2B5EF4-FFF2-40B4-BE49-F238E27FC236}">
                <a16:creationId xmlns:a16="http://schemas.microsoft.com/office/drawing/2014/main" id="{B9970174-7297-4EFF-A122-03E9334C331E}"/>
              </a:ext>
            </a:extLst>
          </p:cNvPr>
          <p:cNvSpPr>
            <a:spLocks xmlns:a="http://schemas.openxmlformats.org/drawingml/2006/main" noGrp="1"/>
          </p:cNvSpPr>
          <p:nvPr/>
        </p:nvSpPr>
        <p:spPr>
          <a:xfrm xmlns:a="http://schemas.openxmlformats.org/drawingml/2006/main">
            <a:off x="457200" y="4762500"/>
            <a:ext cx="7429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0">
                <a:solidFill>
                  <a:srgbClr val="5F6670"/>
                </a:solidFill>
                <a:latin typeface="Arial"/>
                <a:ea typeface="Arial"/>
                <a:cs typeface="Arial"/>
              </a:defRPr>
            </a:pPr>
            <a:r>
              <a:rPr sz="1875" b="0">
                <a:solidFill>
                  <a:srgbClr val="5F6670"/>
                </a:solidFill>
                <a:latin typeface="Arial"/>
                <a:ea typeface="Arial"/>
                <a:cs typeface="Arial"/>
              </a:rPr>
              <a:t>A reliable multi-agent system for evidence-backed research</a:t>
            </a:r>
          </a:p>
        </p:txBody>
      </p:sp>
      <p:sp>
        <p:nvSpPr>
          <p:cNvPr id="5" name="">
            <a:extLst xmlns:a="http://schemas.openxmlformats.org/drawingml/2006/main">
              <a:ext uri="{FF2B5EF4-FFF2-40B4-BE49-F238E27FC236}">
                <a16:creationId xmlns:a16="http://schemas.microsoft.com/office/drawing/2014/main" id="{58415A59-7CB6-448F-B323-788966967DF6}"/>
              </a:ext>
            </a:extLst>
          </p:cNvPr>
          <p:cNvSpPr>
            <a:spLocks xmlns:a="http://schemas.openxmlformats.org/drawingml/2006/main" noGrp="1"/>
          </p:cNvSpPr>
          <p:nvPr/>
        </p:nvSpPr>
        <p:spPr>
          <a:xfrm xmlns:a="http://schemas.openxmlformats.org/drawingml/2006/main">
            <a:off x="457200" y="5810250"/>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F6670"/>
                </a:solidFill>
                <a:latin typeface="Arial"/>
                <a:ea typeface="Arial"/>
                <a:cs typeface="Arial"/>
              </a:defRPr>
            </a:pPr>
            <a:r>
              <a:rPr sz="1275" b="0">
                <a:solidFill>
                  <a:srgbClr val="5F6670"/>
                </a:solidFill>
                <a:latin typeface="Arial"/>
                <a:ea typeface="Arial"/>
                <a:cs typeface="Arial"/>
              </a:rPr>
              <a:t>Architecture · Loop engineering · Healing · Memory</a:t>
            </a:r>
          </a:p>
        </p:txBody>
      </p:sp>
    </p:spTree>
    <p:extLst>
      <p:ext uri="{BB962C8B-B14F-4D97-AF65-F5344CB8AC3E}">
        <p14:creationId xmlns:p14="http://schemas.microsoft.com/office/powerpoint/2010/main" val="3081332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1F275F-DD11-4F4E-9F4E-A5635C06DF4C}"/>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SYSTEM ARCHITECTURE · END-TO-END</a:t>
            </a:r>
          </a:p>
        </p:txBody>
      </p:sp>
      <p:sp>
        <p:nvSpPr>
          <p:cNvPr id="2" name="">
            <a:extLst xmlns:a="http://schemas.openxmlformats.org/drawingml/2006/main">
              <a:ext uri="{FF2B5EF4-FFF2-40B4-BE49-F238E27FC236}">
                <a16:creationId xmlns:a16="http://schemas.microsoft.com/office/drawing/2014/main" id="{5EF3EA4C-8AB6-426D-8E32-BAF75D419F68}"/>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The graph controls research; runtime controls side effects</a:t>
            </a:r>
          </a:p>
        </p:txBody>
      </p:sp>
      <p:sp>
        <p:nvSpPr>
          <p:cNvPr id="3" name="">
            <a:extLst xmlns:a="http://schemas.openxmlformats.org/drawingml/2006/main">
              <a:ext uri="{FF2B5EF4-FFF2-40B4-BE49-F238E27FC236}">
                <a16:creationId xmlns:a16="http://schemas.microsoft.com/office/drawing/2014/main" id="{E9E23B4D-D3B2-45DF-9FD9-A0B65313B367}"/>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02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e4d9e29712940f7"/>
          <a:stretch xmlns:a="http://schemas.openxmlformats.org/drawingml/2006/main"/>
        </p:blipFill>
        <p:spPr>
          <a:xfrm xmlns:a="http://schemas.openxmlformats.org/drawingml/2006/main">
            <a:off x="1179672" y="1390650"/>
            <a:ext cx="9832655" cy="4476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B7E6410-B887-45BA-8011-2A9CF5D04C78}"/>
              </a:ext>
            </a:extLst>
          </p:cNvPr>
          <p:cNvSpPr>
            <a:spLocks xmlns:a="http://schemas.openxmlformats.org/drawingml/2006/main" noGrp="1"/>
          </p:cNvSpPr>
          <p:nvPr/>
        </p:nvSpPr>
        <p:spPr>
          <a:xfrm xmlns:a="http://schemas.openxmlformats.org/drawingml/2006/main">
            <a:off x="457200" y="59436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Control state stays lightweight; evidence, completed operations, and telemetry remain durable and queryable.</a:t>
            </a:r>
          </a:p>
        </p:txBody>
      </p:sp>
    </p:spTree>
    <p:extLst>
      <p:ext uri="{BB962C8B-B14F-4D97-AF65-F5344CB8AC3E}">
        <p14:creationId xmlns:p14="http://schemas.microsoft.com/office/powerpoint/2010/main" val="19469894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934898F-3FEA-4BCC-AAEE-26BAB562E396}"/>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RESEARCH FLOW · LOOP ENGINEERING</a:t>
            </a:r>
          </a:p>
        </p:txBody>
      </p:sp>
      <p:sp>
        <p:nvSpPr>
          <p:cNvPr id="2" name="">
            <a:extLst xmlns:a="http://schemas.openxmlformats.org/drawingml/2006/main">
              <a:ext uri="{FF2B5EF4-FFF2-40B4-BE49-F238E27FC236}">
                <a16:creationId xmlns:a16="http://schemas.microsoft.com/office/drawing/2014/main" id="{7D26380E-B200-46D5-BAF1-0E3058877FB1}"/>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Two bounded loops turn evidence gaps into the next action</a:t>
            </a:r>
          </a:p>
        </p:txBody>
      </p:sp>
      <p:sp>
        <p:nvSpPr>
          <p:cNvPr id="3" name="">
            <a:extLst xmlns:a="http://schemas.openxmlformats.org/drawingml/2006/main">
              <a:ext uri="{FF2B5EF4-FFF2-40B4-BE49-F238E27FC236}">
                <a16:creationId xmlns:a16="http://schemas.microsoft.com/office/drawing/2014/main" id="{AA6E4711-DBC0-4691-8562-BB2D6DC09CA5}"/>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C803D2D5-F722-4081-96A7-3EA4D36D7A56}"/>
              </a:ext>
            </a:extLst>
          </p:cNvPr>
          <p:cNvSpPr>
            <a:spLocks xmlns:a="http://schemas.openxmlformats.org/drawingml/2006/main" noGrp="1"/>
          </p:cNvSpPr>
          <p:nvPr/>
        </p:nvSpPr>
        <p:spPr>
          <a:xfrm xmlns:a="http://schemas.openxmlformats.org/drawingml/2006/main">
            <a:off x="457200" y="15049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INNER LOOP · ONE WORKER</a:t>
            </a:r>
          </a:p>
        </p:txBody>
      </p:sp>
      <p:sp>
        <p:nvSpPr>
          <p:cNvPr id="5" name="">
            <a:extLst xmlns:a="http://schemas.openxmlformats.org/drawingml/2006/main">
              <a:ext uri="{FF2B5EF4-FFF2-40B4-BE49-F238E27FC236}">
                <a16:creationId xmlns:a16="http://schemas.microsoft.com/office/drawing/2014/main" id="{0CA2B09A-0817-4D77-95AA-982D5CCD8013}"/>
              </a:ext>
            </a:extLst>
          </p:cNvPr>
          <p:cNvSpPr>
            <a:spLocks xmlns:a="http://schemas.openxmlformats.org/drawingml/2006/main" noGrp="1"/>
          </p:cNvSpPr>
          <p:nvPr/>
        </p:nvSpPr>
        <p:spPr>
          <a:xfrm xmlns:a="http://schemas.openxmlformats.org/drawingml/2006/main">
            <a:off x="457200" y="19050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11111"/>
                </a:solidFill>
                <a:latin typeface="Arial"/>
                <a:ea typeface="Arial"/>
                <a:cs typeface="Arial"/>
              </a:defRPr>
            </a:pPr>
            <a:r>
              <a:rPr sz="2025" b="1">
                <a:solidFill>
                  <a:srgbClr val="111111"/>
                </a:solidFill>
                <a:latin typeface="Arial"/>
                <a:ea typeface="Arial"/>
                <a:cs typeface="Arial"/>
              </a:rPr>
              <a:t>Close a local evidence gap</a:t>
            </a:r>
          </a:p>
        </p:txBody>
      </p:sp>
      <p:sp>
        <p:nvSpPr>
          <p:cNvPr id="6" name="">
            <a:extLst xmlns:a="http://schemas.openxmlformats.org/drawingml/2006/main">
              <a:ext uri="{FF2B5EF4-FFF2-40B4-BE49-F238E27FC236}">
                <a16:creationId xmlns:a16="http://schemas.microsoft.com/office/drawing/2014/main" id="{3A5C564A-15A3-4C38-8D4E-86F1D57450B9}"/>
              </a:ext>
            </a:extLst>
          </p:cNvPr>
          <p:cNvSpPr>
            <a:spLocks xmlns:a="http://schemas.openxmlformats.org/drawingml/2006/main" noGrp="1"/>
          </p:cNvSpPr>
          <p:nvPr/>
        </p:nvSpPr>
        <p:spPr>
          <a:xfrm xmlns:a="http://schemas.openxmlformats.org/drawingml/2006/main">
            <a:off x="457200" y="2457450"/>
            <a:ext cx="4762500" cy="1428750"/>
          </a:xfrm>
          <a:prstGeom xmlns:a="http://schemas.openxmlformats.org/drawingml/2006/main" prst="roundRect">
            <a:avLst>
              <a:gd name="adj" fmla="val 5333"/>
            </a:avLst>
          </a:prstGeom>
          <a:solidFill xmlns:a="http://schemas.openxmlformats.org/drawingml/2006/main">
            <a:srgbClr val="F4F8FF"/>
          </a:solidFill>
          <a:ln xmlns:a="http://schemas.openxmlformats.org/drawingml/2006/main" w="14288">
            <a:solidFill>
              <a:srgbClr val="B9D5F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11111"/>
                </a:solidFill>
                <a:latin typeface="Arial"/>
                <a:ea typeface="Arial"/>
                <a:cs typeface="Arial"/>
              </a:defRPr>
            </a:pPr>
            <a:r>
              <a:rPr sz="1650" b="1">
                <a:solidFill>
                  <a:srgbClr val="111111"/>
                </a:solidFill>
                <a:latin typeface="Arial"/>
                <a:ea typeface="Arial"/>
                <a:cs typeface="Arial"/>
              </a:rPr>
              <a:t>FORMULATE  →  SEARCH / FOLLOW</a:t>
            </a:r>
          </a:p>
          <a:p xmlns:a="http://schemas.openxmlformats.org/drawingml/2006/main">
            <a:pPr algn="ctr">
              <a:buNone/>
              <a:defRPr sz="1650" b="1">
                <a:solidFill>
                  <a:srgbClr val="111111"/>
                </a:solidFill>
                <a:latin typeface="Arial"/>
                <a:ea typeface="Arial"/>
                <a:cs typeface="Arial"/>
              </a:defRPr>
            </a:pPr>
            <a:r>
              <a:rPr sz="1650" b="1">
                <a:solidFill>
                  <a:srgbClr val="111111"/>
                </a:solidFill>
                <a:latin typeface="Arial"/>
                <a:ea typeface="Arial"/>
                <a:cs typeface="Arial"/>
              </a:rPr>
              <a:t>      ↑                         ↓</a:t>
            </a:r>
          </a:p>
          <a:p xmlns:a="http://schemas.openxmlformats.org/drawingml/2006/main">
            <a:pPr algn="ctr">
              <a:buNone/>
              <a:defRPr sz="1650" b="1">
                <a:solidFill>
                  <a:srgbClr val="111111"/>
                </a:solidFill>
                <a:latin typeface="Arial"/>
                <a:ea typeface="Arial"/>
                <a:cs typeface="Arial"/>
              </a:defRPr>
            </a:pPr>
            <a:r>
              <a:rPr sz="1650" b="1">
                <a:solidFill>
                  <a:srgbClr val="111111"/>
                </a:solidFill>
                <a:latin typeface="Arial"/>
                <a:ea typeface="Arial"/>
                <a:cs typeface="Arial"/>
              </a:rPr>
              <a:t>DECIDE      ←  ASSESS + EXTRACT</a:t>
            </a:r>
          </a:p>
        </p:txBody>
      </p:sp>
      <p:sp>
        <p:nvSpPr>
          <p:cNvPr id="7" name="">
            <a:extLst xmlns:a="http://schemas.openxmlformats.org/drawingml/2006/main">
              <a:ext uri="{FF2B5EF4-FFF2-40B4-BE49-F238E27FC236}">
                <a16:creationId xmlns:a16="http://schemas.microsoft.com/office/drawing/2014/main" id="{481E13D0-ED4E-46C6-83D1-64F9A77ED6B3}"/>
              </a:ext>
            </a:extLst>
          </p:cNvPr>
          <p:cNvSpPr>
            <a:spLocks xmlns:a="http://schemas.openxmlformats.org/drawingml/2006/main" noGrp="1"/>
          </p:cNvSpPr>
          <p:nvPr/>
        </p:nvSpPr>
        <p:spPr>
          <a:xfrm xmlns:a="http://schemas.openxmlformats.org/drawingml/2006/main">
            <a:off x="457200" y="40957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337"/>
          </a:bodyPr>
          <a:lstStyle xmlns:a="http://schemas.openxmlformats.org/drawingml/2006/main"/>
          <a:p xmlns:a="http://schemas.openxmlformats.org/drawingml/2006/main">
            <a:pPr algn="l">
              <a:buNone/>
              <a:defRPr sz="1500" b="1">
                <a:solidFill>
                  <a:srgbClr val="3D8DFF"/>
                </a:solidFill>
                <a:latin typeface="Arial"/>
                <a:ea typeface="Arial"/>
                <a:cs typeface="Arial"/>
              </a:defRPr>
            </a:pPr>
            <a:r>
              <a:rPr sz="1500" b="1">
                <a:solidFill>
                  <a:srgbClr val="3D8DFF"/>
                </a:solidFill>
                <a:latin typeface="Arial"/>
                <a:ea typeface="Arial"/>
                <a:cs typeface="Arial"/>
              </a:rPr>
              <a:t>Decision contract: SEARCH · FOLLOW_SOURCE · STOP</a:t>
            </a:r>
          </a:p>
        </p:txBody>
      </p:sp>
      <p:sp>
        <p:nvSpPr>
          <p:cNvPr id="8" name="">
            <a:extLst xmlns:a="http://schemas.openxmlformats.org/drawingml/2006/main">
              <a:ext uri="{FF2B5EF4-FFF2-40B4-BE49-F238E27FC236}">
                <a16:creationId xmlns:a16="http://schemas.microsoft.com/office/drawing/2014/main" id="{23070BC9-9948-45D3-8F39-ED7E43EF2F8F}"/>
              </a:ext>
            </a:extLst>
          </p:cNvPr>
          <p:cNvSpPr>
            <a:spLocks xmlns:a="http://schemas.openxmlformats.org/drawingml/2006/main" noGrp="1"/>
          </p:cNvSpPr>
          <p:nvPr/>
        </p:nvSpPr>
        <p:spPr>
          <a:xfrm xmlns:a="http://schemas.openxmlformats.org/drawingml/2006/main">
            <a:off x="457200" y="455295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STOP when sufficient, saturated, blocked, or the step limit is reached.</a:t>
            </a:r>
          </a:p>
        </p:txBody>
      </p:sp>
      <p:sp>
        <p:nvSpPr>
          <p:cNvPr id="9" name="">
            <a:extLst xmlns:a="http://schemas.openxmlformats.org/drawingml/2006/main">
              <a:ext uri="{FF2B5EF4-FFF2-40B4-BE49-F238E27FC236}">
                <a16:creationId xmlns:a16="http://schemas.microsoft.com/office/drawing/2014/main" id="{77935157-5C3C-4CAF-BA2A-B4C6789BDC8D}"/>
              </a:ext>
            </a:extLst>
          </p:cNvPr>
          <p:cNvSpPr>
            <a:spLocks xmlns:a="http://schemas.openxmlformats.org/drawingml/2006/main" noGrp="1"/>
          </p:cNvSpPr>
          <p:nvPr/>
        </p:nvSpPr>
        <p:spPr>
          <a:xfrm xmlns:a="http://schemas.openxmlformats.org/drawingml/2006/main">
            <a:off x="5734050" y="1504950"/>
            <a:ext cx="19050" cy="38862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0" name="">
            <a:extLst xmlns:a="http://schemas.openxmlformats.org/drawingml/2006/main">
              <a:ext uri="{FF2B5EF4-FFF2-40B4-BE49-F238E27FC236}">
                <a16:creationId xmlns:a16="http://schemas.microsoft.com/office/drawing/2014/main" id="{56ECAC1B-15AB-4643-9568-95EAC8FEDDAA}"/>
              </a:ext>
            </a:extLst>
          </p:cNvPr>
          <p:cNvSpPr>
            <a:spLocks xmlns:a="http://schemas.openxmlformats.org/drawingml/2006/main" noGrp="1"/>
          </p:cNvSpPr>
          <p:nvPr/>
        </p:nvSpPr>
        <p:spPr>
          <a:xfrm xmlns:a="http://schemas.openxmlformats.org/drawingml/2006/main">
            <a:off x="6191250" y="1504950"/>
            <a:ext cx="508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OUTER LOOP · WHOLE RESEARCH RUN</a:t>
            </a:r>
          </a:p>
        </p:txBody>
      </p:sp>
      <p:sp>
        <p:nvSpPr>
          <p:cNvPr id="11" name="">
            <a:extLst xmlns:a="http://schemas.openxmlformats.org/drawingml/2006/main">
              <a:ext uri="{FF2B5EF4-FFF2-40B4-BE49-F238E27FC236}">
                <a16:creationId xmlns:a16="http://schemas.microsoft.com/office/drawing/2014/main" id="{496118B1-E196-4EAE-9EF5-429A3E93168F}"/>
              </a:ext>
            </a:extLst>
          </p:cNvPr>
          <p:cNvSpPr>
            <a:spLocks xmlns:a="http://schemas.openxmlformats.org/drawingml/2006/main" noGrp="1"/>
          </p:cNvSpPr>
          <p:nvPr/>
        </p:nvSpPr>
        <p:spPr>
          <a:xfrm xmlns:a="http://schemas.openxmlformats.org/drawingml/2006/main">
            <a:off x="6191250" y="1905000"/>
            <a:ext cx="5086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11111"/>
                </a:solidFill>
                <a:latin typeface="Arial"/>
                <a:ea typeface="Arial"/>
                <a:cs typeface="Arial"/>
              </a:defRPr>
            </a:pPr>
            <a:r>
              <a:rPr sz="2025" b="1">
                <a:solidFill>
                  <a:srgbClr val="111111"/>
                </a:solidFill>
                <a:latin typeface="Arial"/>
                <a:ea typeface="Arial"/>
                <a:cs typeface="Arial"/>
              </a:rPr>
              <a:t>Close a global coverage gap</a:t>
            </a:r>
          </a:p>
        </p:txBody>
      </p:sp>
      <p:sp>
        <p:nvSpPr>
          <p:cNvPr id="12" name="">
            <a:extLst xmlns:a="http://schemas.openxmlformats.org/drawingml/2006/main">
              <a:ext uri="{FF2B5EF4-FFF2-40B4-BE49-F238E27FC236}">
                <a16:creationId xmlns:a16="http://schemas.microsoft.com/office/drawing/2014/main" id="{02F10F8A-466F-4218-A60D-08FF2BFE039D}"/>
              </a:ext>
            </a:extLst>
          </p:cNvPr>
          <p:cNvSpPr>
            <a:spLocks xmlns:a="http://schemas.openxmlformats.org/drawingml/2006/main" noGrp="1"/>
          </p:cNvSpPr>
          <p:nvPr/>
        </p:nvSpPr>
        <p:spPr>
          <a:xfrm xmlns:a="http://schemas.openxmlformats.org/drawingml/2006/main">
            <a:off x="6191250" y="2457450"/>
            <a:ext cx="5086350" cy="1428750"/>
          </a:xfrm>
          <a:prstGeom xmlns:a="http://schemas.openxmlformats.org/drawingml/2006/main" prst="roundRect">
            <a:avLst>
              <a:gd name="adj" fmla="val 5333"/>
            </a:avLst>
          </a:prstGeom>
          <a:solidFill xmlns:a="http://schemas.openxmlformats.org/drawingml/2006/main">
            <a:srgbClr val="F4F8FF"/>
          </a:solidFill>
          <a:ln xmlns:a="http://schemas.openxmlformats.org/drawingml/2006/main" w="14288">
            <a:solidFill>
              <a:srgbClr val="B9D5F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11111"/>
                </a:solidFill>
                <a:latin typeface="Arial"/>
                <a:ea typeface="Arial"/>
                <a:cs typeface="Arial"/>
              </a:defRPr>
            </a:pPr>
            <a:r>
              <a:rPr sz="1650" b="1">
                <a:solidFill>
                  <a:srgbClr val="111111"/>
                </a:solidFill>
                <a:latin typeface="Arial"/>
                <a:ea typeface="Arial"/>
                <a:cs typeface="Arial"/>
              </a:rPr>
              <a:t>PARALLEL WORKERS  →  AGGREGATE</a:t>
            </a:r>
          </a:p>
          <a:p xmlns:a="http://schemas.openxmlformats.org/drawingml/2006/main">
            <a:pPr algn="ctr">
              <a:buNone/>
              <a:defRPr sz="1650" b="1">
                <a:solidFill>
                  <a:srgbClr val="111111"/>
                </a:solidFill>
                <a:latin typeface="Arial"/>
                <a:ea typeface="Arial"/>
                <a:cs typeface="Arial"/>
              </a:defRPr>
            </a:pPr>
            <a:r>
              <a:rPr sz="1650" b="1">
                <a:solidFill>
                  <a:srgbClr val="111111"/>
                </a:solidFill>
                <a:latin typeface="Arial"/>
                <a:ea typeface="Arial"/>
                <a:cs typeface="Arial"/>
              </a:rPr>
              <a:t>          ↑                         ↓</a:t>
            </a:r>
          </a:p>
          <a:p xmlns:a="http://schemas.openxmlformats.org/drawingml/2006/main">
            <a:pPr algn="ctr">
              <a:buNone/>
              <a:defRPr sz="1650" b="1">
                <a:solidFill>
                  <a:srgbClr val="111111"/>
                </a:solidFill>
                <a:latin typeface="Arial"/>
                <a:ea typeface="Arial"/>
                <a:cs typeface="Arial"/>
              </a:defRPr>
            </a:pPr>
            <a:r>
              <a:rPr sz="1650" b="1">
                <a:solidFill>
                  <a:srgbClr val="111111"/>
                </a:solidFill>
                <a:latin typeface="Arial"/>
                <a:ea typeface="Arial"/>
                <a:cs typeface="Arial"/>
              </a:rPr>
              <a:t>REPLAN            ←  AUDIT + GATES</a:t>
            </a:r>
          </a:p>
        </p:txBody>
      </p:sp>
      <p:sp>
        <p:nvSpPr>
          <p:cNvPr id="13" name="">
            <a:extLst xmlns:a="http://schemas.openxmlformats.org/drawingml/2006/main">
              <a:ext uri="{FF2B5EF4-FFF2-40B4-BE49-F238E27FC236}">
                <a16:creationId xmlns:a16="http://schemas.microsoft.com/office/drawing/2014/main" id="{C62BBFEA-B2C0-45C3-BBB5-3327414A1F10}"/>
              </a:ext>
            </a:extLst>
          </p:cNvPr>
          <p:cNvSpPr>
            <a:spLocks xmlns:a="http://schemas.openxmlformats.org/drawingml/2006/main" noGrp="1"/>
          </p:cNvSpPr>
          <p:nvPr/>
        </p:nvSpPr>
        <p:spPr>
          <a:xfrm xmlns:a="http://schemas.openxmlformats.org/drawingml/2006/main">
            <a:off x="6191250" y="4095750"/>
            <a:ext cx="508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3D8DFF"/>
                </a:solidFill>
                <a:latin typeface="Arial"/>
                <a:ea typeface="Arial"/>
                <a:cs typeface="Arial"/>
              </a:defRPr>
            </a:pPr>
            <a:r>
              <a:rPr sz="1500" b="1">
                <a:solidFill>
                  <a:srgbClr val="3D8DFF"/>
                </a:solidFill>
                <a:latin typeface="Arial"/>
                <a:ea typeface="Arial"/>
                <a:cs typeface="Arial"/>
              </a:rPr>
              <a:t>PASS  →  REPORT</a:t>
            </a:r>
          </a:p>
        </p:txBody>
      </p:sp>
      <p:sp>
        <p:nvSpPr>
          <p:cNvPr id="14" name="">
            <a:extLst xmlns:a="http://schemas.openxmlformats.org/drawingml/2006/main">
              <a:ext uri="{FF2B5EF4-FFF2-40B4-BE49-F238E27FC236}">
                <a16:creationId xmlns:a16="http://schemas.microsoft.com/office/drawing/2014/main" id="{9ECE7E79-D226-4D21-B4EF-842DD7AA46A8}"/>
              </a:ext>
            </a:extLst>
          </p:cNvPr>
          <p:cNvSpPr>
            <a:spLocks xmlns:a="http://schemas.openxmlformats.org/drawingml/2006/main" noGrp="1"/>
          </p:cNvSpPr>
          <p:nvPr/>
        </p:nvSpPr>
        <p:spPr>
          <a:xfrm xmlns:a="http://schemas.openxmlformats.org/drawingml/2006/main">
            <a:off x="6191250" y="4552950"/>
            <a:ext cx="5086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FAIL + rounds remain  →  append targeted tasks and run only the new wave.</a:t>
            </a:r>
          </a:p>
        </p:txBody>
      </p:sp>
      <p:sp>
        <p:nvSpPr>
          <p:cNvPr id="15" name="">
            <a:extLst xmlns:a="http://schemas.openxmlformats.org/drawingml/2006/main">
              <a:ext uri="{FF2B5EF4-FFF2-40B4-BE49-F238E27FC236}">
                <a16:creationId xmlns:a16="http://schemas.microsoft.com/office/drawing/2014/main" id="{D31DC3A5-2F36-4810-BD2E-CEAFEB8B0F60}"/>
              </a:ext>
            </a:extLst>
          </p:cNvPr>
          <p:cNvSpPr>
            <a:spLocks xmlns:a="http://schemas.openxmlformats.org/drawingml/2006/main" noGrp="1"/>
          </p:cNvSpPr>
          <p:nvPr/>
        </p:nvSpPr>
        <p:spPr>
          <a:xfrm xmlns:a="http://schemas.openxmlformats.org/drawingml/2006/main">
            <a:off x="457200" y="5791200"/>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500" b="1">
                <a:solidFill>
                  <a:srgbClr val="111111"/>
                </a:solidFill>
                <a:latin typeface="Arial"/>
                <a:ea typeface="Arial"/>
                <a:cs typeface="Arial"/>
              </a:defRPr>
            </a:pPr>
            <a:r>
              <a:rPr sz="1500" b="1">
                <a:solidFill>
                  <a:srgbClr val="111111"/>
                </a:solidFill>
                <a:latin typeface="Arial"/>
                <a:ea typeface="Arial"/>
                <a:cs typeface="Arial"/>
              </a:rPr>
              <a:t>Inner loop changes the next evidence action; outer loop changes the research plan.</a:t>
            </a:r>
          </a:p>
        </p:txBody>
      </p:sp>
    </p:spTree>
    <p:extLst>
      <p:ext uri="{BB962C8B-B14F-4D97-AF65-F5344CB8AC3E}">
        <p14:creationId xmlns:p14="http://schemas.microsoft.com/office/powerpoint/2010/main" val="7979577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5943A25-1751-49A1-84BE-9B859637EB6B}"/>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RESEARCH FLOW · LOOP ENGINEERING</a:t>
            </a:r>
          </a:p>
        </p:txBody>
      </p:sp>
      <p:sp>
        <p:nvSpPr>
          <p:cNvPr id="2" name="">
            <a:extLst xmlns:a="http://schemas.openxmlformats.org/drawingml/2006/main">
              <a:ext uri="{FF2B5EF4-FFF2-40B4-BE49-F238E27FC236}">
                <a16:creationId xmlns:a16="http://schemas.microsoft.com/office/drawing/2014/main" id="{B133666C-758F-4EDB-A9B7-899ED0AC70E5}"/>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Two loops correct uncertainty at different scales</a:t>
            </a:r>
          </a:p>
        </p:txBody>
      </p:sp>
      <p:sp>
        <p:nvSpPr>
          <p:cNvPr id="3" name="">
            <a:extLst xmlns:a="http://schemas.openxmlformats.org/drawingml/2006/main">
              <a:ext uri="{FF2B5EF4-FFF2-40B4-BE49-F238E27FC236}">
                <a16:creationId xmlns:a16="http://schemas.microsoft.com/office/drawing/2014/main" id="{463A1B07-5F69-4682-A8AD-B4F6CF0D203C}"/>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DB12257B-49C2-42C2-B631-ACEB18FB86CE}"/>
              </a:ext>
            </a:extLst>
          </p:cNvPr>
          <p:cNvSpPr>
            <a:spLocks xmlns:a="http://schemas.openxmlformats.org/drawingml/2006/main" noGrp="1"/>
          </p:cNvSpPr>
          <p:nvPr/>
        </p:nvSpPr>
        <p:spPr>
          <a:xfrm xmlns:a="http://schemas.openxmlformats.org/drawingml/2006/main">
            <a:off x="457200" y="15621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INNER LOOP · ONE WORKER</a:t>
            </a:r>
          </a:p>
        </p:txBody>
      </p:sp>
      <p:sp>
        <p:nvSpPr>
          <p:cNvPr id="5" name="">
            <a:extLst xmlns:a="http://schemas.openxmlformats.org/drawingml/2006/main">
              <a:ext uri="{FF2B5EF4-FFF2-40B4-BE49-F238E27FC236}">
                <a16:creationId xmlns:a16="http://schemas.microsoft.com/office/drawing/2014/main" id="{9CB42DB5-6DFC-41FB-A9FC-6E6F2D36C5CD}"/>
              </a:ext>
            </a:extLst>
          </p:cNvPr>
          <p:cNvSpPr>
            <a:spLocks xmlns:a="http://schemas.openxmlformats.org/drawingml/2006/main" noGrp="1"/>
          </p:cNvSpPr>
          <p:nvPr/>
        </p:nvSpPr>
        <p:spPr>
          <a:xfrm xmlns:a="http://schemas.openxmlformats.org/drawingml/2006/main">
            <a:off x="457200" y="20002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103"/>
          </a:bodyPr>
          <a:lstStyle xmlns:a="http://schemas.openxmlformats.org/drawingml/2006/main"/>
          <a:p xmlns:a="http://schemas.openxmlformats.org/drawingml/2006/main">
            <a:pPr algn="l">
              <a:buNone/>
              <a:defRPr sz="2175" b="1">
                <a:solidFill>
                  <a:srgbClr val="111111"/>
                </a:solidFill>
                <a:latin typeface="Arial"/>
                <a:ea typeface="Arial"/>
                <a:cs typeface="Arial"/>
              </a:defRPr>
            </a:pPr>
            <a:r>
              <a:rPr sz="2175" b="1">
                <a:solidFill>
                  <a:srgbClr val="111111"/>
                </a:solidFill>
                <a:latin typeface="Arial"/>
                <a:ea typeface="Arial"/>
                <a:cs typeface="Arial"/>
              </a:rPr>
              <a:t>Close a local evidence gap</a:t>
            </a:r>
          </a:p>
        </p:txBody>
      </p:sp>
      <p:sp>
        <p:nvSpPr>
          <p:cNvPr id="6" name="">
            <a:extLst xmlns:a="http://schemas.openxmlformats.org/drawingml/2006/main">
              <a:ext uri="{FF2B5EF4-FFF2-40B4-BE49-F238E27FC236}">
                <a16:creationId xmlns:a16="http://schemas.microsoft.com/office/drawing/2014/main" id="{17800DBC-C007-4E0A-A9D7-F0A0085C29A9}"/>
              </a:ext>
            </a:extLst>
          </p:cNvPr>
          <p:cNvSpPr>
            <a:spLocks xmlns:a="http://schemas.openxmlformats.org/drawingml/2006/main" noGrp="1"/>
          </p:cNvSpPr>
          <p:nvPr/>
        </p:nvSpPr>
        <p:spPr>
          <a:xfrm xmlns:a="http://schemas.openxmlformats.org/drawingml/2006/main">
            <a:off x="457200" y="2686050"/>
            <a:ext cx="4953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Formulate → Search / Follow source → Extract → Inspect gaps → Search again or Stop</a:t>
            </a:r>
          </a:p>
        </p:txBody>
      </p:sp>
      <p:sp>
        <p:nvSpPr>
          <p:cNvPr id="7" name="">
            <a:extLst xmlns:a="http://schemas.openxmlformats.org/drawingml/2006/main">
              <a:ext uri="{FF2B5EF4-FFF2-40B4-BE49-F238E27FC236}">
                <a16:creationId xmlns:a16="http://schemas.microsoft.com/office/drawing/2014/main" id="{D5ABA63A-4783-4039-94CF-A9FAAF4595D5}"/>
              </a:ext>
            </a:extLst>
          </p:cNvPr>
          <p:cNvSpPr>
            <a:spLocks xmlns:a="http://schemas.openxmlformats.org/drawingml/2006/main" noGrp="1"/>
          </p:cNvSpPr>
          <p:nvPr/>
        </p:nvSpPr>
        <p:spPr>
          <a:xfrm xmlns:a="http://schemas.openxmlformats.org/drawingml/2006/main">
            <a:off x="457200" y="3848100"/>
            <a:ext cx="49530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Contract</a:t>
            </a:r>
          </a:p>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QueryPlan → EvidenceBatch → WorkerDecision</a:t>
            </a:r>
          </a:p>
          <a:p xmlns:a="http://schemas.openxmlformats.org/drawingml/2006/main">
            <a:r>
              <a:t/>
            </a:r>
          </a:p>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Durable progress</a:t>
            </a:r>
          </a:p>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Executed queries, source records, evidence IDs, errors, and stop reason</a:t>
            </a:r>
          </a:p>
        </p:txBody>
      </p:sp>
      <p:sp>
        <p:nvSpPr>
          <p:cNvPr id="8" name="">
            <a:extLst xmlns:a="http://schemas.openxmlformats.org/drawingml/2006/main">
              <a:ext uri="{FF2B5EF4-FFF2-40B4-BE49-F238E27FC236}">
                <a16:creationId xmlns:a16="http://schemas.microsoft.com/office/drawing/2014/main" id="{4B3E5348-2DD6-4212-BAD8-3BCD8EE39ECB}"/>
              </a:ext>
            </a:extLst>
          </p:cNvPr>
          <p:cNvSpPr>
            <a:spLocks xmlns:a="http://schemas.openxmlformats.org/drawingml/2006/main" noGrp="1"/>
          </p:cNvSpPr>
          <p:nvPr/>
        </p:nvSpPr>
        <p:spPr>
          <a:xfrm xmlns:a="http://schemas.openxmlformats.org/drawingml/2006/main">
            <a:off x="5734050" y="1562100"/>
            <a:ext cx="19050" cy="39433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9" name="">
            <a:extLst xmlns:a="http://schemas.openxmlformats.org/drawingml/2006/main">
              <a:ext uri="{FF2B5EF4-FFF2-40B4-BE49-F238E27FC236}">
                <a16:creationId xmlns:a16="http://schemas.microsoft.com/office/drawing/2014/main" id="{302E0BC1-42EB-47F3-91BB-448C9305096D}"/>
              </a:ext>
            </a:extLst>
          </p:cNvPr>
          <p:cNvSpPr>
            <a:spLocks xmlns:a="http://schemas.openxmlformats.org/drawingml/2006/main" noGrp="1"/>
          </p:cNvSpPr>
          <p:nvPr/>
        </p:nvSpPr>
        <p:spPr>
          <a:xfrm xmlns:a="http://schemas.openxmlformats.org/drawingml/2006/main">
            <a:off x="6191250" y="1562100"/>
            <a:ext cx="508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OUTER LOOP · WHOLE RESEARCH RUN</a:t>
            </a:r>
          </a:p>
        </p:txBody>
      </p:sp>
      <p:sp>
        <p:nvSpPr>
          <p:cNvPr id="10" name="">
            <a:extLst xmlns:a="http://schemas.openxmlformats.org/drawingml/2006/main">
              <a:ext uri="{FF2B5EF4-FFF2-40B4-BE49-F238E27FC236}">
                <a16:creationId xmlns:a16="http://schemas.microsoft.com/office/drawing/2014/main" id="{5FFD5D8E-6208-48D5-BE92-A879667698BC}"/>
              </a:ext>
            </a:extLst>
          </p:cNvPr>
          <p:cNvSpPr>
            <a:spLocks xmlns:a="http://schemas.openxmlformats.org/drawingml/2006/main" noGrp="1"/>
          </p:cNvSpPr>
          <p:nvPr/>
        </p:nvSpPr>
        <p:spPr>
          <a:xfrm xmlns:a="http://schemas.openxmlformats.org/drawingml/2006/main">
            <a:off x="6191250" y="2000250"/>
            <a:ext cx="5086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103"/>
          </a:bodyPr>
          <a:lstStyle xmlns:a="http://schemas.openxmlformats.org/drawingml/2006/main"/>
          <a:p xmlns:a="http://schemas.openxmlformats.org/drawingml/2006/main">
            <a:pPr algn="l">
              <a:buNone/>
              <a:defRPr sz="2175" b="1">
                <a:solidFill>
                  <a:srgbClr val="111111"/>
                </a:solidFill>
                <a:latin typeface="Arial"/>
                <a:ea typeface="Arial"/>
                <a:cs typeface="Arial"/>
              </a:defRPr>
            </a:pPr>
            <a:r>
              <a:rPr sz="2175" b="1">
                <a:solidFill>
                  <a:srgbClr val="111111"/>
                </a:solidFill>
                <a:latin typeface="Arial"/>
                <a:ea typeface="Arial"/>
                <a:cs typeface="Arial"/>
              </a:rPr>
              <a:t>Close a global coverage gap</a:t>
            </a:r>
          </a:p>
        </p:txBody>
      </p:sp>
      <p:sp>
        <p:nvSpPr>
          <p:cNvPr id="11" name="">
            <a:extLst xmlns:a="http://schemas.openxmlformats.org/drawingml/2006/main">
              <a:ext uri="{FF2B5EF4-FFF2-40B4-BE49-F238E27FC236}">
                <a16:creationId xmlns:a16="http://schemas.microsoft.com/office/drawing/2014/main" id="{D0E8594E-4979-4919-A197-A903FD7A18BD}"/>
              </a:ext>
            </a:extLst>
          </p:cNvPr>
          <p:cNvSpPr>
            <a:spLocks xmlns:a="http://schemas.openxmlformats.org/drawingml/2006/main" noGrp="1"/>
          </p:cNvSpPr>
          <p:nvPr/>
        </p:nvSpPr>
        <p:spPr>
          <a:xfrm xmlns:a="http://schemas.openxmlformats.org/drawingml/2006/main">
            <a:off x="6191250" y="2686050"/>
            <a:ext cx="5086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Aggregate → Audit → Identify gaps → Replan tasks → Fan out another Worker wave</a:t>
            </a:r>
          </a:p>
        </p:txBody>
      </p:sp>
      <p:sp>
        <p:nvSpPr>
          <p:cNvPr id="12" name="">
            <a:extLst xmlns:a="http://schemas.openxmlformats.org/drawingml/2006/main">
              <a:ext uri="{FF2B5EF4-FFF2-40B4-BE49-F238E27FC236}">
                <a16:creationId xmlns:a16="http://schemas.microsoft.com/office/drawing/2014/main" id="{5E3A7C1B-DA82-40E3-9000-C329F482782E}"/>
              </a:ext>
            </a:extLst>
          </p:cNvPr>
          <p:cNvSpPr>
            <a:spLocks xmlns:a="http://schemas.openxmlformats.org/drawingml/2006/main" noGrp="1"/>
          </p:cNvSpPr>
          <p:nvPr/>
        </p:nvSpPr>
        <p:spPr>
          <a:xfrm xmlns:a="http://schemas.openxmlformats.org/drawingml/2006/main">
            <a:off x="6191250" y="3848100"/>
            <a:ext cx="50863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Contract</a:t>
            </a:r>
          </a:p>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AuditResult → ReplanDecision → ResearchTask</a:t>
            </a:r>
          </a:p>
          <a:p xmlns:a="http://schemas.openxmlformats.org/drawingml/2006/main">
            <a:r>
              <a:t/>
            </a:r>
          </a:p>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Durable progress</a:t>
            </a:r>
          </a:p>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Audit checks, actionable gaps, task statuses, follow-up round, and terminal reason</a:t>
            </a:r>
          </a:p>
        </p:txBody>
      </p:sp>
      <p:sp>
        <p:nvSpPr>
          <p:cNvPr id="13" name="">
            <a:extLst xmlns:a="http://schemas.openxmlformats.org/drawingml/2006/main">
              <a:ext uri="{FF2B5EF4-FFF2-40B4-BE49-F238E27FC236}">
                <a16:creationId xmlns:a16="http://schemas.microsoft.com/office/drawing/2014/main" id="{D6D8636D-0094-4463-9732-334FDC361943}"/>
              </a:ext>
            </a:extLst>
          </p:cNvPr>
          <p:cNvSpPr>
            <a:spLocks xmlns:a="http://schemas.openxmlformats.org/drawingml/2006/main" noGrp="1"/>
          </p:cNvSpPr>
          <p:nvPr/>
        </p:nvSpPr>
        <p:spPr>
          <a:xfrm xmlns:a="http://schemas.openxmlformats.org/drawingml/2006/main">
            <a:off x="457200" y="5905500"/>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575" b="1">
                <a:solidFill>
                  <a:srgbClr val="111111"/>
                </a:solidFill>
                <a:latin typeface="Arial"/>
                <a:ea typeface="Arial"/>
                <a:cs typeface="Arial"/>
              </a:defRPr>
            </a:pPr>
            <a:r>
              <a:rPr sz="1575" b="1">
                <a:solidFill>
                  <a:srgbClr val="111111"/>
                </a:solidFill>
                <a:latin typeface="Arial"/>
                <a:ea typeface="Arial"/>
                <a:cs typeface="Arial"/>
              </a:rPr>
              <a:t>Inner adaptation improves each task; outer adaptation changes the research plan itself.</a:t>
            </a:r>
          </a:p>
        </p:txBody>
      </p:sp>
    </p:spTree>
    <p:extLst>
      <p:ext uri="{BB962C8B-B14F-4D97-AF65-F5344CB8AC3E}">
        <p14:creationId xmlns:p14="http://schemas.microsoft.com/office/powerpoint/2010/main" val="14999969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FEEA3C0-CC40-4758-A86C-0F852CB511C0}"/>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RESEARCH FLOW · ADAPTIVE WORKER</a:t>
            </a:r>
          </a:p>
        </p:txBody>
      </p:sp>
      <p:sp>
        <p:nvSpPr>
          <p:cNvPr id="2" name="">
            <a:extLst xmlns:a="http://schemas.openxmlformats.org/drawingml/2006/main">
              <a:ext uri="{FF2B5EF4-FFF2-40B4-BE49-F238E27FC236}">
                <a16:creationId xmlns:a16="http://schemas.microsoft.com/office/drawing/2014/main" id="{6EE33C95-66B4-4FD1-AEC7-5EBAD354B840}"/>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Each Worker chooses the next best evidence action</a:t>
            </a:r>
          </a:p>
        </p:txBody>
      </p:sp>
      <p:sp>
        <p:nvSpPr>
          <p:cNvPr id="3" name="">
            <a:extLst xmlns:a="http://schemas.openxmlformats.org/drawingml/2006/main">
              <a:ext uri="{FF2B5EF4-FFF2-40B4-BE49-F238E27FC236}">
                <a16:creationId xmlns:a16="http://schemas.microsoft.com/office/drawing/2014/main" id="{5AA2F666-E2E6-4090-9FC5-2DBFA240DA09}"/>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10B42C55-4617-41D8-BAC3-660A7B35F10D}"/>
              </a:ext>
            </a:extLst>
          </p:cNvPr>
          <p:cNvSpPr>
            <a:spLocks xmlns:a="http://schemas.openxmlformats.org/drawingml/2006/main" noGrp="1"/>
          </p:cNvSpPr>
          <p:nvPr/>
        </p:nvSpPr>
        <p:spPr>
          <a:xfrm xmlns:a="http://schemas.openxmlformats.org/drawingml/2006/main">
            <a:off x="457200" y="15240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buNone/>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10EF841-5CE1-48DC-9660-16E423E0534E}"/>
              </a:ext>
            </a:extLst>
          </p:cNvPr>
          <p:cNvSpPr>
            <a:spLocks xmlns:a="http://schemas.openxmlformats.org/drawingml/2006/main" noGrp="1"/>
          </p:cNvSpPr>
          <p:nvPr/>
        </p:nvSpPr>
        <p:spPr>
          <a:xfrm xmlns:a="http://schemas.openxmlformats.org/drawingml/2006/main">
            <a:off x="1066800" y="15049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Formulate</a:t>
            </a:r>
          </a:p>
        </p:txBody>
      </p:sp>
      <p:sp>
        <p:nvSpPr>
          <p:cNvPr id="6" name="">
            <a:extLst xmlns:a="http://schemas.openxmlformats.org/drawingml/2006/main">
              <a:ext uri="{FF2B5EF4-FFF2-40B4-BE49-F238E27FC236}">
                <a16:creationId xmlns:a16="http://schemas.microsoft.com/office/drawing/2014/main" id="{002454FF-1F80-44E3-9F37-9068DC551CAD}"/>
              </a:ext>
            </a:extLst>
          </p:cNvPr>
          <p:cNvSpPr>
            <a:spLocks xmlns:a="http://schemas.openxmlformats.org/drawingml/2006/main" noGrp="1"/>
          </p:cNvSpPr>
          <p:nvPr/>
        </p:nvSpPr>
        <p:spPr>
          <a:xfrm xmlns:a="http://schemas.openxmlformats.org/drawingml/2006/main">
            <a:off x="2571750" y="1524000"/>
            <a:ext cx="4686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p xmlns:a="http://schemas.openxmlformats.org/drawingml/2006/main">
            <a:pPr algn="l">
              <a:buNone/>
              <a:defRPr sz="1275" b="0">
                <a:solidFill>
                  <a:srgbClr val="5F6670"/>
                </a:solidFill>
                <a:latin typeface="Arial"/>
                <a:ea typeface="Arial"/>
                <a:cs typeface="Arial"/>
              </a:defRPr>
            </a:pPr>
            <a:r>
              <a:rPr sz="1275" b="0">
                <a:solidFill>
                  <a:srgbClr val="5F6670"/>
                </a:solidFill>
                <a:latin typeface="Arial"/>
                <a:ea typeface="Arial"/>
                <a:cs typeface="Arial"/>
              </a:rPr>
              <a:t>Create queries from the task role, objective, must_find, and current gaps.</a:t>
            </a:r>
          </a:p>
        </p:txBody>
      </p:sp>
      <p:sp>
        <p:nvSpPr>
          <p:cNvPr id="7" name="">
            <a:extLst xmlns:a="http://schemas.openxmlformats.org/drawingml/2006/main">
              <a:ext uri="{FF2B5EF4-FFF2-40B4-BE49-F238E27FC236}">
                <a16:creationId xmlns:a16="http://schemas.microsoft.com/office/drawing/2014/main" id="{282EE6C6-ACB7-43B7-AF9B-D5AAEABA5CE2}"/>
              </a:ext>
            </a:extLst>
          </p:cNvPr>
          <p:cNvSpPr>
            <a:spLocks xmlns:a="http://schemas.openxmlformats.org/drawingml/2006/main" noGrp="1"/>
          </p:cNvSpPr>
          <p:nvPr/>
        </p:nvSpPr>
        <p:spPr>
          <a:xfrm xmlns:a="http://schemas.openxmlformats.org/drawingml/2006/main">
            <a:off x="457200" y="23622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buNone/>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3B068359-8082-4FCE-833D-3C4599B4033B}"/>
              </a:ext>
            </a:extLst>
          </p:cNvPr>
          <p:cNvSpPr>
            <a:spLocks xmlns:a="http://schemas.openxmlformats.org/drawingml/2006/main" noGrp="1"/>
          </p:cNvSpPr>
          <p:nvPr/>
        </p:nvSpPr>
        <p:spPr>
          <a:xfrm xmlns:a="http://schemas.openxmlformats.org/drawingml/2006/main">
            <a:off x="1066800" y="23431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Retrieve</a:t>
            </a:r>
          </a:p>
        </p:txBody>
      </p:sp>
      <p:sp>
        <p:nvSpPr>
          <p:cNvPr id="9" name="">
            <a:extLst xmlns:a="http://schemas.openxmlformats.org/drawingml/2006/main">
              <a:ext uri="{FF2B5EF4-FFF2-40B4-BE49-F238E27FC236}">
                <a16:creationId xmlns:a16="http://schemas.microsoft.com/office/drawing/2014/main" id="{D53C2933-D97A-4BDA-B831-8FCE031C9FA2}"/>
              </a:ext>
            </a:extLst>
          </p:cNvPr>
          <p:cNvSpPr>
            <a:spLocks xmlns:a="http://schemas.openxmlformats.org/drawingml/2006/main" noGrp="1"/>
          </p:cNvSpPr>
          <p:nvPr/>
        </p:nvSpPr>
        <p:spPr>
          <a:xfrm xmlns:a="http://schemas.openxmlformats.org/drawingml/2006/main">
            <a:off x="2571750" y="2362200"/>
            <a:ext cx="4686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p xmlns:a="http://schemas.openxmlformats.org/drawingml/2006/main">
            <a:pPr algn="l">
              <a:buNone/>
              <a:defRPr sz="1275" b="0">
                <a:solidFill>
                  <a:srgbClr val="5F6670"/>
                </a:solidFill>
                <a:latin typeface="Arial"/>
                <a:ea typeface="Arial"/>
                <a:cs typeface="Arial"/>
              </a:defRPr>
            </a:pPr>
            <a:r>
              <a:rPr sz="1275" b="0">
                <a:solidFill>
                  <a:srgbClr val="5F6670"/>
                </a:solidFill>
                <a:latin typeface="Arial"/>
                <a:ea typeface="Arial"/>
                <a:cs typeface="Arial"/>
              </a:rPr>
              <a:t>Search Tavily or follow an attributed original source; extract the full page.</a:t>
            </a:r>
          </a:p>
        </p:txBody>
      </p:sp>
      <p:sp>
        <p:nvSpPr>
          <p:cNvPr id="10" name="">
            <a:extLst xmlns:a="http://schemas.openxmlformats.org/drawingml/2006/main">
              <a:ext uri="{FF2B5EF4-FFF2-40B4-BE49-F238E27FC236}">
                <a16:creationId xmlns:a16="http://schemas.microsoft.com/office/drawing/2014/main" id="{897BA013-0CDC-400A-8353-746AD64F246E}"/>
              </a:ext>
            </a:extLst>
          </p:cNvPr>
          <p:cNvSpPr>
            <a:spLocks xmlns:a="http://schemas.openxmlformats.org/drawingml/2006/main" noGrp="1"/>
          </p:cNvSpPr>
          <p:nvPr/>
        </p:nvSpPr>
        <p:spPr>
          <a:xfrm xmlns:a="http://schemas.openxmlformats.org/drawingml/2006/main">
            <a:off x="457200" y="32004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buNone/>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A85B4780-9A89-4C08-BD1D-BAAD1C2EEC0B}"/>
              </a:ext>
            </a:extLst>
          </p:cNvPr>
          <p:cNvSpPr>
            <a:spLocks xmlns:a="http://schemas.openxmlformats.org/drawingml/2006/main" noGrp="1"/>
          </p:cNvSpPr>
          <p:nvPr/>
        </p:nvSpPr>
        <p:spPr>
          <a:xfrm xmlns:a="http://schemas.openxmlformats.org/drawingml/2006/main">
            <a:off x="1066800" y="31813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Evaluate</a:t>
            </a:r>
          </a:p>
        </p:txBody>
      </p:sp>
      <p:sp>
        <p:nvSpPr>
          <p:cNvPr id="12" name="">
            <a:extLst xmlns:a="http://schemas.openxmlformats.org/drawingml/2006/main">
              <a:ext uri="{FF2B5EF4-FFF2-40B4-BE49-F238E27FC236}">
                <a16:creationId xmlns:a16="http://schemas.microsoft.com/office/drawing/2014/main" id="{3A52F46B-7DE9-49D7-8B8C-1EB766B4E3EB}"/>
              </a:ext>
            </a:extLst>
          </p:cNvPr>
          <p:cNvSpPr>
            <a:spLocks xmlns:a="http://schemas.openxmlformats.org/drawingml/2006/main" noGrp="1"/>
          </p:cNvSpPr>
          <p:nvPr/>
        </p:nvSpPr>
        <p:spPr>
          <a:xfrm xmlns:a="http://schemas.openxmlformats.org/drawingml/2006/main">
            <a:off x="2571750" y="3200400"/>
            <a:ext cx="4686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p xmlns:a="http://schemas.openxmlformats.org/drawingml/2006/main">
            <a:pPr algn="l">
              <a:buNone/>
              <a:defRPr sz="1275" b="0">
                <a:solidFill>
                  <a:srgbClr val="5F6670"/>
                </a:solidFill>
                <a:latin typeface="Arial"/>
                <a:ea typeface="Arial"/>
                <a:cs typeface="Arial"/>
              </a:defRPr>
            </a:pPr>
            <a:r>
              <a:rPr sz="1275" b="0">
                <a:solidFill>
                  <a:srgbClr val="5F6670"/>
                </a:solidFill>
                <a:latin typeface="Arial"/>
                <a:ea typeface="Arial"/>
                <a:cs typeface="Arial"/>
              </a:rPr>
              <a:t>Score source authority, directness, methods, independence, recency, and relevance.</a:t>
            </a:r>
          </a:p>
        </p:txBody>
      </p:sp>
      <p:sp>
        <p:nvSpPr>
          <p:cNvPr id="13" name="">
            <a:extLst xmlns:a="http://schemas.openxmlformats.org/drawingml/2006/main">
              <a:ext uri="{FF2B5EF4-FFF2-40B4-BE49-F238E27FC236}">
                <a16:creationId xmlns:a16="http://schemas.microsoft.com/office/drawing/2014/main" id="{E3E130B5-8FDB-4CCE-B315-313CE1EBBE60}"/>
              </a:ext>
            </a:extLst>
          </p:cNvPr>
          <p:cNvSpPr>
            <a:spLocks xmlns:a="http://schemas.openxmlformats.org/drawingml/2006/main" noGrp="1"/>
          </p:cNvSpPr>
          <p:nvPr/>
        </p:nvSpPr>
        <p:spPr>
          <a:xfrm xmlns:a="http://schemas.openxmlformats.org/drawingml/2006/main">
            <a:off x="457200" y="40386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buNone/>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9B30C003-CE21-4700-9020-AD73F0623A6E}"/>
              </a:ext>
            </a:extLst>
          </p:cNvPr>
          <p:cNvSpPr>
            <a:spLocks xmlns:a="http://schemas.openxmlformats.org/drawingml/2006/main" noGrp="1"/>
          </p:cNvSpPr>
          <p:nvPr/>
        </p:nvSpPr>
        <p:spPr>
          <a:xfrm xmlns:a="http://schemas.openxmlformats.org/drawingml/2006/main">
            <a:off x="1066800" y="40195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Extract</a:t>
            </a:r>
          </a:p>
        </p:txBody>
      </p:sp>
      <p:sp>
        <p:nvSpPr>
          <p:cNvPr id="15" name="">
            <a:extLst xmlns:a="http://schemas.openxmlformats.org/drawingml/2006/main">
              <a:ext uri="{FF2B5EF4-FFF2-40B4-BE49-F238E27FC236}">
                <a16:creationId xmlns:a16="http://schemas.microsoft.com/office/drawing/2014/main" id="{2C76FF1C-9D5B-49C0-84A7-9665A3952DAF}"/>
              </a:ext>
            </a:extLst>
          </p:cNvPr>
          <p:cNvSpPr>
            <a:spLocks xmlns:a="http://schemas.openxmlformats.org/drawingml/2006/main" noGrp="1"/>
          </p:cNvSpPr>
          <p:nvPr/>
        </p:nvSpPr>
        <p:spPr>
          <a:xfrm xmlns:a="http://schemas.openxmlformats.org/drawingml/2006/main">
            <a:off x="2571750" y="4038600"/>
            <a:ext cx="4686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F6670"/>
                </a:solidFill>
                <a:latin typeface="Arial"/>
                <a:ea typeface="Arial"/>
                <a:cs typeface="Arial"/>
              </a:defRPr>
            </a:pPr>
            <a:r>
              <a:rPr sz="1275" b="0">
                <a:solidFill>
                  <a:srgbClr val="5F6670"/>
                </a:solidFill>
                <a:latin typeface="Arial"/>
                <a:ea typeface="Arial"/>
                <a:cs typeface="Arial"/>
              </a:rPr>
              <a:t>Persist atomic evidence with verbatim quotes and provenance.</a:t>
            </a:r>
          </a:p>
        </p:txBody>
      </p:sp>
      <p:sp>
        <p:nvSpPr>
          <p:cNvPr id="16" name="">
            <a:extLst xmlns:a="http://schemas.openxmlformats.org/drawingml/2006/main">
              <a:ext uri="{FF2B5EF4-FFF2-40B4-BE49-F238E27FC236}">
                <a16:creationId xmlns:a16="http://schemas.microsoft.com/office/drawing/2014/main" id="{3CB115B7-5516-44E2-B67D-BAD923998E43}"/>
              </a:ext>
            </a:extLst>
          </p:cNvPr>
          <p:cNvSpPr>
            <a:spLocks xmlns:a="http://schemas.openxmlformats.org/drawingml/2006/main" noGrp="1"/>
          </p:cNvSpPr>
          <p:nvPr/>
        </p:nvSpPr>
        <p:spPr>
          <a:xfrm xmlns:a="http://schemas.openxmlformats.org/drawingml/2006/main">
            <a:off x="457200" y="48768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buNone/>
              <a:defRPr sz="1425" b="1">
                <a:solidFill>
                  <a:srgbClr val="3D8DFF"/>
                </a:solidFill>
                <a:latin typeface="Arial"/>
                <a:ea typeface="Arial"/>
                <a:cs typeface="Arial"/>
              </a:defRPr>
            </a:pPr>
            <a:r>
              <a:rPr sz="1425" b="1">
                <a:solidFill>
                  <a:srgbClr val="3D8DFF"/>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B3EF9E90-4297-43D5-AC9F-F7AAF7FCEA8B}"/>
              </a:ext>
            </a:extLst>
          </p:cNvPr>
          <p:cNvSpPr>
            <a:spLocks xmlns:a="http://schemas.openxmlformats.org/drawingml/2006/main" noGrp="1"/>
          </p:cNvSpPr>
          <p:nvPr/>
        </p:nvSpPr>
        <p:spPr>
          <a:xfrm xmlns:a="http://schemas.openxmlformats.org/drawingml/2006/main">
            <a:off x="1066800" y="48577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Decide</a:t>
            </a:r>
          </a:p>
        </p:txBody>
      </p:sp>
      <p:sp>
        <p:nvSpPr>
          <p:cNvPr id="18" name="">
            <a:extLst xmlns:a="http://schemas.openxmlformats.org/drawingml/2006/main">
              <a:ext uri="{FF2B5EF4-FFF2-40B4-BE49-F238E27FC236}">
                <a16:creationId xmlns:a16="http://schemas.microsoft.com/office/drawing/2014/main" id="{67F854A5-DF10-4950-B884-F62535752F60}"/>
              </a:ext>
            </a:extLst>
          </p:cNvPr>
          <p:cNvSpPr>
            <a:spLocks xmlns:a="http://schemas.openxmlformats.org/drawingml/2006/main" noGrp="1"/>
          </p:cNvSpPr>
          <p:nvPr/>
        </p:nvSpPr>
        <p:spPr>
          <a:xfrm xmlns:a="http://schemas.openxmlformats.org/drawingml/2006/main">
            <a:off x="2571750" y="4876800"/>
            <a:ext cx="4686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p xmlns:a="http://schemas.openxmlformats.org/drawingml/2006/main">
            <a:pPr algn="l">
              <a:buNone/>
              <a:defRPr sz="1275" b="0">
                <a:solidFill>
                  <a:srgbClr val="5F6670"/>
                </a:solidFill>
                <a:latin typeface="Arial"/>
                <a:ea typeface="Arial"/>
                <a:cs typeface="Arial"/>
              </a:defRPr>
            </a:pPr>
            <a:r>
              <a:rPr sz="1275" b="0">
                <a:solidFill>
                  <a:srgbClr val="5F6670"/>
                </a:solidFill>
                <a:latin typeface="Arial"/>
                <a:ea typeface="Arial"/>
                <a:cs typeface="Arial"/>
              </a:rPr>
              <a:t>Return SEARCH, FOLLOW_SOURCE, or STOP from the updated evidence state.</a:t>
            </a:r>
          </a:p>
        </p:txBody>
      </p:sp>
      <p:sp>
        <p:nvSpPr>
          <p:cNvPr id="19" name="">
            <a:extLst xmlns:a="http://schemas.openxmlformats.org/drawingml/2006/main">
              <a:ext uri="{FF2B5EF4-FFF2-40B4-BE49-F238E27FC236}">
                <a16:creationId xmlns:a16="http://schemas.microsoft.com/office/drawing/2014/main" id="{A584D65F-A6A6-4EB3-A161-7C28318EE3C8}"/>
              </a:ext>
            </a:extLst>
          </p:cNvPr>
          <p:cNvSpPr>
            <a:spLocks xmlns:a="http://schemas.openxmlformats.org/drawingml/2006/main" noGrp="1"/>
          </p:cNvSpPr>
          <p:nvPr/>
        </p:nvSpPr>
        <p:spPr>
          <a:xfrm xmlns:a="http://schemas.openxmlformats.org/drawingml/2006/main">
            <a:off x="7600950" y="1524000"/>
            <a:ext cx="19050" cy="40957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0" name="">
            <a:extLst xmlns:a="http://schemas.openxmlformats.org/drawingml/2006/main">
              <a:ext uri="{FF2B5EF4-FFF2-40B4-BE49-F238E27FC236}">
                <a16:creationId xmlns:a16="http://schemas.microsoft.com/office/drawing/2014/main" id="{F51BE95E-859A-452D-BC33-661E70655582}"/>
              </a:ext>
            </a:extLst>
          </p:cNvPr>
          <p:cNvSpPr>
            <a:spLocks xmlns:a="http://schemas.openxmlformats.org/drawingml/2006/main" noGrp="1"/>
          </p:cNvSpPr>
          <p:nvPr/>
        </p:nvSpPr>
        <p:spPr>
          <a:xfrm xmlns:a="http://schemas.openxmlformats.org/drawingml/2006/main">
            <a:off x="8058150" y="1524000"/>
            <a:ext cx="3219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WORKERDECISION CONTRACT</a:t>
            </a:r>
          </a:p>
        </p:txBody>
      </p:sp>
      <p:sp>
        <p:nvSpPr>
          <p:cNvPr id="21" name="">
            <a:extLst xmlns:a="http://schemas.openxmlformats.org/drawingml/2006/main">
              <a:ext uri="{FF2B5EF4-FFF2-40B4-BE49-F238E27FC236}">
                <a16:creationId xmlns:a16="http://schemas.microsoft.com/office/drawing/2014/main" id="{047F3372-1E1A-4BA7-81F1-591B82D18D11}"/>
              </a:ext>
            </a:extLst>
          </p:cNvPr>
          <p:cNvSpPr>
            <a:spLocks xmlns:a="http://schemas.openxmlformats.org/drawingml/2006/main" noGrp="1"/>
          </p:cNvSpPr>
          <p:nvPr/>
        </p:nvSpPr>
        <p:spPr>
          <a:xfrm xmlns:a="http://schemas.openxmlformats.org/drawingml/2006/main">
            <a:off x="8058150" y="20383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action</a:t>
            </a:r>
          </a:p>
        </p:txBody>
      </p:sp>
      <p:sp>
        <p:nvSpPr>
          <p:cNvPr id="22" name="">
            <a:extLst xmlns:a="http://schemas.openxmlformats.org/drawingml/2006/main">
              <a:ext uri="{FF2B5EF4-FFF2-40B4-BE49-F238E27FC236}">
                <a16:creationId xmlns:a16="http://schemas.microsoft.com/office/drawing/2014/main" id="{DDA637C1-2437-4AA1-812E-713989D26C87}"/>
              </a:ext>
            </a:extLst>
          </p:cNvPr>
          <p:cNvSpPr>
            <a:spLocks xmlns:a="http://schemas.openxmlformats.org/drawingml/2006/main" noGrp="1"/>
          </p:cNvSpPr>
          <p:nvPr/>
        </p:nvSpPr>
        <p:spPr>
          <a:xfrm xmlns:a="http://schemas.openxmlformats.org/drawingml/2006/main">
            <a:off x="8058150" y="2381250"/>
            <a:ext cx="3219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SEARCH · FOLLOW_SOURCE · STOP</a:t>
            </a:r>
          </a:p>
        </p:txBody>
      </p:sp>
      <p:sp>
        <p:nvSpPr>
          <p:cNvPr id="23" name="">
            <a:extLst xmlns:a="http://schemas.openxmlformats.org/drawingml/2006/main">
              <a:ext uri="{FF2B5EF4-FFF2-40B4-BE49-F238E27FC236}">
                <a16:creationId xmlns:a16="http://schemas.microsoft.com/office/drawing/2014/main" id="{AA1CBEB7-2B74-4996-B26F-0935234C26D2}"/>
              </a:ext>
            </a:extLst>
          </p:cNvPr>
          <p:cNvSpPr>
            <a:spLocks xmlns:a="http://schemas.openxmlformats.org/drawingml/2006/main" noGrp="1"/>
          </p:cNvSpPr>
          <p:nvPr/>
        </p:nvSpPr>
        <p:spPr>
          <a:xfrm xmlns:a="http://schemas.openxmlformats.org/drawingml/2006/main">
            <a:off x="8058150" y="30289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next action data</a:t>
            </a:r>
          </a:p>
        </p:txBody>
      </p:sp>
      <p:sp>
        <p:nvSpPr>
          <p:cNvPr id="24" name="">
            <a:extLst xmlns:a="http://schemas.openxmlformats.org/drawingml/2006/main">
              <a:ext uri="{FF2B5EF4-FFF2-40B4-BE49-F238E27FC236}">
                <a16:creationId xmlns:a16="http://schemas.microsoft.com/office/drawing/2014/main" id="{82B0A23A-943C-4FA2-AF9E-749B12B46965}"/>
              </a:ext>
            </a:extLst>
          </p:cNvPr>
          <p:cNvSpPr>
            <a:spLocks xmlns:a="http://schemas.openxmlformats.org/drawingml/2006/main" noGrp="1"/>
          </p:cNvSpPr>
          <p:nvPr/>
        </p:nvSpPr>
        <p:spPr>
          <a:xfrm xmlns:a="http://schemas.openxmlformats.org/drawingml/2006/main">
            <a:off x="8058150" y="3371850"/>
            <a:ext cx="3219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next_query or target_source_url</a:t>
            </a:r>
          </a:p>
        </p:txBody>
      </p:sp>
      <p:sp>
        <p:nvSpPr>
          <p:cNvPr id="25" name="">
            <a:extLst xmlns:a="http://schemas.openxmlformats.org/drawingml/2006/main">
              <a:ext uri="{FF2B5EF4-FFF2-40B4-BE49-F238E27FC236}">
                <a16:creationId xmlns:a16="http://schemas.microsoft.com/office/drawing/2014/main" id="{D2DFA8C1-8038-427B-894F-C16AE4F4E06A}"/>
              </a:ext>
            </a:extLst>
          </p:cNvPr>
          <p:cNvSpPr>
            <a:spLocks xmlns:a="http://schemas.openxmlformats.org/drawingml/2006/main" noGrp="1"/>
          </p:cNvSpPr>
          <p:nvPr/>
        </p:nvSpPr>
        <p:spPr>
          <a:xfrm xmlns:a="http://schemas.openxmlformats.org/drawingml/2006/main">
            <a:off x="8058150" y="40195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research state</a:t>
            </a:r>
          </a:p>
        </p:txBody>
      </p:sp>
      <p:sp>
        <p:nvSpPr>
          <p:cNvPr id="26" name="">
            <a:extLst xmlns:a="http://schemas.openxmlformats.org/drawingml/2006/main">
              <a:ext uri="{FF2B5EF4-FFF2-40B4-BE49-F238E27FC236}">
                <a16:creationId xmlns:a16="http://schemas.microsoft.com/office/drawing/2014/main" id="{1CA67391-C3BA-4214-81B5-2B0FB84F340C}"/>
              </a:ext>
            </a:extLst>
          </p:cNvPr>
          <p:cNvSpPr>
            <a:spLocks xmlns:a="http://schemas.openxmlformats.org/drawingml/2006/main" noGrp="1"/>
          </p:cNvSpPr>
          <p:nvPr/>
        </p:nvSpPr>
        <p:spPr>
          <a:xfrm xmlns:a="http://schemas.openxmlformats.org/drawingml/2006/main">
            <a:off x="8058150" y="4362450"/>
            <a:ext cx="3219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unresolved_gaps · decision_summary · stop_reason</a:t>
            </a:r>
          </a:p>
        </p:txBody>
      </p:sp>
      <p:sp>
        <p:nvSpPr>
          <p:cNvPr id="27" name="">
            <a:extLst xmlns:a="http://schemas.openxmlformats.org/drawingml/2006/main">
              <a:ext uri="{FF2B5EF4-FFF2-40B4-BE49-F238E27FC236}">
                <a16:creationId xmlns:a16="http://schemas.microsoft.com/office/drawing/2014/main" id="{8CCFBA9D-E845-4096-8A64-50ABE5F543E2}"/>
              </a:ext>
            </a:extLst>
          </p:cNvPr>
          <p:cNvSpPr>
            <a:spLocks xmlns:a="http://schemas.openxmlformats.org/drawingml/2006/main" noGrp="1"/>
          </p:cNvSpPr>
          <p:nvPr/>
        </p:nvSpPr>
        <p:spPr>
          <a:xfrm xmlns:a="http://schemas.openxmlformats.org/drawingml/2006/main">
            <a:off x="8058150" y="52197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Safety boundary</a:t>
            </a:r>
          </a:p>
        </p:txBody>
      </p:sp>
      <p:sp>
        <p:nvSpPr>
          <p:cNvPr id="28" name="">
            <a:extLst xmlns:a="http://schemas.openxmlformats.org/drawingml/2006/main">
              <a:ext uri="{FF2B5EF4-FFF2-40B4-BE49-F238E27FC236}">
                <a16:creationId xmlns:a16="http://schemas.microsoft.com/office/drawing/2014/main" id="{39331661-057B-4E4F-ADFA-092A9D6DBAA1}"/>
              </a:ext>
            </a:extLst>
          </p:cNvPr>
          <p:cNvSpPr>
            <a:spLocks xmlns:a="http://schemas.openxmlformats.org/drawingml/2006/main" noGrp="1"/>
          </p:cNvSpPr>
          <p:nvPr/>
        </p:nvSpPr>
        <p:spPr>
          <a:xfrm xmlns:a="http://schemas.openxmlformats.org/drawingml/2006/main">
            <a:off x="8058150" y="5562600"/>
            <a:ext cx="321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97"/>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The graph enforces max_adaptive_steps even if the model keeps searching.</a:t>
            </a:r>
          </a:p>
        </p:txBody>
      </p:sp>
    </p:spTree>
    <p:extLst>
      <p:ext uri="{BB962C8B-B14F-4D97-AF65-F5344CB8AC3E}">
        <p14:creationId xmlns:p14="http://schemas.microsoft.com/office/powerpoint/2010/main" val="20622372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AC41CA7-BFEA-4BE1-AFC3-FB5BCE62D790}"/>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RESEARCH FLOW · GLOBAL REPLAN</a:t>
            </a:r>
          </a:p>
        </p:txBody>
      </p:sp>
      <p:sp>
        <p:nvSpPr>
          <p:cNvPr id="2" name="">
            <a:extLst xmlns:a="http://schemas.openxmlformats.org/drawingml/2006/main">
              <a:ext uri="{FF2B5EF4-FFF2-40B4-BE49-F238E27FC236}">
                <a16:creationId xmlns:a16="http://schemas.microsoft.com/office/drawing/2014/main" id="{1C12C561-54BD-40F1-8EB9-EE53F7C062DD}"/>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Replan creates only the work needed to close audited gaps</a:t>
            </a:r>
          </a:p>
        </p:txBody>
      </p:sp>
      <p:sp>
        <p:nvSpPr>
          <p:cNvPr id="3" name="">
            <a:extLst xmlns:a="http://schemas.openxmlformats.org/drawingml/2006/main">
              <a:ext uri="{FF2B5EF4-FFF2-40B4-BE49-F238E27FC236}">
                <a16:creationId xmlns:a16="http://schemas.microsoft.com/office/drawing/2014/main" id="{3D6D8AED-57A8-42C1-8E4C-0B835174C832}"/>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14862DB0-0075-452B-940F-1741CAC3E267}"/>
              </a:ext>
            </a:extLst>
          </p:cNvPr>
          <p:cNvSpPr>
            <a:spLocks xmlns:a="http://schemas.openxmlformats.org/drawingml/2006/main" noGrp="1"/>
          </p:cNvSpPr>
          <p:nvPr/>
        </p:nvSpPr>
        <p:spPr>
          <a:xfrm xmlns:a="http://schemas.openxmlformats.org/drawingml/2006/main">
            <a:off x="457200" y="15621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INPUT: AN AUDIT HANDOFF</a:t>
            </a:r>
          </a:p>
        </p:txBody>
      </p:sp>
      <p:sp>
        <p:nvSpPr>
          <p:cNvPr id="5" name="">
            <a:extLst xmlns:a="http://schemas.openxmlformats.org/drawingml/2006/main">
              <a:ext uri="{FF2B5EF4-FFF2-40B4-BE49-F238E27FC236}">
                <a16:creationId xmlns:a16="http://schemas.microsoft.com/office/drawing/2014/main" id="{B93E8FE5-8881-4F23-84C7-668BA7C05D1D}"/>
              </a:ext>
            </a:extLst>
          </p:cNvPr>
          <p:cNvSpPr>
            <a:spLocks xmlns:a="http://schemas.openxmlformats.org/drawingml/2006/main" noGrp="1"/>
          </p:cNvSpPr>
          <p:nvPr/>
        </p:nvSpPr>
        <p:spPr>
          <a:xfrm xmlns:a="http://schemas.openxmlformats.org/drawingml/2006/main">
            <a:off x="457200" y="20002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23"/>
          </a:bodyPr>
          <a:lstStyle xmlns:a="http://schemas.openxmlformats.org/drawingml/2006/main"/>
          <a:p xmlns:a="http://schemas.openxmlformats.org/drawingml/2006/main">
            <a:pPr algn="l">
              <a:buNone/>
              <a:defRPr sz="2025" b="1">
                <a:solidFill>
                  <a:srgbClr val="111111"/>
                </a:solidFill>
                <a:latin typeface="Arial"/>
                <a:ea typeface="Arial"/>
                <a:cs typeface="Arial"/>
              </a:defRPr>
            </a:pPr>
            <a:r>
              <a:rPr sz="2025" b="1">
                <a:solidFill>
                  <a:srgbClr val="111111"/>
                </a:solidFill>
                <a:latin typeface="Arial"/>
                <a:ea typeface="Arial"/>
                <a:cs typeface="Arial"/>
              </a:rPr>
              <a:t>The Planner does not restart from the original question</a:t>
            </a:r>
          </a:p>
        </p:txBody>
      </p:sp>
      <p:sp>
        <p:nvSpPr>
          <p:cNvPr id="6" name="">
            <a:extLst xmlns:a="http://schemas.openxmlformats.org/drawingml/2006/main">
              <a:ext uri="{FF2B5EF4-FFF2-40B4-BE49-F238E27FC236}">
                <a16:creationId xmlns:a16="http://schemas.microsoft.com/office/drawing/2014/main" id="{806D88F4-20B1-4927-9E95-575085B08A0D}"/>
              </a:ext>
            </a:extLst>
          </p:cNvPr>
          <p:cNvSpPr>
            <a:spLocks xmlns:a="http://schemas.openxmlformats.org/drawingml/2006/main" noGrp="1"/>
          </p:cNvSpPr>
          <p:nvPr/>
        </p:nvSpPr>
        <p:spPr>
          <a:xfrm xmlns:a="http://schemas.openxmlformats.org/drawingml/2006/main">
            <a:off x="457200" y="2895600"/>
            <a:ext cx="5143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Receives actionable_gaps with priority, dimension, related evidence IDs, and missing evidence</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Reads the current ResearchStateDigest: completed tasks, claims, sources, and unresolved gaps</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Retains the original CoverageContract</a:t>
            </a:r>
          </a:p>
        </p:txBody>
      </p:sp>
      <p:sp>
        <p:nvSpPr>
          <p:cNvPr id="7" name="">
            <a:extLst xmlns:a="http://schemas.openxmlformats.org/drawingml/2006/main">
              <a:ext uri="{FF2B5EF4-FFF2-40B4-BE49-F238E27FC236}">
                <a16:creationId xmlns:a16="http://schemas.microsoft.com/office/drawing/2014/main" id="{FC596096-D601-4761-8671-2E8B00BACFC2}"/>
              </a:ext>
            </a:extLst>
          </p:cNvPr>
          <p:cNvSpPr>
            <a:spLocks xmlns:a="http://schemas.openxmlformats.org/drawingml/2006/main" noGrp="1"/>
          </p:cNvSpPr>
          <p:nvPr/>
        </p:nvSpPr>
        <p:spPr>
          <a:xfrm xmlns:a="http://schemas.openxmlformats.org/drawingml/2006/main">
            <a:off x="5943600" y="1562100"/>
            <a:ext cx="19050" cy="39052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8" name="">
            <a:extLst xmlns:a="http://schemas.openxmlformats.org/drawingml/2006/main">
              <a:ext uri="{FF2B5EF4-FFF2-40B4-BE49-F238E27FC236}">
                <a16:creationId xmlns:a16="http://schemas.microsoft.com/office/drawing/2014/main" id="{38A72F1B-13CF-4C6E-B530-988645BFE7C3}"/>
              </a:ext>
            </a:extLst>
          </p:cNvPr>
          <p:cNvSpPr>
            <a:spLocks xmlns:a="http://schemas.openxmlformats.org/drawingml/2006/main" noGrp="1"/>
          </p:cNvSpPr>
          <p:nvPr/>
        </p:nvSpPr>
        <p:spPr>
          <a:xfrm xmlns:a="http://schemas.openxmlformats.org/drawingml/2006/main">
            <a:off x="6419850" y="156210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OUTPUT: A BOUNDED PLAN REVISION</a:t>
            </a:r>
          </a:p>
        </p:txBody>
      </p:sp>
      <p:sp>
        <p:nvSpPr>
          <p:cNvPr id="9" name="">
            <a:extLst xmlns:a="http://schemas.openxmlformats.org/drawingml/2006/main">
              <a:ext uri="{FF2B5EF4-FFF2-40B4-BE49-F238E27FC236}">
                <a16:creationId xmlns:a16="http://schemas.microsoft.com/office/drawing/2014/main" id="{4DC65DB0-383D-455B-88E8-952D81716DA1}"/>
              </a:ext>
            </a:extLst>
          </p:cNvPr>
          <p:cNvSpPr>
            <a:spLocks xmlns:a="http://schemas.openxmlformats.org/drawingml/2006/main" noGrp="1"/>
          </p:cNvSpPr>
          <p:nvPr/>
        </p:nvSpPr>
        <p:spPr>
          <a:xfrm xmlns:a="http://schemas.openxmlformats.org/drawingml/2006/main">
            <a:off x="6419850" y="20002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11111"/>
                </a:solidFill>
                <a:latin typeface="Arial"/>
                <a:ea typeface="Arial"/>
                <a:cs typeface="Arial"/>
              </a:defRPr>
            </a:pPr>
            <a:r>
              <a:rPr sz="2025" b="1">
                <a:solidFill>
                  <a:srgbClr val="111111"/>
                </a:solidFill>
                <a:latin typeface="Arial"/>
                <a:ea typeface="Arial"/>
                <a:cs typeface="Arial"/>
              </a:rPr>
              <a:t>ReplanDecision</a:t>
            </a:r>
          </a:p>
        </p:txBody>
      </p:sp>
      <p:sp>
        <p:nvSpPr>
          <p:cNvPr id="10" name="">
            <a:extLst xmlns:a="http://schemas.openxmlformats.org/drawingml/2006/main">
              <a:ext uri="{FF2B5EF4-FFF2-40B4-BE49-F238E27FC236}">
                <a16:creationId xmlns:a16="http://schemas.microsoft.com/office/drawing/2014/main" id="{158FB7CD-4F87-4333-9854-87BAABEDEC0D}"/>
              </a:ext>
            </a:extLst>
          </p:cNvPr>
          <p:cNvSpPr>
            <a:spLocks xmlns:a="http://schemas.openxmlformats.org/drawingml/2006/main" noGrp="1"/>
          </p:cNvSpPr>
          <p:nvPr/>
        </p:nvSpPr>
        <p:spPr>
          <a:xfrm xmlns:a="http://schemas.openxmlformats.org/drawingml/2006/main">
            <a:off x="6419850" y="2686050"/>
            <a:ext cx="48577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should_continue + rationale</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Up to four new gap-closing ResearchTasks</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retired_task_ids for work that no longer adds value</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unresolved_gaps that remain after the decision</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Validation rule: continue requires at least one new task; stop cannot include new tasks.</a:t>
            </a:r>
          </a:p>
        </p:txBody>
      </p:sp>
      <p:sp>
        <p:nvSpPr>
          <p:cNvPr id="11" name="">
            <a:extLst xmlns:a="http://schemas.openxmlformats.org/drawingml/2006/main">
              <a:ext uri="{FF2B5EF4-FFF2-40B4-BE49-F238E27FC236}">
                <a16:creationId xmlns:a16="http://schemas.microsoft.com/office/drawing/2014/main" id="{051ED43B-CDC9-4BED-A44C-0144D66DEA55}"/>
              </a:ext>
            </a:extLst>
          </p:cNvPr>
          <p:cNvSpPr>
            <a:spLocks xmlns:a="http://schemas.openxmlformats.org/drawingml/2006/main" noGrp="1"/>
          </p:cNvSpPr>
          <p:nvPr/>
        </p:nvSpPr>
        <p:spPr>
          <a:xfrm xmlns:a="http://schemas.openxmlformats.org/drawingml/2006/main">
            <a:off x="6419850" y="52197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Persisted after replan</a:t>
            </a:r>
          </a:p>
        </p:txBody>
      </p:sp>
      <p:sp>
        <p:nvSpPr>
          <p:cNvPr id="12" name="">
            <a:extLst xmlns:a="http://schemas.openxmlformats.org/drawingml/2006/main">
              <a:ext uri="{FF2B5EF4-FFF2-40B4-BE49-F238E27FC236}">
                <a16:creationId xmlns:a16="http://schemas.microsoft.com/office/drawing/2014/main" id="{2E7CCA03-02F5-498A-9A6C-AAF32CB2DDDE}"/>
              </a:ext>
            </a:extLst>
          </p:cNvPr>
          <p:cNvSpPr>
            <a:spLocks xmlns:a="http://schemas.openxmlformats.org/drawingml/2006/main" noGrp="1"/>
          </p:cNvSpPr>
          <p:nvPr/>
        </p:nvSpPr>
        <p:spPr>
          <a:xfrm xmlns:a="http://schemas.openxmlformats.org/drawingml/2006/main">
            <a:off x="6419850" y="5543550"/>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new tasks · retired statuses · follow_up_round</a:t>
            </a:r>
          </a:p>
        </p:txBody>
      </p:sp>
      <p:sp>
        <p:nvSpPr>
          <p:cNvPr id="13" name="">
            <a:extLst xmlns:a="http://schemas.openxmlformats.org/drawingml/2006/main">
              <a:ext uri="{FF2B5EF4-FFF2-40B4-BE49-F238E27FC236}">
                <a16:creationId xmlns:a16="http://schemas.microsoft.com/office/drawing/2014/main" id="{777D4DA4-8E5E-4330-B4CC-0EAE686F84CE}"/>
              </a:ext>
            </a:extLst>
          </p:cNvPr>
          <p:cNvSpPr>
            <a:spLocks xmlns:a="http://schemas.openxmlformats.org/drawingml/2006/main" noGrp="1"/>
          </p:cNvSpPr>
          <p:nvPr/>
        </p:nvSpPr>
        <p:spPr>
          <a:xfrm xmlns:a="http://schemas.openxmlformats.org/drawingml/2006/main">
            <a:off x="457200" y="598170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ctr">
              <a:buNone/>
              <a:defRPr sz="1575" b="1">
                <a:solidFill>
                  <a:srgbClr val="111111"/>
                </a:solidFill>
                <a:latin typeface="Arial"/>
                <a:ea typeface="Arial"/>
                <a:cs typeface="Arial"/>
              </a:defRPr>
            </a:pPr>
            <a:r>
              <a:rPr sz="1575" b="1">
                <a:solidFill>
                  <a:srgbClr val="111111"/>
                </a:solidFill>
                <a:latin typeface="Arial"/>
                <a:ea typeface="Arial"/>
                <a:cs typeface="Arial"/>
              </a:rPr>
              <a:t>Replan changes the decomposition—not merely the wording of another query.</a:t>
            </a:r>
          </a:p>
        </p:txBody>
      </p:sp>
    </p:spTree>
    <p:extLst>
      <p:ext uri="{BB962C8B-B14F-4D97-AF65-F5344CB8AC3E}">
        <p14:creationId xmlns:p14="http://schemas.microsoft.com/office/powerpoint/2010/main" val="19927615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72D85DE-91A2-4E73-A125-EC3896F14C1E}"/>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RESEARCH FLOW · LAYERED AUDITOR</a:t>
            </a:r>
          </a:p>
        </p:txBody>
      </p:sp>
      <p:sp>
        <p:nvSpPr>
          <p:cNvPr id="2" name="">
            <a:extLst xmlns:a="http://schemas.openxmlformats.org/drawingml/2006/main">
              <a:ext uri="{FF2B5EF4-FFF2-40B4-BE49-F238E27FC236}">
                <a16:creationId xmlns:a16="http://schemas.microsoft.com/office/drawing/2014/main" id="{18039D42-D2ED-4F61-9997-6C1693B86E3C}"/>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Audit scales from one judgment to coordinated checks</a:t>
            </a:r>
          </a:p>
        </p:txBody>
      </p:sp>
      <p:sp>
        <p:nvSpPr>
          <p:cNvPr id="3" name="">
            <a:extLst xmlns:a="http://schemas.openxmlformats.org/drawingml/2006/main">
              <a:ext uri="{FF2B5EF4-FFF2-40B4-BE49-F238E27FC236}">
                <a16:creationId xmlns:a16="http://schemas.microsoft.com/office/drawing/2014/main" id="{5C3D950D-5F48-452F-B7CA-FBA88636C1B8}"/>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99A0D20D-FCEF-4A3B-81F5-84E60AA136AD}"/>
              </a:ext>
            </a:extLst>
          </p:cNvPr>
          <p:cNvSpPr>
            <a:spLocks xmlns:a="http://schemas.openxmlformats.org/drawingml/2006/main" noGrp="1"/>
          </p:cNvSpPr>
          <p:nvPr/>
        </p:nvSpPr>
        <p:spPr>
          <a:xfrm xmlns:a="http://schemas.openxmlformats.org/drawingml/2006/main">
            <a:off x="457200" y="158115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buNone/>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7571F4FE-4FD2-46EA-9C67-FD692E2B0628}"/>
              </a:ext>
            </a:extLst>
          </p:cNvPr>
          <p:cNvSpPr>
            <a:spLocks xmlns:a="http://schemas.openxmlformats.org/drawingml/2006/main" noGrp="1"/>
          </p:cNvSpPr>
          <p:nvPr/>
        </p:nvSpPr>
        <p:spPr>
          <a:xfrm xmlns:a="http://schemas.openxmlformats.org/drawingml/2006/main">
            <a:off x="1104900" y="15621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Coordinator chooses audit mode</a:t>
            </a:r>
          </a:p>
        </p:txBody>
      </p:sp>
      <p:sp>
        <p:nvSpPr>
          <p:cNvPr id="6" name="">
            <a:extLst xmlns:a="http://schemas.openxmlformats.org/drawingml/2006/main">
              <a:ext uri="{FF2B5EF4-FFF2-40B4-BE49-F238E27FC236}">
                <a16:creationId xmlns:a16="http://schemas.microsoft.com/office/drawing/2014/main" id="{4571455F-4F31-4443-94E6-5F831F81C55B}"/>
              </a:ext>
            </a:extLst>
          </p:cNvPr>
          <p:cNvSpPr>
            <a:spLocks xmlns:a="http://schemas.openxmlformats.org/drawingml/2006/main" noGrp="1"/>
          </p:cNvSpPr>
          <p:nvPr/>
        </p:nvSpPr>
        <p:spPr>
          <a:xfrm xmlns:a="http://schemas.openxmlformats.org/drawingml/2006/main">
            <a:off x="4762500" y="1581150"/>
            <a:ext cx="6515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Estimate the full evidence context. Use one audit when it fits; otherwise partition checks by coverage dimensions and tasks.</a:t>
            </a:r>
          </a:p>
        </p:txBody>
      </p:sp>
      <p:sp>
        <p:nvSpPr>
          <p:cNvPr id="7" name="">
            <a:extLst xmlns:a="http://schemas.openxmlformats.org/drawingml/2006/main">
              <a:ext uri="{FF2B5EF4-FFF2-40B4-BE49-F238E27FC236}">
                <a16:creationId xmlns:a16="http://schemas.microsoft.com/office/drawing/2014/main" id="{7102BCED-3306-4CE1-83B6-8063E78F6A64}"/>
              </a:ext>
            </a:extLst>
          </p:cNvPr>
          <p:cNvSpPr>
            <a:spLocks xmlns:a="http://schemas.openxmlformats.org/drawingml/2006/main" noGrp="1"/>
          </p:cNvSpPr>
          <p:nvPr/>
        </p:nvSpPr>
        <p:spPr>
          <a:xfrm xmlns:a="http://schemas.openxmlformats.org/drawingml/2006/main">
            <a:off x="457200" y="264795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buNone/>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8706822-CC41-4BA4-BDE8-9930CA527818}"/>
              </a:ext>
            </a:extLst>
          </p:cNvPr>
          <p:cNvSpPr>
            <a:spLocks xmlns:a="http://schemas.openxmlformats.org/drawingml/2006/main" noGrp="1"/>
          </p:cNvSpPr>
          <p:nvPr/>
        </p:nvSpPr>
        <p:spPr>
          <a:xfrm xmlns:a="http://schemas.openxmlformats.org/drawingml/2006/main">
            <a:off x="1104900" y="26289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Evidence is selected per check</a:t>
            </a:r>
          </a:p>
        </p:txBody>
      </p:sp>
      <p:sp>
        <p:nvSpPr>
          <p:cNvPr id="9" name="">
            <a:extLst xmlns:a="http://schemas.openxmlformats.org/drawingml/2006/main">
              <a:ext uri="{FF2B5EF4-FFF2-40B4-BE49-F238E27FC236}">
                <a16:creationId xmlns:a16="http://schemas.microsoft.com/office/drawing/2014/main" id="{58FE402D-6459-4998-9EFB-361F2AA0823E}"/>
              </a:ext>
            </a:extLst>
          </p:cNvPr>
          <p:cNvSpPr>
            <a:spLocks xmlns:a="http://schemas.openxmlformats.org/drawingml/2006/main" noGrp="1"/>
          </p:cNvSpPr>
          <p:nvPr/>
        </p:nvSpPr>
        <p:spPr>
          <a:xfrm xmlns:a="http://schemas.openxmlformats.org/drawingml/2006/main">
            <a:off x="4762500" y="2647950"/>
            <a:ext cx="6515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Each AuditCheck receives relevant evidence IDs under a token budget instead of the complete corpus.</a:t>
            </a:r>
          </a:p>
        </p:txBody>
      </p:sp>
      <p:sp>
        <p:nvSpPr>
          <p:cNvPr id="10" name="">
            <a:extLst xmlns:a="http://schemas.openxmlformats.org/drawingml/2006/main">
              <a:ext uri="{FF2B5EF4-FFF2-40B4-BE49-F238E27FC236}">
                <a16:creationId xmlns:a16="http://schemas.microsoft.com/office/drawing/2014/main" id="{BCDCCB8A-1EB5-498D-86E3-1F74844EB769}"/>
              </a:ext>
            </a:extLst>
          </p:cNvPr>
          <p:cNvSpPr>
            <a:spLocks xmlns:a="http://schemas.openxmlformats.org/drawingml/2006/main" noGrp="1"/>
          </p:cNvSpPr>
          <p:nvPr/>
        </p:nvSpPr>
        <p:spPr>
          <a:xfrm xmlns:a="http://schemas.openxmlformats.org/drawingml/2006/main">
            <a:off x="457200" y="371475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buNone/>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04880BB-C4D5-4BDC-959E-67ED7018D024}"/>
              </a:ext>
            </a:extLst>
          </p:cNvPr>
          <p:cNvSpPr>
            <a:spLocks xmlns:a="http://schemas.openxmlformats.org/drawingml/2006/main" noGrp="1"/>
          </p:cNvSpPr>
          <p:nvPr/>
        </p:nvSpPr>
        <p:spPr>
          <a:xfrm xmlns:a="http://schemas.openxmlformats.org/drawingml/2006/main">
            <a:off x="1104900" y="36957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267"/>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Specialists make semantic judgments</a:t>
            </a:r>
          </a:p>
        </p:txBody>
      </p:sp>
      <p:sp>
        <p:nvSpPr>
          <p:cNvPr id="12" name="">
            <a:extLst xmlns:a="http://schemas.openxmlformats.org/drawingml/2006/main">
              <a:ext uri="{FF2B5EF4-FFF2-40B4-BE49-F238E27FC236}">
                <a16:creationId xmlns:a16="http://schemas.microsoft.com/office/drawing/2014/main" id="{FA69FAF9-ED5E-46D3-936D-31F13885ADDB}"/>
              </a:ext>
            </a:extLst>
          </p:cNvPr>
          <p:cNvSpPr>
            <a:spLocks xmlns:a="http://schemas.openxmlformats.org/drawingml/2006/main" noGrp="1"/>
          </p:cNvSpPr>
          <p:nvPr/>
        </p:nvSpPr>
        <p:spPr>
          <a:xfrm xmlns:a="http://schemas.openxmlformats.org/drawingml/2006/main">
            <a:off x="4762500" y="3714750"/>
            <a:ext cx="6515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Return atomic claims, support and contradiction IDs, confidence, gaps, missing evidence, and suggested queries.</a:t>
            </a:r>
          </a:p>
        </p:txBody>
      </p:sp>
      <p:sp>
        <p:nvSpPr>
          <p:cNvPr id="13" name="">
            <a:extLst xmlns:a="http://schemas.openxmlformats.org/drawingml/2006/main">
              <a:ext uri="{FF2B5EF4-FFF2-40B4-BE49-F238E27FC236}">
                <a16:creationId xmlns:a16="http://schemas.microsoft.com/office/drawing/2014/main" id="{6D0E2ED0-18FC-47D7-8D6C-D32FD3346A7F}"/>
              </a:ext>
            </a:extLst>
          </p:cNvPr>
          <p:cNvSpPr>
            <a:spLocks xmlns:a="http://schemas.openxmlformats.org/drawingml/2006/main" noGrp="1"/>
          </p:cNvSpPr>
          <p:nvPr/>
        </p:nvSpPr>
        <p:spPr>
          <a:xfrm xmlns:a="http://schemas.openxmlformats.org/drawingml/2006/main">
            <a:off x="457200" y="478155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buNone/>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BA7EDBAB-64ED-49CF-864D-0549F6865FE4}"/>
              </a:ext>
            </a:extLst>
          </p:cNvPr>
          <p:cNvSpPr>
            <a:spLocks xmlns:a="http://schemas.openxmlformats.org/drawingml/2006/main" noGrp="1"/>
          </p:cNvSpPr>
          <p:nvPr/>
        </p:nvSpPr>
        <p:spPr>
          <a:xfrm xmlns:a="http://schemas.openxmlformats.org/drawingml/2006/main">
            <a:off x="1104900" y="47625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702"/>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Results are merged and normalized</a:t>
            </a:r>
          </a:p>
        </p:txBody>
      </p:sp>
      <p:sp>
        <p:nvSpPr>
          <p:cNvPr id="15" name="">
            <a:extLst xmlns:a="http://schemas.openxmlformats.org/drawingml/2006/main">
              <a:ext uri="{FF2B5EF4-FFF2-40B4-BE49-F238E27FC236}">
                <a16:creationId xmlns:a16="http://schemas.microsoft.com/office/drawing/2014/main" id="{11DDDDB6-2F8E-4861-ADE6-BEBC0CC7C8A3}"/>
              </a:ext>
            </a:extLst>
          </p:cNvPr>
          <p:cNvSpPr>
            <a:spLocks xmlns:a="http://schemas.openxmlformats.org/drawingml/2006/main" noGrp="1"/>
          </p:cNvSpPr>
          <p:nvPr/>
        </p:nvSpPr>
        <p:spPr>
          <a:xfrm xmlns:a="http://schemas.openxmlformats.org/drawingml/2006/main">
            <a:off x="4762500" y="4781550"/>
            <a:ext cx="6515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Aggregate partial audits, validate referenced evidence IDs, preserve conflicts, and cap the handoff to actionable gaps.</a:t>
            </a:r>
          </a:p>
        </p:txBody>
      </p:sp>
      <p:sp>
        <p:nvSpPr>
          <p:cNvPr id="16" name="">
            <a:extLst xmlns:a="http://schemas.openxmlformats.org/drawingml/2006/main">
              <a:ext uri="{FF2B5EF4-FFF2-40B4-BE49-F238E27FC236}">
                <a16:creationId xmlns:a16="http://schemas.microsoft.com/office/drawing/2014/main" id="{68FDC326-A926-4A14-994E-A5CD08DEF067}"/>
              </a:ext>
            </a:extLst>
          </p:cNvPr>
          <p:cNvSpPr>
            <a:spLocks xmlns:a="http://schemas.openxmlformats.org/drawingml/2006/main" noGrp="1"/>
          </p:cNvSpPr>
          <p:nvPr/>
        </p:nvSpPr>
        <p:spPr>
          <a:xfrm xmlns:a="http://schemas.openxmlformats.org/drawingml/2006/main">
            <a:off x="457200" y="5810250"/>
            <a:ext cx="108204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7" name="">
            <a:extLst xmlns:a="http://schemas.openxmlformats.org/drawingml/2006/main">
              <a:ext uri="{FF2B5EF4-FFF2-40B4-BE49-F238E27FC236}">
                <a16:creationId xmlns:a16="http://schemas.microsoft.com/office/drawing/2014/main" id="{4B483D7F-8328-470B-AD3B-B20BC73887E6}"/>
              </a:ext>
            </a:extLst>
          </p:cNvPr>
          <p:cNvSpPr>
            <a:spLocks xmlns:a="http://schemas.openxmlformats.org/drawingml/2006/main" noGrp="1"/>
          </p:cNvSpPr>
          <p:nvPr/>
        </p:nvSpPr>
        <p:spPr>
          <a:xfrm xmlns:a="http://schemas.openxmlformats.org/drawingml/2006/main">
            <a:off x="457200" y="5962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500" b="1">
                <a:solidFill>
                  <a:srgbClr val="111111"/>
                </a:solidFill>
                <a:latin typeface="Arial"/>
                <a:ea typeface="Arial"/>
                <a:cs typeface="Arial"/>
              </a:defRPr>
            </a:pPr>
            <a:r>
              <a:rPr sz="1500" b="1">
                <a:solidFill>
                  <a:srgbClr val="111111"/>
                </a:solidFill>
                <a:latin typeface="Arial"/>
                <a:ea typeface="Arial"/>
                <a:cs typeface="Arial"/>
              </a:rPr>
              <a:t>Contracts persisted: AuditPlan → AuditCheck[] → partial AuditResult[] → final AuditResult</a:t>
            </a:r>
          </a:p>
        </p:txBody>
      </p:sp>
    </p:spTree>
    <p:extLst>
      <p:ext uri="{BB962C8B-B14F-4D97-AF65-F5344CB8AC3E}">
        <p14:creationId xmlns:p14="http://schemas.microsoft.com/office/powerpoint/2010/main" val="10452353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7E557F6-94FE-40CC-B5C8-5EC5073528A2}"/>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RESEARCH FLOW · FINAL DECISION</a:t>
            </a:r>
          </a:p>
        </p:txBody>
      </p:sp>
      <p:sp>
        <p:nvSpPr>
          <p:cNvPr id="2" name="">
            <a:extLst xmlns:a="http://schemas.openxmlformats.org/drawingml/2006/main">
              <a:ext uri="{FF2B5EF4-FFF2-40B4-BE49-F238E27FC236}">
                <a16:creationId xmlns:a16="http://schemas.microsoft.com/office/drawing/2014/main" id="{BC177FA6-0181-4C30-A69E-083B3361EAA9}"/>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Satisfied is a contract—not an LLM opinion</a:t>
            </a:r>
          </a:p>
        </p:txBody>
      </p:sp>
      <p:sp>
        <p:nvSpPr>
          <p:cNvPr id="3" name="">
            <a:extLst xmlns:a="http://schemas.openxmlformats.org/drawingml/2006/main">
              <a:ext uri="{FF2B5EF4-FFF2-40B4-BE49-F238E27FC236}">
                <a16:creationId xmlns:a16="http://schemas.microsoft.com/office/drawing/2014/main" id="{9DB4245D-5598-4883-A569-317A5D89AAD3}"/>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34A0B109-C291-4C4B-B5A1-A3826B754ECA}"/>
              </a:ext>
            </a:extLst>
          </p:cNvPr>
          <p:cNvSpPr>
            <a:spLocks xmlns:a="http://schemas.openxmlformats.org/drawingml/2006/main" noGrp="1"/>
          </p:cNvSpPr>
          <p:nvPr/>
        </p:nvSpPr>
        <p:spPr>
          <a:xfrm xmlns:a="http://schemas.openxmlformats.org/drawingml/2006/main">
            <a:off x="457200" y="15621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SEMANTIC JUDGMENT</a:t>
            </a:r>
          </a:p>
        </p:txBody>
      </p:sp>
      <p:sp>
        <p:nvSpPr>
          <p:cNvPr id="5" name="">
            <a:extLst xmlns:a="http://schemas.openxmlformats.org/drawingml/2006/main">
              <a:ext uri="{FF2B5EF4-FFF2-40B4-BE49-F238E27FC236}">
                <a16:creationId xmlns:a16="http://schemas.microsoft.com/office/drawing/2014/main" id="{06E4A984-60E6-435B-82B8-178875FCFEAB}"/>
              </a:ext>
            </a:extLst>
          </p:cNvPr>
          <p:cNvSpPr>
            <a:spLocks xmlns:a="http://schemas.openxmlformats.org/drawingml/2006/main" noGrp="1"/>
          </p:cNvSpPr>
          <p:nvPr/>
        </p:nvSpPr>
        <p:spPr>
          <a:xfrm xmlns:a="http://schemas.openxmlformats.org/drawingml/2006/main">
            <a:off x="457200" y="2000250"/>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909"/>
          </a:bodyPr>
          <a:lstStyle xmlns:a="http://schemas.openxmlformats.org/drawingml/2006/main"/>
          <a:p xmlns:a="http://schemas.openxmlformats.org/drawingml/2006/main">
            <a:pPr algn="l">
              <a:buNone/>
              <a:defRPr sz="2175" b="1">
                <a:solidFill>
                  <a:srgbClr val="111111"/>
                </a:solidFill>
                <a:latin typeface="Arial"/>
                <a:ea typeface="Arial"/>
                <a:cs typeface="Arial"/>
              </a:defRPr>
            </a:pPr>
            <a:r>
              <a:rPr sz="2175" b="1">
                <a:solidFill>
                  <a:srgbClr val="111111"/>
                </a:solidFill>
                <a:latin typeface="Arial"/>
                <a:ea typeface="Arial"/>
                <a:cs typeface="Arial"/>
              </a:rPr>
              <a:t>Auditor proposes sufficient = true / false</a:t>
            </a:r>
          </a:p>
        </p:txBody>
      </p:sp>
      <p:sp>
        <p:nvSpPr>
          <p:cNvPr id="6" name="">
            <a:extLst xmlns:a="http://schemas.openxmlformats.org/drawingml/2006/main">
              <a:ext uri="{FF2B5EF4-FFF2-40B4-BE49-F238E27FC236}">
                <a16:creationId xmlns:a16="http://schemas.microsoft.com/office/drawing/2014/main" id="{AC346E22-E5D0-45AF-9ACD-1858BF990676}"/>
              </a:ext>
            </a:extLst>
          </p:cNvPr>
          <p:cNvSpPr>
            <a:spLocks xmlns:a="http://schemas.openxmlformats.org/drawingml/2006/main" noGrp="1"/>
          </p:cNvSpPr>
          <p:nvPr/>
        </p:nvSpPr>
        <p:spPr>
          <a:xfrm xmlns:a="http://schemas.openxmlformats.org/drawingml/2006/main">
            <a:off x="457200" y="2895600"/>
            <a:ext cx="4953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The judgment synthesizes claims, contradictions, confidence, source risks, and unresolved gaps.</a:t>
            </a:r>
          </a:p>
        </p:txBody>
      </p:sp>
      <p:sp>
        <p:nvSpPr>
          <p:cNvPr id="7" name="">
            <a:extLst xmlns:a="http://schemas.openxmlformats.org/drawingml/2006/main">
              <a:ext uri="{FF2B5EF4-FFF2-40B4-BE49-F238E27FC236}">
                <a16:creationId xmlns:a16="http://schemas.microsoft.com/office/drawing/2014/main" id="{EB989128-4858-4580-9FEA-0EC075589C37}"/>
              </a:ext>
            </a:extLst>
          </p:cNvPr>
          <p:cNvSpPr>
            <a:spLocks xmlns:a="http://schemas.openxmlformats.org/drawingml/2006/main" noGrp="1"/>
          </p:cNvSpPr>
          <p:nvPr/>
        </p:nvSpPr>
        <p:spPr>
          <a:xfrm xmlns:a="http://schemas.openxmlformats.org/drawingml/2006/main">
            <a:off x="457200" y="4229100"/>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a:solidFill>
                  <a:srgbClr val="B15F00"/>
                </a:solidFill>
                <a:latin typeface="Arial"/>
                <a:ea typeface="Arial"/>
                <a:cs typeface="Arial"/>
              </a:defRPr>
            </a:pPr>
            <a:r>
              <a:rPr sz="1800" b="1">
                <a:solidFill>
                  <a:srgbClr val="B15F00"/>
                </a:solidFill>
                <a:latin typeface="Arial"/>
                <a:ea typeface="Arial"/>
                <a:cs typeface="Arial"/>
              </a:rPr>
              <a:t>But the graph never routes on that opinion alone.</a:t>
            </a:r>
          </a:p>
        </p:txBody>
      </p:sp>
      <p:sp>
        <p:nvSpPr>
          <p:cNvPr id="8" name="">
            <a:extLst xmlns:a="http://schemas.openxmlformats.org/drawingml/2006/main">
              <a:ext uri="{FF2B5EF4-FFF2-40B4-BE49-F238E27FC236}">
                <a16:creationId xmlns:a16="http://schemas.microsoft.com/office/drawing/2014/main" id="{1BC03861-2D08-400F-87FE-E5055CF09A66}"/>
              </a:ext>
            </a:extLst>
          </p:cNvPr>
          <p:cNvSpPr>
            <a:spLocks xmlns:a="http://schemas.openxmlformats.org/drawingml/2006/main" noGrp="1"/>
          </p:cNvSpPr>
          <p:nvPr/>
        </p:nvSpPr>
        <p:spPr>
          <a:xfrm xmlns:a="http://schemas.openxmlformats.org/drawingml/2006/main">
            <a:off x="5810250" y="1562100"/>
            <a:ext cx="19050" cy="39243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9" name="">
            <a:extLst xmlns:a="http://schemas.openxmlformats.org/drawingml/2006/main">
              <a:ext uri="{FF2B5EF4-FFF2-40B4-BE49-F238E27FC236}">
                <a16:creationId xmlns:a16="http://schemas.microsoft.com/office/drawing/2014/main" id="{6F729B49-1972-4776-8B4B-5F58F098D40E}"/>
              </a:ext>
            </a:extLst>
          </p:cNvPr>
          <p:cNvSpPr>
            <a:spLocks xmlns:a="http://schemas.openxmlformats.org/drawingml/2006/main" noGrp="1"/>
          </p:cNvSpPr>
          <p:nvPr/>
        </p:nvSpPr>
        <p:spPr>
          <a:xfrm xmlns:a="http://schemas.openxmlformats.org/drawingml/2006/main">
            <a:off x="6286500" y="1562100"/>
            <a:ext cx="499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DETERMINISTIC GATES</a:t>
            </a:r>
          </a:p>
        </p:txBody>
      </p:sp>
      <p:sp>
        <p:nvSpPr>
          <p:cNvPr id="10" name="">
            <a:extLst xmlns:a="http://schemas.openxmlformats.org/drawingml/2006/main">
              <a:ext uri="{FF2B5EF4-FFF2-40B4-BE49-F238E27FC236}">
                <a16:creationId xmlns:a16="http://schemas.microsoft.com/office/drawing/2014/main" id="{ED5597BC-2526-4D09-BBF3-71AEB5197BA3}"/>
              </a:ext>
            </a:extLst>
          </p:cNvPr>
          <p:cNvSpPr>
            <a:spLocks xmlns:a="http://schemas.openxmlformats.org/drawingml/2006/main" noGrp="1"/>
          </p:cNvSpPr>
          <p:nvPr/>
        </p:nvSpPr>
        <p:spPr>
          <a:xfrm xmlns:a="http://schemas.openxmlformats.org/drawingml/2006/main">
            <a:off x="6286500" y="2057400"/>
            <a:ext cx="4991100" cy="3219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Every required dimension has completed research</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Every required dimension has an audited, evidence-backed conclusion</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High-priority tasks are complete or covered elsewhere</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Planned challenge / counterevidence work is complete</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Core claims have ≥2 independent origins, including an A/B-tier source</a:t>
            </a:r>
          </a:p>
        </p:txBody>
      </p:sp>
      <p:sp>
        <p:nvSpPr>
          <p:cNvPr id="11" name="">
            <a:extLst xmlns:a="http://schemas.openxmlformats.org/drawingml/2006/main">
              <a:ext uri="{FF2B5EF4-FFF2-40B4-BE49-F238E27FC236}">
                <a16:creationId xmlns:a16="http://schemas.microsoft.com/office/drawing/2014/main" id="{FAD18099-D65D-4055-BC90-31DA8473FE7E}"/>
              </a:ext>
            </a:extLst>
          </p:cNvPr>
          <p:cNvSpPr>
            <a:spLocks xmlns:a="http://schemas.openxmlformats.org/drawingml/2006/main" noGrp="1"/>
          </p:cNvSpPr>
          <p:nvPr/>
        </p:nvSpPr>
        <p:spPr>
          <a:xfrm xmlns:a="http://schemas.openxmlformats.org/drawingml/2006/main">
            <a:off x="457200" y="5638800"/>
            <a:ext cx="10820400" cy="609600"/>
          </a:xfrm>
          <a:prstGeom xmlns:a="http://schemas.openxmlformats.org/drawingml/2006/main" prst="roundRect">
            <a:avLst>
              <a:gd name="adj" fmla="val 9375"/>
            </a:avLst>
          </a:prstGeom>
          <a:solidFill xmlns:a="http://schemas.openxmlformats.org/drawingml/2006/main">
            <a:srgbClr val="E7F4FA"/>
          </a:solidFill>
          <a:ln xmlns:a="http://schemas.openxmlformats.org/drawingml/2006/main" w="0">
            <a:solidFill>
              <a:srgbClr val="E7F4FA"/>
            </a:solidFill>
            <a:prstDash val="solid"/>
          </a:ln>
        </p:spPr>
      </p:sp>
      <p:sp>
        <p:nvSpPr>
          <p:cNvPr id="12" name="">
            <a:extLst xmlns:a="http://schemas.openxmlformats.org/drawingml/2006/main">
              <a:ext uri="{FF2B5EF4-FFF2-40B4-BE49-F238E27FC236}">
                <a16:creationId xmlns:a16="http://schemas.microsoft.com/office/drawing/2014/main" id="{2726DEA0-D55B-4E5A-B827-02AD2C09652C}"/>
              </a:ext>
            </a:extLst>
          </p:cNvPr>
          <p:cNvSpPr>
            <a:spLocks xmlns:a="http://schemas.openxmlformats.org/drawingml/2006/main" noGrp="1"/>
          </p:cNvSpPr>
          <p:nvPr/>
        </p:nvSpPr>
        <p:spPr>
          <a:xfrm xmlns:a="http://schemas.openxmlformats.org/drawingml/2006/main">
            <a:off x="666750" y="5810250"/>
            <a:ext cx="1040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246"/>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PASS → Report    |    FAIL + rounds remain → Replan    |    FAIL + limit reached → Report with explicit gaps</a:t>
            </a:r>
          </a:p>
        </p:txBody>
      </p:sp>
    </p:spTree>
    <p:extLst>
      <p:ext uri="{BB962C8B-B14F-4D97-AF65-F5344CB8AC3E}">
        <p14:creationId xmlns:p14="http://schemas.microsoft.com/office/powerpoint/2010/main" val="7620653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96DC8CE-24D4-45D0-99CC-E735D5E55FD4}"/>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DESIGN HIGHLIGHT · RETRIEVAL COST</a:t>
            </a:r>
          </a:p>
        </p:txBody>
      </p:sp>
      <p:sp>
        <p:nvSpPr>
          <p:cNvPr id="2" name="">
            <a:extLst xmlns:a="http://schemas.openxmlformats.org/drawingml/2006/main">
              <a:ext uri="{FF2B5EF4-FFF2-40B4-BE49-F238E27FC236}">
                <a16:creationId xmlns:a16="http://schemas.microsoft.com/office/drawing/2014/main" id="{B62FA05E-72FB-48E8-BB1C-7678DEFA27D6}"/>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419"/>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Local ranking keeps full-page recall without paying to read everything</a:t>
            </a:r>
          </a:p>
        </p:txBody>
      </p:sp>
      <p:sp>
        <p:nvSpPr>
          <p:cNvPr id="3" name="">
            <a:extLst xmlns:a="http://schemas.openxmlformats.org/drawingml/2006/main">
              <a:ext uri="{FF2B5EF4-FFF2-40B4-BE49-F238E27FC236}">
                <a16:creationId xmlns:a16="http://schemas.microsoft.com/office/drawing/2014/main" id="{FA175E62-14F1-42AC-8ECC-9B7FBEA97B48}"/>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C3E69FD8-D215-4883-B980-DD72AC9B151E}"/>
              </a:ext>
            </a:extLst>
          </p:cNvPr>
          <p:cNvSpPr>
            <a:spLocks xmlns:a="http://schemas.openxmlformats.org/drawingml/2006/main" noGrp="1"/>
          </p:cNvSpPr>
          <p:nvPr/>
        </p:nvSpPr>
        <p:spPr>
          <a:xfrm xmlns:a="http://schemas.openxmlformats.org/drawingml/2006/main">
            <a:off x="457200" y="1581150"/>
            <a:ext cx="10820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a:solidFill>
                  <a:srgbClr val="111111"/>
                </a:solidFill>
                <a:latin typeface="Arial"/>
                <a:ea typeface="Arial"/>
                <a:cs typeface="Arial"/>
              </a:defRPr>
            </a:pPr>
            <a:r>
              <a:rPr sz="1725" b="1">
                <a:solidFill>
                  <a:srgbClr val="111111"/>
                </a:solidFill>
                <a:latin typeface="Arial"/>
                <a:ea typeface="Arial"/>
                <a:cs typeface="Arial"/>
              </a:rPr>
              <a:t>Tavily Search  →  Full-page Extract  →  12k-character Chunks  →  Local BM25  →  Top 3  →  DeepSeek</a:t>
            </a:r>
          </a:p>
        </p:txBody>
      </p:sp>
      <p:sp>
        <p:nvSpPr>
          <p:cNvPr id="5" name="">
            <a:extLst xmlns:a="http://schemas.openxmlformats.org/drawingml/2006/main">
              <a:ext uri="{FF2B5EF4-FFF2-40B4-BE49-F238E27FC236}">
                <a16:creationId xmlns:a16="http://schemas.microsoft.com/office/drawing/2014/main" id="{B13B326B-2446-479E-A1BA-32982B4AAC9E}"/>
              </a:ext>
            </a:extLst>
          </p:cNvPr>
          <p:cNvSpPr>
            <a:spLocks xmlns:a="http://schemas.openxmlformats.org/drawingml/2006/main" noGrp="1"/>
          </p:cNvSpPr>
          <p:nvPr/>
        </p:nvSpPr>
        <p:spPr>
          <a:xfrm xmlns:a="http://schemas.openxmlformats.org/drawingml/2006/main">
            <a:off x="457200" y="2190750"/>
            <a:ext cx="10820400" cy="1905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6" name="">
            <a:extLst xmlns:a="http://schemas.openxmlformats.org/drawingml/2006/main">
              <a:ext uri="{FF2B5EF4-FFF2-40B4-BE49-F238E27FC236}">
                <a16:creationId xmlns:a16="http://schemas.microsoft.com/office/drawing/2014/main" id="{0A6AD7FA-E5B3-4ABB-9F91-492F5C78ABAA}"/>
              </a:ext>
            </a:extLst>
          </p:cNvPr>
          <p:cNvSpPr>
            <a:spLocks xmlns:a="http://schemas.openxmlformats.org/drawingml/2006/main" noGrp="1"/>
          </p:cNvSpPr>
          <p:nvPr/>
        </p:nvSpPr>
        <p:spPr>
          <a:xfrm xmlns:a="http://schemas.openxmlformats.org/drawingml/2006/main">
            <a:off x="457200" y="25717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WHY RANK LOCALLY</a:t>
            </a:r>
          </a:p>
        </p:txBody>
      </p:sp>
      <p:sp>
        <p:nvSpPr>
          <p:cNvPr id="7" name="">
            <a:extLst xmlns:a="http://schemas.openxmlformats.org/drawingml/2006/main">
              <a:ext uri="{FF2B5EF4-FFF2-40B4-BE49-F238E27FC236}">
                <a16:creationId xmlns:a16="http://schemas.microsoft.com/office/drawing/2014/main" id="{CB9A4C1D-F852-4DCA-8059-F10CE998321E}"/>
              </a:ext>
            </a:extLst>
          </p:cNvPr>
          <p:cNvSpPr>
            <a:spLocks xmlns:a="http://schemas.openxmlformats.org/drawingml/2006/main" noGrp="1"/>
          </p:cNvSpPr>
          <p:nvPr/>
        </p:nvSpPr>
        <p:spPr>
          <a:xfrm xmlns:a="http://schemas.openxmlformats.org/drawingml/2006/main">
            <a:off x="457200" y="3009900"/>
            <a:ext cx="4953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Sending every chunk makes cost scale with page length × sources × Workers × rounds</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Ranking is deterministic, dependency-free, and adds no model call</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The complete page remains in research.sqlite; ranking only controls prompt context</a:t>
            </a:r>
          </a:p>
        </p:txBody>
      </p:sp>
      <p:sp>
        <p:nvSpPr>
          <p:cNvPr id="8" name="">
            <a:extLst xmlns:a="http://schemas.openxmlformats.org/drawingml/2006/main">
              <a:ext uri="{FF2B5EF4-FFF2-40B4-BE49-F238E27FC236}">
                <a16:creationId xmlns:a16="http://schemas.microsoft.com/office/drawing/2014/main" id="{3CA43D66-7049-423D-9642-EF14D39002E4}"/>
              </a:ext>
            </a:extLst>
          </p:cNvPr>
          <p:cNvSpPr>
            <a:spLocks xmlns:a="http://schemas.openxmlformats.org/drawingml/2006/main" noGrp="1"/>
          </p:cNvSpPr>
          <p:nvPr/>
        </p:nvSpPr>
        <p:spPr>
          <a:xfrm xmlns:a="http://schemas.openxmlformats.org/drawingml/2006/main">
            <a:off x="5810250" y="2571750"/>
            <a:ext cx="19050" cy="26479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9" name="">
            <a:extLst xmlns:a="http://schemas.openxmlformats.org/drawingml/2006/main">
              <a:ext uri="{FF2B5EF4-FFF2-40B4-BE49-F238E27FC236}">
                <a16:creationId xmlns:a16="http://schemas.microsoft.com/office/drawing/2014/main" id="{586E302A-ADB4-433E-9CD5-32AD425939AD}"/>
              </a:ext>
            </a:extLst>
          </p:cNvPr>
          <p:cNvSpPr>
            <a:spLocks xmlns:a="http://schemas.openxmlformats.org/drawingml/2006/main" noGrp="1"/>
          </p:cNvSpPr>
          <p:nvPr/>
        </p:nvSpPr>
        <p:spPr>
          <a:xfrm xmlns:a="http://schemas.openxmlformats.org/drawingml/2006/main">
            <a:off x="6286500" y="2571750"/>
            <a:ext cx="499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TASK-AWARE BM25-STYLE SCORE</a:t>
            </a:r>
          </a:p>
        </p:txBody>
      </p:sp>
      <p:sp>
        <p:nvSpPr>
          <p:cNvPr id="10" name="">
            <a:extLst xmlns:a="http://schemas.openxmlformats.org/drawingml/2006/main">
              <a:ext uri="{FF2B5EF4-FFF2-40B4-BE49-F238E27FC236}">
                <a16:creationId xmlns:a16="http://schemas.microsoft.com/office/drawing/2014/main" id="{7489DEFD-79DF-4D4E-84B2-6C2ACC44F56D}"/>
              </a:ext>
            </a:extLst>
          </p:cNvPr>
          <p:cNvSpPr>
            <a:spLocks xmlns:a="http://schemas.openxmlformats.org/drawingml/2006/main" noGrp="1"/>
          </p:cNvSpPr>
          <p:nvPr/>
        </p:nvSpPr>
        <p:spPr>
          <a:xfrm xmlns:a="http://schemas.openxmlformats.org/drawingml/2006/main">
            <a:off x="6286500" y="3067050"/>
            <a:ext cx="4991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111111"/>
                </a:solidFill>
                <a:latin typeface="Arial"/>
                <a:ea typeface="Arial"/>
                <a:cs typeface="Arial"/>
              </a:defRPr>
            </a:pPr>
            <a:r>
              <a:rPr sz="1575" b="1">
                <a:solidFill>
                  <a:srgbClr val="111111"/>
                </a:solidFill>
                <a:latin typeface="Arial"/>
                <a:ea typeface="Arial"/>
                <a:cs typeface="Arial"/>
              </a:rPr>
              <a:t>score(q,d) = Σ wₜ · IDF(t) · [f(t,d) · 2.2] / [f(t,d) + 1.2 · L(d)]</a:t>
            </a:r>
          </a:p>
        </p:txBody>
      </p:sp>
      <p:sp>
        <p:nvSpPr>
          <p:cNvPr id="11" name="">
            <a:extLst xmlns:a="http://schemas.openxmlformats.org/drawingml/2006/main">
              <a:ext uri="{FF2B5EF4-FFF2-40B4-BE49-F238E27FC236}">
                <a16:creationId xmlns:a16="http://schemas.microsoft.com/office/drawing/2014/main" id="{B7C6FE39-EB9C-4E21-A6F0-2D9A351A3C62}"/>
              </a:ext>
            </a:extLst>
          </p:cNvPr>
          <p:cNvSpPr>
            <a:spLocks xmlns:a="http://schemas.openxmlformats.org/drawingml/2006/main" noGrp="1"/>
          </p:cNvSpPr>
          <p:nvPr/>
        </p:nvSpPr>
        <p:spPr>
          <a:xfrm xmlns:a="http://schemas.openxmlformats.org/drawingml/2006/main">
            <a:off x="6286500" y="4000500"/>
            <a:ext cx="4991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784"/>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Ranking terms come from:</a:t>
            </a:r>
          </a:p>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question · objective · must_find · covered dimensions · active query · page title</a:t>
            </a:r>
          </a:p>
          <a:p xmlns:a="http://schemas.openxmlformats.org/drawingml/2006/main">
            <a:r>
              <a:t/>
            </a:r>
          </a:p>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English words + Chinese bigrams · exact-phrase boosts · avoid-term penalties</a:t>
            </a:r>
          </a:p>
        </p:txBody>
      </p:sp>
      <p:sp>
        <p:nvSpPr>
          <p:cNvPr id="12" name="">
            <a:extLst xmlns:a="http://schemas.openxmlformats.org/drawingml/2006/main">
              <a:ext uri="{FF2B5EF4-FFF2-40B4-BE49-F238E27FC236}">
                <a16:creationId xmlns:a16="http://schemas.microsoft.com/office/drawing/2014/main" id="{069CE5FF-5ED6-47AB-B2A3-B3A465B65097}"/>
              </a:ext>
            </a:extLst>
          </p:cNvPr>
          <p:cNvSpPr>
            <a:spLocks xmlns:a="http://schemas.openxmlformats.org/drawingml/2006/main" noGrp="1"/>
          </p:cNvSpPr>
          <p:nvPr/>
        </p:nvSpPr>
        <p:spPr>
          <a:xfrm xmlns:a="http://schemas.openxmlformats.org/drawingml/2006/main">
            <a:off x="457200" y="5772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a:solidFill>
                  <a:srgbClr val="3D8DFF"/>
                </a:solidFill>
                <a:latin typeface="Arial"/>
                <a:ea typeface="Arial"/>
                <a:cs typeface="Arial"/>
              </a:defRPr>
            </a:pPr>
            <a:r>
              <a:rPr sz="1875" b="1">
                <a:solidFill>
                  <a:srgbClr val="3D8DFF"/>
                </a:solidFill>
                <a:latin typeface="Arial"/>
                <a:ea typeface="Arial"/>
                <a:cs typeface="Arial"/>
              </a:rPr>
              <a:t>1,041 → 375 chunk-level model calls in offline replay (64% fewer)</a:t>
            </a:r>
          </a:p>
        </p:txBody>
      </p:sp>
    </p:spTree>
    <p:extLst>
      <p:ext uri="{BB962C8B-B14F-4D97-AF65-F5344CB8AC3E}">
        <p14:creationId xmlns:p14="http://schemas.microsoft.com/office/powerpoint/2010/main" val="11710281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B926F9F-CF1C-4B25-9220-47EF0DDF44D8}"/>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DESIGN HIGHLIGHT · EVIDENCE CONTRACT</a:t>
            </a:r>
          </a:p>
        </p:txBody>
      </p:sp>
      <p:sp>
        <p:nvSpPr>
          <p:cNvPr id="2" name="">
            <a:extLst xmlns:a="http://schemas.openxmlformats.org/drawingml/2006/main">
              <a:ext uri="{FF2B5EF4-FFF2-40B4-BE49-F238E27FC236}">
                <a16:creationId xmlns:a16="http://schemas.microsoft.com/office/drawing/2014/main" id="{4EC353C6-3E26-4A5C-ABB4-9D0F13B72AEC}"/>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Evidence is a verifiable record—not an Agent message</a:t>
            </a:r>
          </a:p>
        </p:txBody>
      </p:sp>
      <p:sp>
        <p:nvSpPr>
          <p:cNvPr id="3" name="">
            <a:extLst xmlns:a="http://schemas.openxmlformats.org/drawingml/2006/main">
              <a:ext uri="{FF2B5EF4-FFF2-40B4-BE49-F238E27FC236}">
                <a16:creationId xmlns:a16="http://schemas.microsoft.com/office/drawing/2014/main" id="{4B68DBAA-73C6-4BAD-9CF7-A2D7C7CB4B9F}"/>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E319C428-7D84-437B-B92B-E7A68AF0EE8E}"/>
              </a:ext>
            </a:extLst>
          </p:cNvPr>
          <p:cNvSpPr>
            <a:spLocks xmlns:a="http://schemas.openxmlformats.org/drawingml/2006/main" noGrp="1"/>
          </p:cNvSpPr>
          <p:nvPr/>
        </p:nvSpPr>
        <p:spPr>
          <a:xfrm xmlns:a="http://schemas.openxmlformats.org/drawingml/2006/main">
            <a:off x="457200" y="15621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ATOMIC EVIDENCE RECORD</a:t>
            </a:r>
          </a:p>
        </p:txBody>
      </p:sp>
      <p:sp>
        <p:nvSpPr>
          <p:cNvPr id="5" name="">
            <a:extLst xmlns:a="http://schemas.openxmlformats.org/drawingml/2006/main">
              <a:ext uri="{FF2B5EF4-FFF2-40B4-BE49-F238E27FC236}">
                <a16:creationId xmlns:a16="http://schemas.microsoft.com/office/drawing/2014/main" id="{BD297D8F-0343-4DDB-9C36-78D563EE86FE}"/>
              </a:ext>
            </a:extLst>
          </p:cNvPr>
          <p:cNvSpPr>
            <a:spLocks xmlns:a="http://schemas.openxmlformats.org/drawingml/2006/main" noGrp="1"/>
          </p:cNvSpPr>
          <p:nvPr/>
        </p:nvSpPr>
        <p:spPr>
          <a:xfrm xmlns:a="http://schemas.openxmlformats.org/drawingml/2006/main">
            <a:off x="457200" y="20383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Identity</a:t>
            </a:r>
          </a:p>
        </p:txBody>
      </p:sp>
      <p:sp>
        <p:nvSpPr>
          <p:cNvPr id="6" name="">
            <a:extLst xmlns:a="http://schemas.openxmlformats.org/drawingml/2006/main">
              <a:ext uri="{FF2B5EF4-FFF2-40B4-BE49-F238E27FC236}">
                <a16:creationId xmlns:a16="http://schemas.microsoft.com/office/drawing/2014/main" id="{6E84A207-0069-4303-AECC-5D5F6DA727A3}"/>
              </a:ext>
            </a:extLst>
          </p:cNvPr>
          <p:cNvSpPr>
            <a:spLocks xmlns:a="http://schemas.openxmlformats.org/drawingml/2006/main" noGrp="1"/>
          </p:cNvSpPr>
          <p:nvPr/>
        </p:nvSpPr>
        <p:spPr>
          <a:xfrm xmlns:a="http://schemas.openxmlformats.org/drawingml/2006/main">
            <a:off x="1943100" y="2057400"/>
            <a:ext cx="3467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48"/>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evidence_id · source_id · task_id · provenance_key</a:t>
            </a:r>
          </a:p>
        </p:txBody>
      </p:sp>
      <p:sp>
        <p:nvSpPr>
          <p:cNvPr id="7" name="">
            <a:extLst xmlns:a="http://schemas.openxmlformats.org/drawingml/2006/main">
              <a:ext uri="{FF2B5EF4-FFF2-40B4-BE49-F238E27FC236}">
                <a16:creationId xmlns:a16="http://schemas.microsoft.com/office/drawing/2014/main" id="{A5BF79B6-DD0F-4F87-8ED0-9C9453585C97}"/>
              </a:ext>
            </a:extLst>
          </p:cNvPr>
          <p:cNvSpPr>
            <a:spLocks xmlns:a="http://schemas.openxmlformats.org/drawingml/2006/main" noGrp="1"/>
          </p:cNvSpPr>
          <p:nvPr/>
        </p:nvSpPr>
        <p:spPr>
          <a:xfrm xmlns:a="http://schemas.openxmlformats.org/drawingml/2006/main">
            <a:off x="457200" y="28384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Claim</a:t>
            </a:r>
          </a:p>
        </p:txBody>
      </p:sp>
      <p:sp>
        <p:nvSpPr>
          <p:cNvPr id="8" name="">
            <a:extLst xmlns:a="http://schemas.openxmlformats.org/drawingml/2006/main">
              <a:ext uri="{FF2B5EF4-FFF2-40B4-BE49-F238E27FC236}">
                <a16:creationId xmlns:a16="http://schemas.microsoft.com/office/drawing/2014/main" id="{2E5D0621-CF9E-44D0-8427-980BEBA6A8DD}"/>
              </a:ext>
            </a:extLst>
          </p:cNvPr>
          <p:cNvSpPr>
            <a:spLocks xmlns:a="http://schemas.openxmlformats.org/drawingml/2006/main" noGrp="1"/>
          </p:cNvSpPr>
          <p:nvPr/>
        </p:nvSpPr>
        <p:spPr>
          <a:xfrm xmlns:a="http://schemas.openxmlformats.org/drawingml/2006/main">
            <a:off x="1943100" y="2857500"/>
            <a:ext cx="3467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claim_candidate · stance · confidence</a:t>
            </a:r>
          </a:p>
        </p:txBody>
      </p:sp>
      <p:sp>
        <p:nvSpPr>
          <p:cNvPr id="9" name="">
            <a:extLst xmlns:a="http://schemas.openxmlformats.org/drawingml/2006/main">
              <a:ext uri="{FF2B5EF4-FFF2-40B4-BE49-F238E27FC236}">
                <a16:creationId xmlns:a16="http://schemas.microsoft.com/office/drawing/2014/main" id="{99C61805-A27B-46C4-B0BC-BD54334D8D02}"/>
              </a:ext>
            </a:extLst>
          </p:cNvPr>
          <p:cNvSpPr>
            <a:spLocks xmlns:a="http://schemas.openxmlformats.org/drawingml/2006/main" noGrp="1"/>
          </p:cNvSpPr>
          <p:nvPr/>
        </p:nvSpPr>
        <p:spPr>
          <a:xfrm xmlns:a="http://schemas.openxmlformats.org/drawingml/2006/main">
            <a:off x="457200" y="36385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Proof</a:t>
            </a:r>
          </a:p>
        </p:txBody>
      </p:sp>
      <p:sp>
        <p:nvSpPr>
          <p:cNvPr id="10" name="">
            <a:extLst xmlns:a="http://schemas.openxmlformats.org/drawingml/2006/main">
              <a:ext uri="{FF2B5EF4-FFF2-40B4-BE49-F238E27FC236}">
                <a16:creationId xmlns:a16="http://schemas.microsoft.com/office/drawing/2014/main" id="{D73701A2-36A1-47C8-872C-FDA230544F77}"/>
              </a:ext>
            </a:extLst>
          </p:cNvPr>
          <p:cNvSpPr>
            <a:spLocks xmlns:a="http://schemas.openxmlformats.org/drawingml/2006/main" noGrp="1"/>
          </p:cNvSpPr>
          <p:nvPr/>
        </p:nvSpPr>
        <p:spPr>
          <a:xfrm xmlns:a="http://schemas.openxmlformats.org/drawingml/2006/main">
            <a:off x="1943100" y="3657600"/>
            <a:ext cx="3467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48"/>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verbatim_excerpt · source_url · source_domain</a:t>
            </a:r>
          </a:p>
        </p:txBody>
      </p:sp>
      <p:sp>
        <p:nvSpPr>
          <p:cNvPr id="11" name="">
            <a:extLst xmlns:a="http://schemas.openxmlformats.org/drawingml/2006/main">
              <a:ext uri="{FF2B5EF4-FFF2-40B4-BE49-F238E27FC236}">
                <a16:creationId xmlns:a16="http://schemas.microsoft.com/office/drawing/2014/main" id="{F118988D-1FAD-4BBC-9AC9-F950FD0CE583}"/>
              </a:ext>
            </a:extLst>
          </p:cNvPr>
          <p:cNvSpPr>
            <a:spLocks xmlns:a="http://schemas.openxmlformats.org/drawingml/2006/main" noGrp="1"/>
          </p:cNvSpPr>
          <p:nvPr/>
        </p:nvSpPr>
        <p:spPr>
          <a:xfrm xmlns:a="http://schemas.openxmlformats.org/drawingml/2006/main">
            <a:off x="457200" y="44386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Quality</a:t>
            </a:r>
          </a:p>
        </p:txBody>
      </p:sp>
      <p:sp>
        <p:nvSpPr>
          <p:cNvPr id="12" name="">
            <a:extLst xmlns:a="http://schemas.openxmlformats.org/drawingml/2006/main">
              <a:ext uri="{FF2B5EF4-FFF2-40B4-BE49-F238E27FC236}">
                <a16:creationId xmlns:a16="http://schemas.microsoft.com/office/drawing/2014/main" id="{3F51F5D0-F2D6-4684-BD1F-4C45ADEBC199}"/>
              </a:ext>
            </a:extLst>
          </p:cNvPr>
          <p:cNvSpPr>
            <a:spLocks xmlns:a="http://schemas.openxmlformats.org/drawingml/2006/main" noGrp="1"/>
          </p:cNvSpPr>
          <p:nvPr/>
        </p:nvSpPr>
        <p:spPr>
          <a:xfrm xmlns:a="http://schemas.openxmlformats.org/drawingml/2006/main">
            <a:off x="1943100" y="4457700"/>
            <a:ext cx="3467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source_type · directness · credibility_tier · assessment scores</a:t>
            </a:r>
          </a:p>
        </p:txBody>
      </p:sp>
      <p:sp>
        <p:nvSpPr>
          <p:cNvPr id="13" name="">
            <a:extLst xmlns:a="http://schemas.openxmlformats.org/drawingml/2006/main">
              <a:ext uri="{FF2B5EF4-FFF2-40B4-BE49-F238E27FC236}">
                <a16:creationId xmlns:a16="http://schemas.microsoft.com/office/drawing/2014/main" id="{307F5348-F144-4DF8-9942-8D7BF0FC46CD}"/>
              </a:ext>
            </a:extLst>
          </p:cNvPr>
          <p:cNvSpPr>
            <a:spLocks xmlns:a="http://schemas.openxmlformats.org/drawingml/2006/main" noGrp="1"/>
          </p:cNvSpPr>
          <p:nvPr/>
        </p:nvSpPr>
        <p:spPr>
          <a:xfrm xmlns:a="http://schemas.openxmlformats.org/drawingml/2006/main">
            <a:off x="5810250" y="1562100"/>
            <a:ext cx="19050" cy="37719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4" name="">
            <a:extLst xmlns:a="http://schemas.openxmlformats.org/drawingml/2006/main">
              <a:ext uri="{FF2B5EF4-FFF2-40B4-BE49-F238E27FC236}">
                <a16:creationId xmlns:a16="http://schemas.microsoft.com/office/drawing/2014/main" id="{5AD91365-2372-4B48-AE14-382FDCD3DED6}"/>
              </a:ext>
            </a:extLst>
          </p:cNvPr>
          <p:cNvSpPr>
            <a:spLocks xmlns:a="http://schemas.openxmlformats.org/drawingml/2006/main" noGrp="1"/>
          </p:cNvSpPr>
          <p:nvPr/>
        </p:nvSpPr>
        <p:spPr>
          <a:xfrm xmlns:a="http://schemas.openxmlformats.org/drawingml/2006/main">
            <a:off x="6286500" y="1562100"/>
            <a:ext cx="499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INVARIANTS ENFORCED BEFORE USE</a:t>
            </a:r>
          </a:p>
        </p:txBody>
      </p:sp>
      <p:sp>
        <p:nvSpPr>
          <p:cNvPr id="15" name="">
            <a:extLst xmlns:a="http://schemas.openxmlformats.org/drawingml/2006/main">
              <a:ext uri="{FF2B5EF4-FFF2-40B4-BE49-F238E27FC236}">
                <a16:creationId xmlns:a16="http://schemas.microsoft.com/office/drawing/2014/main" id="{9DFB74FE-3945-4D23-8EEB-1C724DB36804}"/>
              </a:ext>
            </a:extLst>
          </p:cNvPr>
          <p:cNvSpPr>
            <a:spLocks xmlns:a="http://schemas.openxmlformats.org/drawingml/2006/main" noGrp="1"/>
          </p:cNvSpPr>
          <p:nvPr/>
        </p:nvSpPr>
        <p:spPr>
          <a:xfrm xmlns:a="http://schemas.openxmlformats.org/drawingml/2006/main">
            <a:off x="6286500" y="2057400"/>
            <a:ext cx="4991100" cy="3162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617"/>
          </a:bodyPr>
          <a:lstStyle xmlns:a="http://schemas.openxmlformats.org/drawingml/2006/main"/>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The excerpt must exist verbatim in the persisted source text</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IDs are deterministic, so replay does not duplicate the record</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One provenance_key cannot masquerade as multiple independent sources</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Discovery-only sources can guide follow-up, but cannot support final claims</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Audit and Report may cite only evidence IDs present in the ledger</a:t>
            </a:r>
          </a:p>
        </p:txBody>
      </p:sp>
      <p:sp>
        <p:nvSpPr>
          <p:cNvPr id="16" name="">
            <a:extLst xmlns:a="http://schemas.openxmlformats.org/drawingml/2006/main">
              <a:ext uri="{FF2B5EF4-FFF2-40B4-BE49-F238E27FC236}">
                <a16:creationId xmlns:a16="http://schemas.microsoft.com/office/drawing/2014/main" id="{0DAA39D1-B209-4E6D-ADDC-6898483A60B3}"/>
              </a:ext>
            </a:extLst>
          </p:cNvPr>
          <p:cNvSpPr>
            <a:spLocks xmlns:a="http://schemas.openxmlformats.org/drawingml/2006/main" noGrp="1"/>
          </p:cNvSpPr>
          <p:nvPr/>
        </p:nvSpPr>
        <p:spPr>
          <a:xfrm xmlns:a="http://schemas.openxmlformats.org/drawingml/2006/main">
            <a:off x="457200" y="586740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a:solidFill>
                  <a:srgbClr val="111111"/>
                </a:solidFill>
                <a:latin typeface="Arial"/>
                <a:ea typeface="Arial"/>
                <a:cs typeface="Arial"/>
              </a:defRPr>
            </a:pPr>
            <a:r>
              <a:rPr sz="1650" b="1">
                <a:solidFill>
                  <a:srgbClr val="111111"/>
                </a:solidFill>
                <a:latin typeface="Arial"/>
                <a:ea typeface="Arial"/>
                <a:cs typeface="Arial"/>
              </a:rPr>
              <a:t>Persisted in research.sqlite; GraphState carries evidence_ids only.</a:t>
            </a:r>
          </a:p>
        </p:txBody>
      </p:sp>
    </p:spTree>
    <p:extLst>
      <p:ext uri="{BB962C8B-B14F-4D97-AF65-F5344CB8AC3E}">
        <p14:creationId xmlns:p14="http://schemas.microsoft.com/office/powerpoint/2010/main" val="19083300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6B85D65-A37C-4021-9AA0-EA604F2821CB}"/>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DESIGN HIGHLIGHT · MODEL GATEWAY</a:t>
            </a:r>
          </a:p>
        </p:txBody>
      </p:sp>
      <p:sp>
        <p:nvSpPr>
          <p:cNvPr id="2" name="">
            <a:extLst xmlns:a="http://schemas.openxmlformats.org/drawingml/2006/main">
              <a:ext uri="{FF2B5EF4-FFF2-40B4-BE49-F238E27FC236}">
                <a16:creationId xmlns:a16="http://schemas.microsoft.com/office/drawing/2014/main" id="{88263216-C057-48C6-A582-55CD07F7F127}"/>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One gateway makes model economics enforceable</a:t>
            </a:r>
          </a:p>
        </p:txBody>
      </p:sp>
      <p:sp>
        <p:nvSpPr>
          <p:cNvPr id="3" name="">
            <a:extLst xmlns:a="http://schemas.openxmlformats.org/drawingml/2006/main">
              <a:ext uri="{FF2B5EF4-FFF2-40B4-BE49-F238E27FC236}">
                <a16:creationId xmlns:a16="http://schemas.microsoft.com/office/drawing/2014/main" id="{AC0E9EEF-4196-46CC-BD39-DE4168F3DABA}"/>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359FD475-9600-4FCD-88B9-139950626DFF}"/>
              </a:ext>
            </a:extLst>
          </p:cNvPr>
          <p:cNvSpPr>
            <a:spLocks xmlns:a="http://schemas.openxmlformats.org/drawingml/2006/main" noGrp="1"/>
          </p:cNvSpPr>
          <p:nvPr/>
        </p:nvSpPr>
        <p:spPr>
          <a:xfrm xmlns:a="http://schemas.openxmlformats.org/drawingml/2006/main">
            <a:off x="457200" y="15621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EVERY AGENT SUBMITS THE SAME CALL CONTRACT</a:t>
            </a:r>
          </a:p>
        </p:txBody>
      </p:sp>
      <p:sp>
        <p:nvSpPr>
          <p:cNvPr id="5" name="">
            <a:extLst xmlns:a="http://schemas.openxmlformats.org/drawingml/2006/main">
              <a:ext uri="{FF2B5EF4-FFF2-40B4-BE49-F238E27FC236}">
                <a16:creationId xmlns:a16="http://schemas.microsoft.com/office/drawing/2014/main" id="{521B0E06-029B-4098-BF9F-6D4BAA38FCCE}"/>
              </a:ext>
            </a:extLst>
          </p:cNvPr>
          <p:cNvSpPr>
            <a:spLocks xmlns:a="http://schemas.openxmlformats.org/drawingml/2006/main" noGrp="1"/>
          </p:cNvSpPr>
          <p:nvPr/>
        </p:nvSpPr>
        <p:spPr>
          <a:xfrm xmlns:a="http://schemas.openxmlformats.org/drawingml/2006/main">
            <a:off x="457200" y="20193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run_id · task_id · agent_id · operation · capability profile · attempt · context</a:t>
            </a:r>
          </a:p>
        </p:txBody>
      </p:sp>
      <p:sp>
        <p:nvSpPr>
          <p:cNvPr id="6" name="">
            <a:extLst xmlns:a="http://schemas.openxmlformats.org/drawingml/2006/main">
              <a:ext uri="{FF2B5EF4-FFF2-40B4-BE49-F238E27FC236}">
                <a16:creationId xmlns:a16="http://schemas.microsoft.com/office/drawing/2014/main" id="{4D1697B7-AC19-4C72-91BE-8755F7926ADD}"/>
              </a:ext>
            </a:extLst>
          </p:cNvPr>
          <p:cNvSpPr>
            <a:spLocks xmlns:a="http://schemas.openxmlformats.org/drawingml/2006/main" noGrp="1"/>
          </p:cNvSpPr>
          <p:nvPr/>
        </p:nvSpPr>
        <p:spPr>
          <a:xfrm xmlns:a="http://schemas.openxmlformats.org/drawingml/2006/main">
            <a:off x="457200" y="3314700"/>
            <a:ext cx="533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The Agent asks for a capability; it cannot bypass routing policy by naming an expensive model.</a:t>
            </a:r>
          </a:p>
        </p:txBody>
      </p:sp>
      <p:sp>
        <p:nvSpPr>
          <p:cNvPr id="7" name="">
            <a:extLst xmlns:a="http://schemas.openxmlformats.org/drawingml/2006/main">
              <a:ext uri="{FF2B5EF4-FFF2-40B4-BE49-F238E27FC236}">
                <a16:creationId xmlns:a16="http://schemas.microsoft.com/office/drawing/2014/main" id="{07AFB59A-1E8B-422F-BEB3-9526F4D649D0}"/>
              </a:ext>
            </a:extLst>
          </p:cNvPr>
          <p:cNvSpPr>
            <a:spLocks xmlns:a="http://schemas.openxmlformats.org/drawingml/2006/main" noGrp="1"/>
          </p:cNvSpPr>
          <p:nvPr/>
        </p:nvSpPr>
        <p:spPr>
          <a:xfrm xmlns:a="http://schemas.openxmlformats.org/drawingml/2006/main">
            <a:off x="6057900" y="1562100"/>
            <a:ext cx="19050" cy="38481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8" name="">
            <a:extLst xmlns:a="http://schemas.openxmlformats.org/drawingml/2006/main">
              <a:ext uri="{FF2B5EF4-FFF2-40B4-BE49-F238E27FC236}">
                <a16:creationId xmlns:a16="http://schemas.microsoft.com/office/drawing/2014/main" id="{222ED2D8-5922-418F-B24D-91977FCB7758}"/>
              </a:ext>
            </a:extLst>
          </p:cNvPr>
          <p:cNvSpPr>
            <a:spLocks xmlns:a="http://schemas.openxmlformats.org/drawingml/2006/main" noGrp="1"/>
          </p:cNvSpPr>
          <p:nvPr/>
        </p:nvSpPr>
        <p:spPr>
          <a:xfrm xmlns:a="http://schemas.openxmlformats.org/drawingml/2006/main">
            <a:off x="6534150" y="1562100"/>
            <a:ext cx="4743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GATEWAY RESPONSIBILITIES</a:t>
            </a:r>
          </a:p>
        </p:txBody>
      </p:sp>
      <p:sp>
        <p:nvSpPr>
          <p:cNvPr id="9" name="">
            <a:extLst xmlns:a="http://schemas.openxmlformats.org/drawingml/2006/main">
              <a:ext uri="{FF2B5EF4-FFF2-40B4-BE49-F238E27FC236}">
                <a16:creationId xmlns:a16="http://schemas.microsoft.com/office/drawing/2014/main" id="{21A9C435-C1CE-43ED-8DDB-40C6BC169674}"/>
              </a:ext>
            </a:extLst>
          </p:cNvPr>
          <p:cNvSpPr>
            <a:spLocks xmlns:a="http://schemas.openxmlformats.org/drawingml/2006/main" noGrp="1"/>
          </p:cNvSpPr>
          <p:nvPr/>
        </p:nvSpPr>
        <p:spPr>
          <a:xfrm xmlns:a="http://schemas.openxmlformats.org/drawingml/2006/main">
            <a:off x="6534150" y="2057400"/>
            <a:ext cx="4743450" cy="3219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155"/>
          </a:bodyPr>
          <a:lstStyle xmlns:a="http://schemas.openxmlformats.org/drawingml/2006/main"/>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Route planning, audit, and deep reasoning to the stronger model</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Route frequent extraction and Worker decisions to the cheaper model</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Check context window and reserve budget before parallel calls</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Repair malformed JSON and retry bounded failures</a:t>
            </a:r>
          </a:p>
          <a:p xmlns:a="http://schemas.openxmlformats.org/drawingml/2006/main">
            <a:r>
              <a:t/>
            </a:r>
          </a:p>
          <a:p xmlns:a="http://schemas.openxmlformats.org/drawingml/2006/main">
            <a:pPr algn="l">
              <a:buNone/>
              <a:defRPr sz="1500" b="0">
                <a:solidFill>
                  <a:srgbClr val="5F6670"/>
                </a:solidFill>
                <a:latin typeface="Arial"/>
                <a:ea typeface="Arial"/>
                <a:cs typeface="Arial"/>
              </a:defRPr>
            </a:pPr>
            <a:r>
              <a:rPr sz="1500" b="0">
                <a:solidFill>
                  <a:srgbClr val="5F6670"/>
                </a:solidFill>
                <a:latin typeface="Arial"/>
                <a:ea typeface="Arial"/>
                <a:cs typeface="Arial"/>
              </a:rPr>
              <a:t>• Record route, tokens, context size, latency, cost, and errors</a:t>
            </a:r>
          </a:p>
        </p:txBody>
      </p:sp>
      <p:sp>
        <p:nvSpPr>
          <p:cNvPr id="10" name="">
            <a:extLst xmlns:a="http://schemas.openxmlformats.org/drawingml/2006/main">
              <a:ext uri="{FF2B5EF4-FFF2-40B4-BE49-F238E27FC236}">
                <a16:creationId xmlns:a16="http://schemas.microsoft.com/office/drawing/2014/main" id="{906F7423-7614-4154-9E19-5D13D3756323}"/>
              </a:ext>
            </a:extLst>
          </p:cNvPr>
          <p:cNvSpPr>
            <a:spLocks xmlns:a="http://schemas.openxmlformats.org/drawingml/2006/main" noGrp="1"/>
          </p:cNvSpPr>
          <p:nvPr/>
        </p:nvSpPr>
        <p:spPr>
          <a:xfrm xmlns:a="http://schemas.openxmlformats.org/drawingml/2006/main">
            <a:off x="457200" y="49149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Model policy</a:t>
            </a:r>
          </a:p>
        </p:txBody>
      </p:sp>
      <p:sp>
        <p:nvSpPr>
          <p:cNvPr id="11" name="">
            <a:extLst xmlns:a="http://schemas.openxmlformats.org/drawingml/2006/main">
              <a:ext uri="{FF2B5EF4-FFF2-40B4-BE49-F238E27FC236}">
                <a16:creationId xmlns:a16="http://schemas.microsoft.com/office/drawing/2014/main" id="{1100110E-8D51-486B-BFC3-05B165743E58}"/>
              </a:ext>
            </a:extLst>
          </p:cNvPr>
          <p:cNvSpPr>
            <a:spLocks xmlns:a="http://schemas.openxmlformats.org/drawingml/2006/main" noGrp="1"/>
          </p:cNvSpPr>
          <p:nvPr/>
        </p:nvSpPr>
        <p:spPr>
          <a:xfrm xmlns:a="http://schemas.openxmlformats.org/drawingml/2006/main">
            <a:off x="457200" y="521970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48"/>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Pro → planning, audit, deep reasoning</a:t>
            </a:r>
          </a:p>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Flash → extraction, Worker decisions, frequent calls</a:t>
            </a:r>
          </a:p>
        </p:txBody>
      </p:sp>
      <p:sp>
        <p:nvSpPr>
          <p:cNvPr id="12" name="">
            <a:extLst xmlns:a="http://schemas.openxmlformats.org/drawingml/2006/main">
              <a:ext uri="{FF2B5EF4-FFF2-40B4-BE49-F238E27FC236}">
                <a16:creationId xmlns:a16="http://schemas.microsoft.com/office/drawing/2014/main" id="{F7853FB3-0BB8-4775-8DFF-490FA115C917}"/>
              </a:ext>
            </a:extLst>
          </p:cNvPr>
          <p:cNvSpPr>
            <a:spLocks xmlns:a="http://schemas.openxmlformats.org/drawingml/2006/main" noGrp="1"/>
          </p:cNvSpPr>
          <p:nvPr/>
        </p:nvSpPr>
        <p:spPr>
          <a:xfrm xmlns:a="http://schemas.openxmlformats.org/drawingml/2006/main">
            <a:off x="457200" y="5734050"/>
            <a:ext cx="10820400" cy="514350"/>
          </a:xfrm>
          <a:prstGeom xmlns:a="http://schemas.openxmlformats.org/drawingml/2006/main" prst="roundRect">
            <a:avLst>
              <a:gd name="adj" fmla="val 11111"/>
            </a:avLst>
          </a:prstGeom>
          <a:solidFill xmlns:a="http://schemas.openxmlformats.org/drawingml/2006/main">
            <a:srgbClr val="E7F4FA"/>
          </a:solidFill>
          <a:ln xmlns:a="http://schemas.openxmlformats.org/drawingml/2006/main" w="0">
            <a:solidFill>
              <a:srgbClr val="E7F4FA"/>
            </a:solidFill>
            <a:prstDash val="solid"/>
          </a:ln>
        </p:spPr>
      </p:sp>
      <p:sp>
        <p:nvSpPr>
          <p:cNvPr id="13" name="">
            <a:extLst xmlns:a="http://schemas.openxmlformats.org/drawingml/2006/main">
              <a:ext uri="{FF2B5EF4-FFF2-40B4-BE49-F238E27FC236}">
                <a16:creationId xmlns:a16="http://schemas.microsoft.com/office/drawing/2014/main" id="{99FC0587-18EC-4DC3-B3D1-DDDA7AC55D85}"/>
              </a:ext>
            </a:extLst>
          </p:cNvPr>
          <p:cNvSpPr>
            <a:spLocks xmlns:a="http://schemas.openxmlformats.org/drawingml/2006/main" noGrp="1"/>
          </p:cNvSpPr>
          <p:nvPr/>
        </p:nvSpPr>
        <p:spPr>
          <a:xfrm xmlns:a="http://schemas.openxmlformats.org/drawingml/2006/main">
            <a:off x="666750" y="5876925"/>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buNone/>
              <a:defRPr sz="1500" b="1">
                <a:solidFill>
                  <a:srgbClr val="111111"/>
                </a:solidFill>
                <a:latin typeface="Arial"/>
                <a:ea typeface="Arial"/>
                <a:cs typeface="Arial"/>
              </a:defRPr>
            </a:pPr>
            <a:r>
              <a:rPr sz="1500" b="1">
                <a:solidFill>
                  <a:srgbClr val="111111"/>
                </a:solidFill>
                <a:latin typeface="Arial"/>
                <a:ea typeface="Arial"/>
                <a:cs typeface="Arial"/>
              </a:rPr>
              <a:t>Persisted in model_gateway.sqlite: one telemetry record per model attempt.</a:t>
            </a:r>
          </a:p>
        </p:txBody>
      </p:sp>
    </p:spTree>
    <p:extLst>
      <p:ext uri="{BB962C8B-B14F-4D97-AF65-F5344CB8AC3E}">
        <p14:creationId xmlns:p14="http://schemas.microsoft.com/office/powerpoint/2010/main" val="3988311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4CAD0BB-3B6A-4377-9E2D-0CD8903CA54E}"/>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DESIGN HIGHLIGHT · SELF-HEALING</a:t>
            </a:r>
          </a:p>
        </p:txBody>
      </p:sp>
      <p:sp>
        <p:nvSpPr>
          <p:cNvPr id="2" name="">
            <a:extLst xmlns:a="http://schemas.openxmlformats.org/drawingml/2006/main">
              <a:ext uri="{FF2B5EF4-FFF2-40B4-BE49-F238E27FC236}">
                <a16:creationId xmlns:a16="http://schemas.microsoft.com/office/drawing/2014/main" id="{9D635AC6-FDB1-485C-8C2E-2B7AF61689DD}"/>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Failures are healed at the smallest effective scope</a:t>
            </a:r>
          </a:p>
        </p:txBody>
      </p:sp>
      <p:sp>
        <p:nvSpPr>
          <p:cNvPr id="3" name="">
            <a:extLst xmlns:a="http://schemas.openxmlformats.org/drawingml/2006/main">
              <a:ext uri="{FF2B5EF4-FFF2-40B4-BE49-F238E27FC236}">
                <a16:creationId xmlns:a16="http://schemas.microsoft.com/office/drawing/2014/main" id="{0B8C9EFC-C54E-4C7E-B786-16FC9D0C97E7}"/>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A1FF7704-095B-4300-9E2A-BD1DB0B1A1DD}"/>
              </a:ext>
            </a:extLst>
          </p:cNvPr>
          <p:cNvSpPr>
            <a:spLocks xmlns:a="http://schemas.openxmlformats.org/drawingml/2006/main" noGrp="1"/>
          </p:cNvSpPr>
          <p:nvPr/>
        </p:nvSpPr>
        <p:spPr>
          <a:xfrm xmlns:a="http://schemas.openxmlformats.org/drawingml/2006/main">
            <a:off x="457200" y="15811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buNone/>
              <a:defRPr sz="1425" b="1">
                <a:solidFill>
                  <a:srgbClr val="3D8DFF"/>
                </a:solidFill>
                <a:latin typeface="Arial"/>
                <a:ea typeface="Arial"/>
                <a:cs typeface="Arial"/>
              </a:defRPr>
            </a:pPr>
            <a:r>
              <a:rPr sz="1425" b="1">
                <a:solidFill>
                  <a:srgbClr val="3D8DFF"/>
                </a:solidFill>
                <a:latin typeface="Arial"/>
                <a:ea typeface="Arial"/>
                <a:cs typeface="Arial"/>
              </a:rPr>
              <a:t>L1</a:t>
            </a:r>
          </a:p>
        </p:txBody>
      </p:sp>
      <p:sp>
        <p:nvSpPr>
          <p:cNvPr id="5" name="">
            <a:extLst xmlns:a="http://schemas.openxmlformats.org/drawingml/2006/main">
              <a:ext uri="{FF2B5EF4-FFF2-40B4-BE49-F238E27FC236}">
                <a16:creationId xmlns:a16="http://schemas.microsoft.com/office/drawing/2014/main" id="{6AAC8862-085D-4E0C-9D14-2F424839ADCC}"/>
              </a:ext>
            </a:extLst>
          </p:cNvPr>
          <p:cNvSpPr>
            <a:spLocks xmlns:a="http://schemas.openxmlformats.org/drawingml/2006/main" noGrp="1"/>
          </p:cNvSpPr>
          <p:nvPr/>
        </p:nvSpPr>
        <p:spPr>
          <a:xfrm xmlns:a="http://schemas.openxmlformats.org/drawingml/2006/main">
            <a:off x="1104900" y="15621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Model-call healing</a:t>
            </a:r>
          </a:p>
        </p:txBody>
      </p:sp>
      <p:sp>
        <p:nvSpPr>
          <p:cNvPr id="6" name="">
            <a:extLst xmlns:a="http://schemas.openxmlformats.org/drawingml/2006/main">
              <a:ext uri="{FF2B5EF4-FFF2-40B4-BE49-F238E27FC236}">
                <a16:creationId xmlns:a16="http://schemas.microsoft.com/office/drawing/2014/main" id="{0CAFD6F3-A0FC-4FF3-ABCA-43D874C38175}"/>
              </a:ext>
            </a:extLst>
          </p:cNvPr>
          <p:cNvSpPr>
            <a:spLocks xmlns:a="http://schemas.openxmlformats.org/drawingml/2006/main" noGrp="1"/>
          </p:cNvSpPr>
          <p:nvPr/>
        </p:nvSpPr>
        <p:spPr>
          <a:xfrm xmlns:a="http://schemas.openxmlformats.org/drawingml/2006/main">
            <a:off x="4191000" y="1581150"/>
            <a:ext cx="708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Validate typed JSON, repair schema violations, expand tokens after truncation, and retry within a fixed attempt limit.</a:t>
            </a:r>
          </a:p>
        </p:txBody>
      </p:sp>
      <p:sp>
        <p:nvSpPr>
          <p:cNvPr id="7" name="">
            <a:extLst xmlns:a="http://schemas.openxmlformats.org/drawingml/2006/main">
              <a:ext uri="{FF2B5EF4-FFF2-40B4-BE49-F238E27FC236}">
                <a16:creationId xmlns:a16="http://schemas.microsoft.com/office/drawing/2014/main" id="{1A60EC32-F0BE-496B-8239-1F253E241889}"/>
              </a:ext>
            </a:extLst>
          </p:cNvPr>
          <p:cNvSpPr>
            <a:spLocks xmlns:a="http://schemas.openxmlformats.org/drawingml/2006/main" noGrp="1"/>
          </p:cNvSpPr>
          <p:nvPr/>
        </p:nvSpPr>
        <p:spPr>
          <a:xfrm xmlns:a="http://schemas.openxmlformats.org/drawingml/2006/main">
            <a:off x="457200" y="26479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buNone/>
              <a:defRPr sz="1425" b="1">
                <a:solidFill>
                  <a:srgbClr val="3D8DFF"/>
                </a:solidFill>
                <a:latin typeface="Arial"/>
                <a:ea typeface="Arial"/>
                <a:cs typeface="Arial"/>
              </a:defRPr>
            </a:pPr>
            <a:r>
              <a:rPr sz="1425" b="1">
                <a:solidFill>
                  <a:srgbClr val="3D8DFF"/>
                </a:solidFill>
                <a:latin typeface="Arial"/>
                <a:ea typeface="Arial"/>
                <a:cs typeface="Arial"/>
              </a:rPr>
              <a:t>L2</a:t>
            </a:r>
          </a:p>
        </p:txBody>
      </p:sp>
      <p:sp>
        <p:nvSpPr>
          <p:cNvPr id="8" name="">
            <a:extLst xmlns:a="http://schemas.openxmlformats.org/drawingml/2006/main">
              <a:ext uri="{FF2B5EF4-FFF2-40B4-BE49-F238E27FC236}">
                <a16:creationId xmlns:a16="http://schemas.microsoft.com/office/drawing/2014/main" id="{6E5B947D-EF8A-45AD-AD03-5A64681331E7}"/>
              </a:ext>
            </a:extLst>
          </p:cNvPr>
          <p:cNvSpPr>
            <a:spLocks xmlns:a="http://schemas.openxmlformats.org/drawingml/2006/main" noGrp="1"/>
          </p:cNvSpPr>
          <p:nvPr/>
        </p:nvSpPr>
        <p:spPr>
          <a:xfrm xmlns:a="http://schemas.openxmlformats.org/drawingml/2006/main">
            <a:off x="1104900" y="2628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Worker healing</a:t>
            </a:r>
          </a:p>
        </p:txBody>
      </p:sp>
      <p:sp>
        <p:nvSpPr>
          <p:cNvPr id="9" name="">
            <a:extLst xmlns:a="http://schemas.openxmlformats.org/drawingml/2006/main">
              <a:ext uri="{FF2B5EF4-FFF2-40B4-BE49-F238E27FC236}">
                <a16:creationId xmlns:a16="http://schemas.microsoft.com/office/drawing/2014/main" id="{6A74FA4D-0F71-4F9D-817B-6A8236F48074}"/>
              </a:ext>
            </a:extLst>
          </p:cNvPr>
          <p:cNvSpPr>
            <a:spLocks xmlns:a="http://schemas.openxmlformats.org/drawingml/2006/main" noGrp="1"/>
          </p:cNvSpPr>
          <p:nvPr/>
        </p:nvSpPr>
        <p:spPr>
          <a:xfrm xmlns:a="http://schemas.openxmlformats.org/drawingml/2006/main">
            <a:off x="4191000" y="2647950"/>
            <a:ext cx="708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Record the failed step, fall back to snippets or a backup seed query, and return a partial result instead of losing all progress.</a:t>
            </a:r>
          </a:p>
        </p:txBody>
      </p:sp>
      <p:sp>
        <p:nvSpPr>
          <p:cNvPr id="10" name="">
            <a:extLst xmlns:a="http://schemas.openxmlformats.org/drawingml/2006/main">
              <a:ext uri="{FF2B5EF4-FFF2-40B4-BE49-F238E27FC236}">
                <a16:creationId xmlns:a16="http://schemas.microsoft.com/office/drawing/2014/main" id="{2DBB3F9D-5602-4131-85B0-779F349446C9}"/>
              </a:ext>
            </a:extLst>
          </p:cNvPr>
          <p:cNvSpPr>
            <a:spLocks xmlns:a="http://schemas.openxmlformats.org/drawingml/2006/main" noGrp="1"/>
          </p:cNvSpPr>
          <p:nvPr/>
        </p:nvSpPr>
        <p:spPr>
          <a:xfrm xmlns:a="http://schemas.openxmlformats.org/drawingml/2006/main">
            <a:off x="457200" y="37147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buNone/>
              <a:defRPr sz="1425" b="1">
                <a:solidFill>
                  <a:srgbClr val="3D8DFF"/>
                </a:solidFill>
                <a:latin typeface="Arial"/>
                <a:ea typeface="Arial"/>
                <a:cs typeface="Arial"/>
              </a:defRPr>
            </a:pPr>
            <a:r>
              <a:rPr sz="1425" b="1">
                <a:solidFill>
                  <a:srgbClr val="3D8DFF"/>
                </a:solidFill>
                <a:latin typeface="Arial"/>
                <a:ea typeface="Arial"/>
                <a:cs typeface="Arial"/>
              </a:rPr>
              <a:t>L3</a:t>
            </a:r>
          </a:p>
        </p:txBody>
      </p:sp>
      <p:sp>
        <p:nvSpPr>
          <p:cNvPr id="11" name="">
            <a:extLst xmlns:a="http://schemas.openxmlformats.org/drawingml/2006/main">
              <a:ext uri="{FF2B5EF4-FFF2-40B4-BE49-F238E27FC236}">
                <a16:creationId xmlns:a16="http://schemas.microsoft.com/office/drawing/2014/main" id="{81750085-FA87-4E32-B9F5-E3FE02B6B7BA}"/>
              </a:ext>
            </a:extLst>
          </p:cNvPr>
          <p:cNvSpPr>
            <a:spLocks xmlns:a="http://schemas.openxmlformats.org/drawingml/2006/main" noGrp="1"/>
          </p:cNvSpPr>
          <p:nvPr/>
        </p:nvSpPr>
        <p:spPr>
          <a:xfrm xmlns:a="http://schemas.openxmlformats.org/drawingml/2006/main">
            <a:off x="1104900" y="36957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Execution healing</a:t>
            </a:r>
          </a:p>
        </p:txBody>
      </p:sp>
      <p:sp>
        <p:nvSpPr>
          <p:cNvPr id="12" name="">
            <a:extLst xmlns:a="http://schemas.openxmlformats.org/drawingml/2006/main">
              <a:ext uri="{FF2B5EF4-FFF2-40B4-BE49-F238E27FC236}">
                <a16:creationId xmlns:a16="http://schemas.microsoft.com/office/drawing/2014/main" id="{B1023A4D-3D52-46B3-8CDE-05048F526C7C}"/>
              </a:ext>
            </a:extLst>
          </p:cNvPr>
          <p:cNvSpPr>
            <a:spLocks xmlns:a="http://schemas.openxmlformats.org/drawingml/2006/main" noGrp="1"/>
          </p:cNvSpPr>
          <p:nvPr/>
        </p:nvSpPr>
        <p:spPr>
          <a:xfrm xmlns:a="http://schemas.openxmlformats.org/drawingml/2006/main">
            <a:off x="4191000" y="3714750"/>
            <a:ext cx="708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Use stable operation keys, cached successful responses, idempotent writes, and checkpoint resume after process failure.</a:t>
            </a:r>
          </a:p>
        </p:txBody>
      </p:sp>
      <p:sp>
        <p:nvSpPr>
          <p:cNvPr id="13" name="">
            <a:extLst xmlns:a="http://schemas.openxmlformats.org/drawingml/2006/main">
              <a:ext uri="{FF2B5EF4-FFF2-40B4-BE49-F238E27FC236}">
                <a16:creationId xmlns:a16="http://schemas.microsoft.com/office/drawing/2014/main" id="{30D97627-F7D5-4835-A1C7-093C3CCCBDB2}"/>
              </a:ext>
            </a:extLst>
          </p:cNvPr>
          <p:cNvSpPr>
            <a:spLocks xmlns:a="http://schemas.openxmlformats.org/drawingml/2006/main" noGrp="1"/>
          </p:cNvSpPr>
          <p:nvPr/>
        </p:nvSpPr>
        <p:spPr>
          <a:xfrm xmlns:a="http://schemas.openxmlformats.org/drawingml/2006/main">
            <a:off x="457200" y="47815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buNone/>
              <a:defRPr sz="1425" b="1">
                <a:solidFill>
                  <a:srgbClr val="3D8DFF"/>
                </a:solidFill>
                <a:latin typeface="Arial"/>
                <a:ea typeface="Arial"/>
                <a:cs typeface="Arial"/>
              </a:defRPr>
            </a:pPr>
            <a:r>
              <a:rPr sz="1425" b="1">
                <a:solidFill>
                  <a:srgbClr val="3D8DFF"/>
                </a:solidFill>
                <a:latin typeface="Arial"/>
                <a:ea typeface="Arial"/>
                <a:cs typeface="Arial"/>
              </a:rPr>
              <a:t>L4</a:t>
            </a:r>
          </a:p>
        </p:txBody>
      </p:sp>
      <p:sp>
        <p:nvSpPr>
          <p:cNvPr id="14" name="">
            <a:extLst xmlns:a="http://schemas.openxmlformats.org/drawingml/2006/main">
              <a:ext uri="{FF2B5EF4-FFF2-40B4-BE49-F238E27FC236}">
                <a16:creationId xmlns:a16="http://schemas.microsoft.com/office/drawing/2014/main" id="{4FDE115D-8B66-47A2-8D85-A72F70FAF53C}"/>
              </a:ext>
            </a:extLst>
          </p:cNvPr>
          <p:cNvSpPr>
            <a:spLocks xmlns:a="http://schemas.openxmlformats.org/drawingml/2006/main" noGrp="1"/>
          </p:cNvSpPr>
          <p:nvPr/>
        </p:nvSpPr>
        <p:spPr>
          <a:xfrm xmlns:a="http://schemas.openxmlformats.org/drawingml/2006/main">
            <a:off x="1104900" y="4762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Research healing</a:t>
            </a:r>
          </a:p>
        </p:txBody>
      </p:sp>
      <p:sp>
        <p:nvSpPr>
          <p:cNvPr id="15" name="">
            <a:extLst xmlns:a="http://schemas.openxmlformats.org/drawingml/2006/main">
              <a:ext uri="{FF2B5EF4-FFF2-40B4-BE49-F238E27FC236}">
                <a16:creationId xmlns:a16="http://schemas.microsoft.com/office/drawing/2014/main" id="{9F3641D8-4759-4AB2-984D-F7E9B4F4A87D}"/>
              </a:ext>
            </a:extLst>
          </p:cNvPr>
          <p:cNvSpPr>
            <a:spLocks xmlns:a="http://schemas.openxmlformats.org/drawingml/2006/main" noGrp="1"/>
          </p:cNvSpPr>
          <p:nvPr/>
        </p:nvSpPr>
        <p:spPr>
          <a:xfrm xmlns:a="http://schemas.openxmlformats.org/drawingml/2006/main">
            <a:off x="4191000" y="4781550"/>
            <a:ext cx="708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Let the Auditor expose semantic gaps and let Replan create a new evidence wave with targeted tasks.</a:t>
            </a:r>
          </a:p>
        </p:txBody>
      </p:sp>
      <p:sp>
        <p:nvSpPr>
          <p:cNvPr id="16" name="">
            <a:extLst xmlns:a="http://schemas.openxmlformats.org/drawingml/2006/main">
              <a:ext uri="{FF2B5EF4-FFF2-40B4-BE49-F238E27FC236}">
                <a16:creationId xmlns:a16="http://schemas.microsoft.com/office/drawing/2014/main" id="{EA2A231C-050F-4B16-A5FC-D9C330F948CF}"/>
              </a:ext>
            </a:extLst>
          </p:cNvPr>
          <p:cNvSpPr>
            <a:spLocks xmlns:a="http://schemas.openxmlformats.org/drawingml/2006/main" noGrp="1"/>
          </p:cNvSpPr>
          <p:nvPr/>
        </p:nvSpPr>
        <p:spPr>
          <a:xfrm xmlns:a="http://schemas.openxmlformats.org/drawingml/2006/main">
            <a:off x="457200" y="5829300"/>
            <a:ext cx="108204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7" name="">
            <a:extLst xmlns:a="http://schemas.openxmlformats.org/drawingml/2006/main">
              <a:ext uri="{FF2B5EF4-FFF2-40B4-BE49-F238E27FC236}">
                <a16:creationId xmlns:a16="http://schemas.microsoft.com/office/drawing/2014/main" id="{B0612B77-CC79-4F44-8A79-DFE73F302CDC}"/>
              </a:ext>
            </a:extLst>
          </p:cNvPr>
          <p:cNvSpPr>
            <a:spLocks xmlns:a="http://schemas.openxmlformats.org/drawingml/2006/main" noGrp="1"/>
          </p:cNvSpPr>
          <p:nvPr/>
        </p:nvSpPr>
        <p:spPr>
          <a:xfrm xmlns:a="http://schemas.openxmlformats.org/drawingml/2006/main">
            <a:off x="457200" y="59817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500" b="1">
                <a:solidFill>
                  <a:srgbClr val="111111"/>
                </a:solidFill>
                <a:latin typeface="Arial"/>
                <a:ea typeface="Arial"/>
                <a:cs typeface="Arial"/>
              </a:defRPr>
            </a:pPr>
            <a:r>
              <a:rPr sz="1500" b="1">
                <a:solidFill>
                  <a:srgbClr val="111111"/>
                </a:solidFill>
                <a:latin typeface="Arial"/>
                <a:ea typeface="Arial"/>
                <a:cs typeface="Arial"/>
              </a:rPr>
              <a:t>The system escalates from repair → fallback → replay → new research, while preserving prior work at every level.</a:t>
            </a:r>
          </a:p>
        </p:txBody>
      </p:sp>
    </p:spTree>
    <p:extLst>
      <p:ext uri="{BB962C8B-B14F-4D97-AF65-F5344CB8AC3E}">
        <p14:creationId xmlns:p14="http://schemas.microsoft.com/office/powerpoint/2010/main" val="190569783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47165CF-C40A-49B6-B670-9CCCC5257414}"/>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IMPLEMENTATION · TECHNOLOGY STACK</a:t>
            </a:r>
          </a:p>
        </p:txBody>
      </p:sp>
      <p:sp>
        <p:nvSpPr>
          <p:cNvPr id="2" name="">
            <a:extLst xmlns:a="http://schemas.openxmlformats.org/drawingml/2006/main">
              <a:ext uri="{FF2B5EF4-FFF2-40B4-BE49-F238E27FC236}">
                <a16:creationId xmlns:a16="http://schemas.microsoft.com/office/drawing/2014/main" id="{CFE571E2-05DF-4183-BE34-9D83D4F5356B}"/>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The stack gives each boundary one clear owner</a:t>
            </a:r>
          </a:p>
        </p:txBody>
      </p:sp>
      <p:sp>
        <p:nvSpPr>
          <p:cNvPr id="3" name="">
            <a:extLst xmlns:a="http://schemas.openxmlformats.org/drawingml/2006/main">
              <a:ext uri="{FF2B5EF4-FFF2-40B4-BE49-F238E27FC236}">
                <a16:creationId xmlns:a16="http://schemas.microsoft.com/office/drawing/2014/main" id="{1516E20A-7673-49EA-A0A5-3DFC85B654F0}"/>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1D4B379A-F058-40C6-B147-F22C563CB56F}"/>
              </a:ext>
            </a:extLst>
          </p:cNvPr>
          <p:cNvSpPr>
            <a:spLocks xmlns:a="http://schemas.openxmlformats.org/drawingml/2006/main" noGrp="1"/>
          </p:cNvSpPr>
          <p:nvPr/>
        </p:nvSpPr>
        <p:spPr>
          <a:xfrm xmlns:a="http://schemas.openxmlformats.org/drawingml/2006/main">
            <a:off x="457200" y="15621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CONTROL + CONTRACTS</a:t>
            </a:r>
          </a:p>
        </p:txBody>
      </p:sp>
      <p:sp>
        <p:nvSpPr>
          <p:cNvPr id="5" name="">
            <a:extLst xmlns:a="http://schemas.openxmlformats.org/drawingml/2006/main">
              <a:ext uri="{FF2B5EF4-FFF2-40B4-BE49-F238E27FC236}">
                <a16:creationId xmlns:a16="http://schemas.microsoft.com/office/drawing/2014/main" id="{93BE022B-9485-4C92-9DC7-4753322E1F2A}"/>
              </a:ext>
            </a:extLst>
          </p:cNvPr>
          <p:cNvSpPr>
            <a:spLocks xmlns:a="http://schemas.openxmlformats.org/drawingml/2006/main" noGrp="1"/>
          </p:cNvSpPr>
          <p:nvPr/>
        </p:nvSpPr>
        <p:spPr>
          <a:xfrm xmlns:a="http://schemas.openxmlformats.org/drawingml/2006/main">
            <a:off x="457200" y="20574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Python 3.11+</a:t>
            </a:r>
          </a:p>
        </p:txBody>
      </p:sp>
      <p:sp>
        <p:nvSpPr>
          <p:cNvPr id="6" name="">
            <a:extLst xmlns:a="http://schemas.openxmlformats.org/drawingml/2006/main">
              <a:ext uri="{FF2B5EF4-FFF2-40B4-BE49-F238E27FC236}">
                <a16:creationId xmlns:a16="http://schemas.microsoft.com/office/drawing/2014/main" id="{FC9E4C6E-DB7F-439A-BE2C-68581EDEA07E}"/>
              </a:ext>
            </a:extLst>
          </p:cNvPr>
          <p:cNvSpPr>
            <a:spLocks xmlns:a="http://schemas.openxmlformats.org/drawingml/2006/main" noGrp="1"/>
          </p:cNvSpPr>
          <p:nvPr/>
        </p:nvSpPr>
        <p:spPr>
          <a:xfrm xmlns:a="http://schemas.openxmlformats.org/drawingml/2006/main">
            <a:off x="2724150" y="2076450"/>
            <a:ext cx="2686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48"/>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Application logic, async execution, typed domain code</a:t>
            </a:r>
          </a:p>
        </p:txBody>
      </p:sp>
      <p:sp>
        <p:nvSpPr>
          <p:cNvPr id="7" name="">
            <a:extLst xmlns:a="http://schemas.openxmlformats.org/drawingml/2006/main">
              <a:ext uri="{FF2B5EF4-FFF2-40B4-BE49-F238E27FC236}">
                <a16:creationId xmlns:a16="http://schemas.microsoft.com/office/drawing/2014/main" id="{EA027453-7131-48C3-90B3-638B0857F968}"/>
              </a:ext>
            </a:extLst>
          </p:cNvPr>
          <p:cNvSpPr>
            <a:spLocks xmlns:a="http://schemas.openxmlformats.org/drawingml/2006/main" noGrp="1"/>
          </p:cNvSpPr>
          <p:nvPr/>
        </p:nvSpPr>
        <p:spPr>
          <a:xfrm xmlns:a="http://schemas.openxmlformats.org/drawingml/2006/main">
            <a:off x="457200" y="28956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LangGraph</a:t>
            </a:r>
          </a:p>
        </p:txBody>
      </p:sp>
      <p:sp>
        <p:nvSpPr>
          <p:cNvPr id="8" name="">
            <a:extLst xmlns:a="http://schemas.openxmlformats.org/drawingml/2006/main">
              <a:ext uri="{FF2B5EF4-FFF2-40B4-BE49-F238E27FC236}">
                <a16:creationId xmlns:a16="http://schemas.microsoft.com/office/drawing/2014/main" id="{E8FC820F-0D5D-45A2-AF77-B159C483C7AE}"/>
              </a:ext>
            </a:extLst>
          </p:cNvPr>
          <p:cNvSpPr>
            <a:spLocks xmlns:a="http://schemas.openxmlformats.org/drawingml/2006/main" noGrp="1"/>
          </p:cNvSpPr>
          <p:nvPr/>
        </p:nvSpPr>
        <p:spPr>
          <a:xfrm xmlns:a="http://schemas.openxmlformats.org/drawingml/2006/main">
            <a:off x="2724150" y="2914650"/>
            <a:ext cx="2686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Worker fan-out, reducers, conditional routing, checkpoints</a:t>
            </a:r>
          </a:p>
        </p:txBody>
      </p:sp>
      <p:sp>
        <p:nvSpPr>
          <p:cNvPr id="9" name="">
            <a:extLst xmlns:a="http://schemas.openxmlformats.org/drawingml/2006/main">
              <a:ext uri="{FF2B5EF4-FFF2-40B4-BE49-F238E27FC236}">
                <a16:creationId xmlns:a16="http://schemas.microsoft.com/office/drawing/2014/main" id="{3061832C-52A3-4587-A700-E29BFA442AC9}"/>
              </a:ext>
            </a:extLst>
          </p:cNvPr>
          <p:cNvSpPr>
            <a:spLocks xmlns:a="http://schemas.openxmlformats.org/drawingml/2006/main" noGrp="1"/>
          </p:cNvSpPr>
          <p:nvPr/>
        </p:nvSpPr>
        <p:spPr>
          <a:xfrm xmlns:a="http://schemas.openxmlformats.org/drawingml/2006/main">
            <a:off x="457200" y="38862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Pydantic</a:t>
            </a:r>
          </a:p>
        </p:txBody>
      </p:sp>
      <p:sp>
        <p:nvSpPr>
          <p:cNvPr id="10" name="">
            <a:extLst xmlns:a="http://schemas.openxmlformats.org/drawingml/2006/main">
              <a:ext uri="{FF2B5EF4-FFF2-40B4-BE49-F238E27FC236}">
                <a16:creationId xmlns:a16="http://schemas.microsoft.com/office/drawing/2014/main" id="{A16F237A-FA83-40B5-B15E-1734FDDF853C}"/>
              </a:ext>
            </a:extLst>
          </p:cNvPr>
          <p:cNvSpPr>
            <a:spLocks xmlns:a="http://schemas.openxmlformats.org/drawingml/2006/main" noGrp="1"/>
          </p:cNvSpPr>
          <p:nvPr/>
        </p:nvSpPr>
        <p:spPr>
          <a:xfrm xmlns:a="http://schemas.openxmlformats.org/drawingml/2006/main">
            <a:off x="2724150" y="3905250"/>
            <a:ext cx="2686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48"/>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Validation and repair for every Agent contract</a:t>
            </a:r>
          </a:p>
        </p:txBody>
      </p:sp>
      <p:sp>
        <p:nvSpPr>
          <p:cNvPr id="11" name="">
            <a:extLst xmlns:a="http://schemas.openxmlformats.org/drawingml/2006/main">
              <a:ext uri="{FF2B5EF4-FFF2-40B4-BE49-F238E27FC236}">
                <a16:creationId xmlns:a16="http://schemas.microsoft.com/office/drawing/2014/main" id="{6898AE59-7213-4031-8546-4C722457FCDA}"/>
              </a:ext>
            </a:extLst>
          </p:cNvPr>
          <p:cNvSpPr>
            <a:spLocks xmlns:a="http://schemas.openxmlformats.org/drawingml/2006/main" noGrp="1"/>
          </p:cNvSpPr>
          <p:nvPr/>
        </p:nvSpPr>
        <p:spPr>
          <a:xfrm xmlns:a="http://schemas.openxmlformats.org/drawingml/2006/main">
            <a:off x="457200" y="47244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SQLite + WAL</a:t>
            </a:r>
          </a:p>
        </p:txBody>
      </p:sp>
      <p:sp>
        <p:nvSpPr>
          <p:cNvPr id="12" name="">
            <a:extLst xmlns:a="http://schemas.openxmlformats.org/drawingml/2006/main">
              <a:ext uri="{FF2B5EF4-FFF2-40B4-BE49-F238E27FC236}">
                <a16:creationId xmlns:a16="http://schemas.microsoft.com/office/drawing/2014/main" id="{751CD1F5-4E0B-4C26-9036-2E06108CCAC4}"/>
              </a:ext>
            </a:extLst>
          </p:cNvPr>
          <p:cNvSpPr>
            <a:spLocks xmlns:a="http://schemas.openxmlformats.org/drawingml/2006/main" noGrp="1"/>
          </p:cNvSpPr>
          <p:nvPr/>
        </p:nvSpPr>
        <p:spPr>
          <a:xfrm xmlns:a="http://schemas.openxmlformats.org/drawingml/2006/main">
            <a:off x="2724150" y="4743450"/>
            <a:ext cx="2686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Checkpoint, evidence, operation, audit, telemetry durability</a:t>
            </a:r>
          </a:p>
        </p:txBody>
      </p:sp>
      <p:sp>
        <p:nvSpPr>
          <p:cNvPr id="13" name="">
            <a:extLst xmlns:a="http://schemas.openxmlformats.org/drawingml/2006/main">
              <a:ext uri="{FF2B5EF4-FFF2-40B4-BE49-F238E27FC236}">
                <a16:creationId xmlns:a16="http://schemas.microsoft.com/office/drawing/2014/main" id="{E43F3ED3-42F9-49D9-A42C-785FE58DD763}"/>
              </a:ext>
            </a:extLst>
          </p:cNvPr>
          <p:cNvSpPr>
            <a:spLocks xmlns:a="http://schemas.openxmlformats.org/drawingml/2006/main" noGrp="1"/>
          </p:cNvSpPr>
          <p:nvPr/>
        </p:nvSpPr>
        <p:spPr>
          <a:xfrm xmlns:a="http://schemas.openxmlformats.org/drawingml/2006/main">
            <a:off x="5810250" y="1562100"/>
            <a:ext cx="19050" cy="382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4" name="">
            <a:extLst xmlns:a="http://schemas.openxmlformats.org/drawingml/2006/main">
              <a:ext uri="{FF2B5EF4-FFF2-40B4-BE49-F238E27FC236}">
                <a16:creationId xmlns:a16="http://schemas.microsoft.com/office/drawing/2014/main" id="{1CBF853B-5764-4397-AB12-2292AED4788D}"/>
              </a:ext>
            </a:extLst>
          </p:cNvPr>
          <p:cNvSpPr>
            <a:spLocks xmlns:a="http://schemas.openxmlformats.org/drawingml/2006/main" noGrp="1"/>
          </p:cNvSpPr>
          <p:nvPr/>
        </p:nvSpPr>
        <p:spPr>
          <a:xfrm xmlns:a="http://schemas.openxmlformats.org/drawingml/2006/main">
            <a:off x="6286500" y="1562100"/>
            <a:ext cx="499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PROVIDERS BEHIND REPLACEABLE ADAPTERS</a:t>
            </a:r>
          </a:p>
        </p:txBody>
      </p:sp>
      <p:sp>
        <p:nvSpPr>
          <p:cNvPr id="15" name="">
            <a:extLst xmlns:a="http://schemas.openxmlformats.org/drawingml/2006/main">
              <a:ext uri="{FF2B5EF4-FFF2-40B4-BE49-F238E27FC236}">
                <a16:creationId xmlns:a16="http://schemas.microsoft.com/office/drawing/2014/main" id="{65C9B27B-8798-4FAC-8B7B-F081594D6BC2}"/>
              </a:ext>
            </a:extLst>
          </p:cNvPr>
          <p:cNvSpPr>
            <a:spLocks xmlns:a="http://schemas.openxmlformats.org/drawingml/2006/main" noGrp="1"/>
          </p:cNvSpPr>
          <p:nvPr/>
        </p:nvSpPr>
        <p:spPr>
          <a:xfrm xmlns:a="http://schemas.openxmlformats.org/drawingml/2006/main">
            <a:off x="6286500" y="20574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DeepSeek</a:t>
            </a:r>
          </a:p>
        </p:txBody>
      </p:sp>
      <p:sp>
        <p:nvSpPr>
          <p:cNvPr id="16" name="">
            <a:extLst xmlns:a="http://schemas.openxmlformats.org/drawingml/2006/main">
              <a:ext uri="{FF2B5EF4-FFF2-40B4-BE49-F238E27FC236}">
                <a16:creationId xmlns:a16="http://schemas.microsoft.com/office/drawing/2014/main" id="{13BE0787-1C25-445C-9697-80FF93B28E8B}"/>
              </a:ext>
            </a:extLst>
          </p:cNvPr>
          <p:cNvSpPr>
            <a:spLocks xmlns:a="http://schemas.openxmlformats.org/drawingml/2006/main" noGrp="1"/>
          </p:cNvSpPr>
          <p:nvPr/>
        </p:nvSpPr>
        <p:spPr>
          <a:xfrm xmlns:a="http://schemas.openxmlformats.org/drawingml/2006/main">
            <a:off x="8515350" y="2076450"/>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Pro for planning / audit; Flash for Worker / extraction</a:t>
            </a:r>
          </a:p>
        </p:txBody>
      </p:sp>
      <p:sp>
        <p:nvSpPr>
          <p:cNvPr id="17" name="">
            <a:extLst xmlns:a="http://schemas.openxmlformats.org/drawingml/2006/main">
              <a:ext uri="{FF2B5EF4-FFF2-40B4-BE49-F238E27FC236}">
                <a16:creationId xmlns:a16="http://schemas.microsoft.com/office/drawing/2014/main" id="{41576E08-8C93-4A55-B188-85DC55193677}"/>
              </a:ext>
            </a:extLst>
          </p:cNvPr>
          <p:cNvSpPr>
            <a:spLocks xmlns:a="http://schemas.openxmlformats.org/drawingml/2006/main" noGrp="1"/>
          </p:cNvSpPr>
          <p:nvPr/>
        </p:nvSpPr>
        <p:spPr>
          <a:xfrm xmlns:a="http://schemas.openxmlformats.org/drawingml/2006/main">
            <a:off x="6286500" y="31051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Tavily</a:t>
            </a:r>
          </a:p>
        </p:txBody>
      </p:sp>
      <p:sp>
        <p:nvSpPr>
          <p:cNvPr id="18" name="">
            <a:extLst xmlns:a="http://schemas.openxmlformats.org/drawingml/2006/main">
              <a:ext uri="{FF2B5EF4-FFF2-40B4-BE49-F238E27FC236}">
                <a16:creationId xmlns:a16="http://schemas.microsoft.com/office/drawing/2014/main" id="{7FC99FCD-F096-487D-AD67-BCCA1385D9DD}"/>
              </a:ext>
            </a:extLst>
          </p:cNvPr>
          <p:cNvSpPr>
            <a:spLocks xmlns:a="http://schemas.openxmlformats.org/drawingml/2006/main" noGrp="1"/>
          </p:cNvSpPr>
          <p:nvPr/>
        </p:nvSpPr>
        <p:spPr>
          <a:xfrm xmlns:a="http://schemas.openxmlformats.org/drawingml/2006/main">
            <a:off x="8515350" y="312420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48"/>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Web search plus full-page Markdown extraction</a:t>
            </a:r>
          </a:p>
        </p:txBody>
      </p:sp>
      <p:sp>
        <p:nvSpPr>
          <p:cNvPr id="19" name="">
            <a:extLst xmlns:a="http://schemas.openxmlformats.org/drawingml/2006/main">
              <a:ext uri="{FF2B5EF4-FFF2-40B4-BE49-F238E27FC236}">
                <a16:creationId xmlns:a16="http://schemas.microsoft.com/office/drawing/2014/main" id="{5CE542C3-0FC3-4E04-BAF7-E47A51B57882}"/>
              </a:ext>
            </a:extLst>
          </p:cNvPr>
          <p:cNvSpPr>
            <a:spLocks xmlns:a="http://schemas.openxmlformats.org/drawingml/2006/main" noGrp="1"/>
          </p:cNvSpPr>
          <p:nvPr/>
        </p:nvSpPr>
        <p:spPr>
          <a:xfrm xmlns:a="http://schemas.openxmlformats.org/drawingml/2006/main">
            <a:off x="6286500" y="40386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Local BM25</a:t>
            </a:r>
          </a:p>
        </p:txBody>
      </p:sp>
      <p:sp>
        <p:nvSpPr>
          <p:cNvPr id="20" name="">
            <a:extLst xmlns:a="http://schemas.openxmlformats.org/drawingml/2006/main">
              <a:ext uri="{FF2B5EF4-FFF2-40B4-BE49-F238E27FC236}">
                <a16:creationId xmlns:a16="http://schemas.microsoft.com/office/drawing/2014/main" id="{588A830A-811F-48E4-9F26-C767AD9DA5FE}"/>
              </a:ext>
            </a:extLst>
          </p:cNvPr>
          <p:cNvSpPr>
            <a:spLocks xmlns:a="http://schemas.openxmlformats.org/drawingml/2006/main" noGrp="1"/>
          </p:cNvSpPr>
          <p:nvPr/>
        </p:nvSpPr>
        <p:spPr>
          <a:xfrm xmlns:a="http://schemas.openxmlformats.org/drawingml/2006/main">
            <a:off x="8515350" y="405765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48"/>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Task-aware chunk selection before paid reasoning</a:t>
            </a:r>
          </a:p>
        </p:txBody>
      </p:sp>
      <p:sp>
        <p:nvSpPr>
          <p:cNvPr id="21" name="">
            <a:extLst xmlns:a="http://schemas.openxmlformats.org/drawingml/2006/main">
              <a:ext uri="{FF2B5EF4-FFF2-40B4-BE49-F238E27FC236}">
                <a16:creationId xmlns:a16="http://schemas.microsoft.com/office/drawing/2014/main" id="{1C1E4A55-CD44-4E78-8B1A-CF9D040719BB}"/>
              </a:ext>
            </a:extLst>
          </p:cNvPr>
          <p:cNvSpPr>
            <a:spLocks xmlns:a="http://schemas.openxmlformats.org/drawingml/2006/main" noGrp="1"/>
          </p:cNvSpPr>
          <p:nvPr/>
        </p:nvSpPr>
        <p:spPr>
          <a:xfrm xmlns:a="http://schemas.openxmlformats.org/drawingml/2006/main">
            <a:off x="6286500" y="49720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HTML outputs</a:t>
            </a:r>
          </a:p>
        </p:txBody>
      </p:sp>
      <p:sp>
        <p:nvSpPr>
          <p:cNvPr id="22" name="">
            <a:extLst xmlns:a="http://schemas.openxmlformats.org/drawingml/2006/main">
              <a:ext uri="{FF2B5EF4-FFF2-40B4-BE49-F238E27FC236}">
                <a16:creationId xmlns:a16="http://schemas.microsoft.com/office/drawing/2014/main" id="{8D7F9CD8-871A-453B-A9BF-320D23102A1F}"/>
              </a:ext>
            </a:extLst>
          </p:cNvPr>
          <p:cNvSpPr>
            <a:spLocks xmlns:a="http://schemas.openxmlformats.org/drawingml/2006/main" noGrp="1"/>
          </p:cNvSpPr>
          <p:nvPr/>
        </p:nvSpPr>
        <p:spPr>
          <a:xfrm xmlns:a="http://schemas.openxmlformats.org/drawingml/2006/main">
            <a:off x="8515350" y="49911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19"/>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Per-run research and model traces</a:t>
            </a:r>
          </a:p>
        </p:txBody>
      </p:sp>
      <p:sp>
        <p:nvSpPr>
          <p:cNvPr id="23" name="">
            <a:extLst xmlns:a="http://schemas.openxmlformats.org/drawingml/2006/main">
              <a:ext uri="{FF2B5EF4-FFF2-40B4-BE49-F238E27FC236}">
                <a16:creationId xmlns:a16="http://schemas.microsoft.com/office/drawing/2014/main" id="{B18C3C07-1F02-44F9-8D78-9778256DE60D}"/>
              </a:ext>
            </a:extLst>
          </p:cNvPr>
          <p:cNvSpPr>
            <a:spLocks xmlns:a="http://schemas.openxmlformats.org/drawingml/2006/main" noGrp="1"/>
          </p:cNvSpPr>
          <p:nvPr/>
        </p:nvSpPr>
        <p:spPr>
          <a:xfrm xmlns:a="http://schemas.openxmlformats.org/drawingml/2006/main">
            <a:off x="457200" y="5905500"/>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500" b="1">
                <a:solidFill>
                  <a:srgbClr val="111111"/>
                </a:solidFill>
                <a:latin typeface="Arial"/>
                <a:ea typeface="Arial"/>
                <a:cs typeface="Arial"/>
              </a:defRPr>
            </a:pPr>
            <a:r>
              <a:rPr sz="1500" b="1">
                <a:solidFill>
                  <a:srgbClr val="111111"/>
                </a:solidFill>
                <a:latin typeface="Arial"/>
                <a:ea typeface="Arial"/>
                <a:cs typeface="Arial"/>
              </a:rPr>
              <a:t>Frameworks coordinate; schemas define truth; SQLite preserves it; providers remain replaceable.</a:t>
            </a:r>
          </a:p>
        </p:txBody>
      </p:sp>
    </p:spTree>
    <p:extLst>
      <p:ext uri="{BB962C8B-B14F-4D97-AF65-F5344CB8AC3E}">
        <p14:creationId xmlns:p14="http://schemas.microsoft.com/office/powerpoint/2010/main" val="181438440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9F8ABFA-F04A-4660-B141-4E9BC717B1B0}"/>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DESIGN HIGHLIGHT · LAYERED MEMORY</a:t>
            </a:r>
          </a:p>
        </p:txBody>
      </p:sp>
      <p:sp>
        <p:nvSpPr>
          <p:cNvPr id="2" name="">
            <a:extLst xmlns:a="http://schemas.openxmlformats.org/drawingml/2006/main">
              <a:ext uri="{FF2B5EF4-FFF2-40B4-BE49-F238E27FC236}">
                <a16:creationId xmlns:a16="http://schemas.microsoft.com/office/drawing/2014/main" id="{0725D056-2E4B-423C-8181-B9DD411598A2}"/>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Different memories answer different questions</a:t>
            </a:r>
          </a:p>
        </p:txBody>
      </p:sp>
      <p:sp>
        <p:nvSpPr>
          <p:cNvPr id="3" name="">
            <a:extLst xmlns:a="http://schemas.openxmlformats.org/drawingml/2006/main">
              <a:ext uri="{FF2B5EF4-FFF2-40B4-BE49-F238E27FC236}">
                <a16:creationId xmlns:a16="http://schemas.microsoft.com/office/drawing/2014/main" id="{050FBBA6-702C-44F8-8F8D-5FD5B9A06C05}"/>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C6630AF3-FFBD-47FA-AFEC-C1048AD8679D}"/>
              </a:ext>
            </a:extLst>
          </p:cNvPr>
          <p:cNvSpPr>
            <a:spLocks xmlns:a="http://schemas.openxmlformats.org/drawingml/2006/main" noGrp="1"/>
          </p:cNvSpPr>
          <p:nvPr/>
        </p:nvSpPr>
        <p:spPr>
          <a:xfrm xmlns:a="http://schemas.openxmlformats.org/drawingml/2006/main">
            <a:off x="457200" y="1524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CONTROL MEMORY</a:t>
            </a:r>
          </a:p>
        </p:txBody>
      </p:sp>
      <p:sp>
        <p:nvSpPr>
          <p:cNvPr id="5" name="">
            <a:extLst xmlns:a="http://schemas.openxmlformats.org/drawingml/2006/main">
              <a:ext uri="{FF2B5EF4-FFF2-40B4-BE49-F238E27FC236}">
                <a16:creationId xmlns:a16="http://schemas.microsoft.com/office/drawing/2014/main" id="{D3C16E09-6C17-454C-A321-55DFC321ABCC}"/>
              </a:ext>
            </a:extLst>
          </p:cNvPr>
          <p:cNvSpPr>
            <a:spLocks xmlns:a="http://schemas.openxmlformats.org/drawingml/2006/main" noGrp="1"/>
          </p:cNvSpPr>
          <p:nvPr/>
        </p:nvSpPr>
        <p:spPr>
          <a:xfrm xmlns:a="http://schemas.openxmlformats.org/drawingml/2006/main">
            <a:off x="457200" y="1866900"/>
            <a:ext cx="4762500" cy="1905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6" name="">
            <a:extLst xmlns:a="http://schemas.openxmlformats.org/drawingml/2006/main">
              <a:ext uri="{FF2B5EF4-FFF2-40B4-BE49-F238E27FC236}">
                <a16:creationId xmlns:a16="http://schemas.microsoft.com/office/drawing/2014/main" id="{26745964-C843-4C04-BDB7-FB3201CBAB93}"/>
              </a:ext>
            </a:extLst>
          </p:cNvPr>
          <p:cNvSpPr>
            <a:spLocks xmlns:a="http://schemas.openxmlformats.org/drawingml/2006/main" noGrp="1"/>
          </p:cNvSpPr>
          <p:nvPr/>
        </p:nvSpPr>
        <p:spPr>
          <a:xfrm xmlns:a="http://schemas.openxmlformats.org/drawingml/2006/main">
            <a:off x="457200" y="21145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Working — GraphState</a:t>
            </a:r>
          </a:p>
        </p:txBody>
      </p:sp>
      <p:sp>
        <p:nvSpPr>
          <p:cNvPr id="7" name="">
            <a:extLst xmlns:a="http://schemas.openxmlformats.org/drawingml/2006/main">
              <a:ext uri="{FF2B5EF4-FFF2-40B4-BE49-F238E27FC236}">
                <a16:creationId xmlns:a16="http://schemas.microsoft.com/office/drawing/2014/main" id="{676C3FB4-9BA4-4A3B-90CC-8AB755E4FC5F}"/>
              </a:ext>
            </a:extLst>
          </p:cNvPr>
          <p:cNvSpPr>
            <a:spLocks xmlns:a="http://schemas.openxmlformats.org/drawingml/2006/main" noGrp="1"/>
          </p:cNvSpPr>
          <p:nvPr/>
        </p:nvSpPr>
        <p:spPr>
          <a:xfrm xmlns:a="http://schemas.openxmlformats.org/drawingml/2006/main">
            <a:off x="457200" y="2514600"/>
            <a:ext cx="4762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 What is happening now?</a:t>
            </a:r>
          </a:p>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 Current node, task status, evidence IDs, audit, and research round</a:t>
            </a:r>
          </a:p>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 Small and fast: it carries control pointers, not full page text</a:t>
            </a:r>
          </a:p>
        </p:txBody>
      </p:sp>
      <p:sp>
        <p:nvSpPr>
          <p:cNvPr id="8" name="">
            <a:extLst xmlns:a="http://schemas.openxmlformats.org/drawingml/2006/main">
              <a:ext uri="{FF2B5EF4-FFF2-40B4-BE49-F238E27FC236}">
                <a16:creationId xmlns:a16="http://schemas.microsoft.com/office/drawing/2014/main" id="{EE1849A0-C875-4F42-994F-32EFD6097B64}"/>
              </a:ext>
            </a:extLst>
          </p:cNvPr>
          <p:cNvSpPr>
            <a:spLocks xmlns:a="http://schemas.openxmlformats.org/drawingml/2006/main" noGrp="1"/>
          </p:cNvSpPr>
          <p:nvPr/>
        </p:nvSpPr>
        <p:spPr>
          <a:xfrm xmlns:a="http://schemas.openxmlformats.org/drawingml/2006/main">
            <a:off x="457200" y="40005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Episodic — checkpoints.sqlite</a:t>
            </a:r>
          </a:p>
        </p:txBody>
      </p:sp>
      <p:sp>
        <p:nvSpPr>
          <p:cNvPr id="9" name="">
            <a:extLst xmlns:a="http://schemas.openxmlformats.org/drawingml/2006/main">
              <a:ext uri="{FF2B5EF4-FFF2-40B4-BE49-F238E27FC236}">
                <a16:creationId xmlns:a16="http://schemas.microsoft.com/office/drawing/2014/main" id="{C34F3E84-97B9-495B-B231-41459678F80D}"/>
              </a:ext>
            </a:extLst>
          </p:cNvPr>
          <p:cNvSpPr>
            <a:spLocks xmlns:a="http://schemas.openxmlformats.org/drawingml/2006/main" noGrp="1"/>
          </p:cNvSpPr>
          <p:nvPr/>
        </p:nvSpPr>
        <p:spPr>
          <a:xfrm xmlns:a="http://schemas.openxmlformats.org/drawingml/2006/main">
            <a:off x="457200" y="4400550"/>
            <a:ext cx="4762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 Where can the workflow resume?</a:t>
            </a:r>
          </a:p>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 Graph snapshots and pending writes for each superstep</a:t>
            </a:r>
          </a:p>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 Restores the latest consistent execution position</a:t>
            </a:r>
          </a:p>
        </p:txBody>
      </p:sp>
      <p:sp>
        <p:nvSpPr>
          <p:cNvPr id="10" name="">
            <a:extLst xmlns:a="http://schemas.openxmlformats.org/drawingml/2006/main">
              <a:ext uri="{FF2B5EF4-FFF2-40B4-BE49-F238E27FC236}">
                <a16:creationId xmlns:a16="http://schemas.microsoft.com/office/drawing/2014/main" id="{5AE59EDA-E083-4E8B-9487-78F570DE9922}"/>
              </a:ext>
            </a:extLst>
          </p:cNvPr>
          <p:cNvSpPr>
            <a:spLocks xmlns:a="http://schemas.openxmlformats.org/drawingml/2006/main" noGrp="1"/>
          </p:cNvSpPr>
          <p:nvPr/>
        </p:nvSpPr>
        <p:spPr>
          <a:xfrm xmlns:a="http://schemas.openxmlformats.org/drawingml/2006/main">
            <a:off x="6191250" y="1524000"/>
            <a:ext cx="508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DURABLE RUN MEMORY</a:t>
            </a:r>
          </a:p>
        </p:txBody>
      </p:sp>
      <p:sp>
        <p:nvSpPr>
          <p:cNvPr id="11" name="">
            <a:extLst xmlns:a="http://schemas.openxmlformats.org/drawingml/2006/main">
              <a:ext uri="{FF2B5EF4-FFF2-40B4-BE49-F238E27FC236}">
                <a16:creationId xmlns:a16="http://schemas.microsoft.com/office/drawing/2014/main" id="{79E5503E-FA5A-4FEF-B906-FA0E4BE4C90B}"/>
              </a:ext>
            </a:extLst>
          </p:cNvPr>
          <p:cNvSpPr>
            <a:spLocks xmlns:a="http://schemas.openxmlformats.org/drawingml/2006/main" noGrp="1"/>
          </p:cNvSpPr>
          <p:nvPr/>
        </p:nvSpPr>
        <p:spPr>
          <a:xfrm xmlns:a="http://schemas.openxmlformats.org/drawingml/2006/main">
            <a:off x="6191250" y="1866900"/>
            <a:ext cx="5086350" cy="1905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12" name="">
            <a:extLst xmlns:a="http://schemas.openxmlformats.org/drawingml/2006/main">
              <a:ext uri="{FF2B5EF4-FFF2-40B4-BE49-F238E27FC236}">
                <a16:creationId xmlns:a16="http://schemas.microsoft.com/office/drawing/2014/main" id="{31802B9C-962A-4D7D-BD3B-A9E53152B181}"/>
              </a:ext>
            </a:extLst>
          </p:cNvPr>
          <p:cNvSpPr>
            <a:spLocks xmlns:a="http://schemas.openxmlformats.org/drawingml/2006/main" noGrp="1"/>
          </p:cNvSpPr>
          <p:nvPr/>
        </p:nvSpPr>
        <p:spPr>
          <a:xfrm xmlns:a="http://schemas.openxmlformats.org/drawingml/2006/main">
            <a:off x="6191250" y="2114550"/>
            <a:ext cx="5086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Semantic — research.sqlite</a:t>
            </a:r>
          </a:p>
        </p:txBody>
      </p:sp>
      <p:sp>
        <p:nvSpPr>
          <p:cNvPr id="13" name="">
            <a:extLst xmlns:a="http://schemas.openxmlformats.org/drawingml/2006/main">
              <a:ext uri="{FF2B5EF4-FFF2-40B4-BE49-F238E27FC236}">
                <a16:creationId xmlns:a16="http://schemas.microsoft.com/office/drawing/2014/main" id="{288F96F7-D40A-4BFB-8306-0405FF2EE561}"/>
              </a:ext>
            </a:extLst>
          </p:cNvPr>
          <p:cNvSpPr>
            <a:spLocks xmlns:a="http://schemas.openxmlformats.org/drawingml/2006/main" noGrp="1"/>
          </p:cNvSpPr>
          <p:nvPr/>
        </p:nvSpPr>
        <p:spPr>
          <a:xfrm xmlns:a="http://schemas.openxmlformats.org/drawingml/2006/main">
            <a:off x="6191250" y="2514600"/>
            <a:ext cx="508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 What did the run learn? Full pages, evidence, assessments, audits, and digests</a:t>
            </a:r>
          </a:p>
        </p:txBody>
      </p:sp>
      <p:sp>
        <p:nvSpPr>
          <p:cNvPr id="14" name="">
            <a:extLst xmlns:a="http://schemas.openxmlformats.org/drawingml/2006/main">
              <a:ext uri="{FF2B5EF4-FFF2-40B4-BE49-F238E27FC236}">
                <a16:creationId xmlns:a16="http://schemas.microsoft.com/office/drawing/2014/main" id="{0D14C403-1E95-4B9D-9C72-1F981DD9008F}"/>
              </a:ext>
            </a:extLst>
          </p:cNvPr>
          <p:cNvSpPr>
            <a:spLocks xmlns:a="http://schemas.openxmlformats.org/drawingml/2006/main" noGrp="1"/>
          </p:cNvSpPr>
          <p:nvPr/>
        </p:nvSpPr>
        <p:spPr>
          <a:xfrm xmlns:a="http://schemas.openxmlformats.org/drawingml/2006/main">
            <a:off x="6191250" y="3371850"/>
            <a:ext cx="5086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Procedural — research.sqlite.operations</a:t>
            </a:r>
          </a:p>
        </p:txBody>
      </p:sp>
      <p:sp>
        <p:nvSpPr>
          <p:cNvPr id="15" name="">
            <a:extLst xmlns:a="http://schemas.openxmlformats.org/drawingml/2006/main">
              <a:ext uri="{FF2B5EF4-FFF2-40B4-BE49-F238E27FC236}">
                <a16:creationId xmlns:a16="http://schemas.microsoft.com/office/drawing/2014/main" id="{971AF0E6-2879-4C2C-B336-24F69E9FD781}"/>
              </a:ext>
            </a:extLst>
          </p:cNvPr>
          <p:cNvSpPr>
            <a:spLocks xmlns:a="http://schemas.openxmlformats.org/drawingml/2006/main" noGrp="1"/>
          </p:cNvSpPr>
          <p:nvPr/>
        </p:nvSpPr>
        <p:spPr>
          <a:xfrm xmlns:a="http://schemas.openxmlformats.org/drawingml/2006/main">
            <a:off x="6191250" y="3771900"/>
            <a:ext cx="508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 What paid work already succeeded? Cached request / response pairs enable replay-safe execution</a:t>
            </a:r>
          </a:p>
        </p:txBody>
      </p:sp>
      <p:sp>
        <p:nvSpPr>
          <p:cNvPr id="16" name="">
            <a:extLst xmlns:a="http://schemas.openxmlformats.org/drawingml/2006/main">
              <a:ext uri="{FF2B5EF4-FFF2-40B4-BE49-F238E27FC236}">
                <a16:creationId xmlns:a16="http://schemas.microsoft.com/office/drawing/2014/main" id="{8FB603FC-0724-42B7-973A-D49094D78766}"/>
              </a:ext>
            </a:extLst>
          </p:cNvPr>
          <p:cNvSpPr>
            <a:spLocks xmlns:a="http://schemas.openxmlformats.org/drawingml/2006/main" noGrp="1"/>
          </p:cNvSpPr>
          <p:nvPr/>
        </p:nvSpPr>
        <p:spPr>
          <a:xfrm xmlns:a="http://schemas.openxmlformats.org/drawingml/2006/main">
            <a:off x="6191250" y="4629150"/>
            <a:ext cx="5086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Telemetry — model_gateway.sqlite</a:t>
            </a:r>
          </a:p>
        </p:txBody>
      </p:sp>
      <p:sp>
        <p:nvSpPr>
          <p:cNvPr id="17" name="">
            <a:extLst xmlns:a="http://schemas.openxmlformats.org/drawingml/2006/main">
              <a:ext uri="{FF2B5EF4-FFF2-40B4-BE49-F238E27FC236}">
                <a16:creationId xmlns:a16="http://schemas.microsoft.com/office/drawing/2014/main" id="{E75A3D2B-FA89-462C-8E61-5D97DEDA92AC}"/>
              </a:ext>
            </a:extLst>
          </p:cNvPr>
          <p:cNvSpPr>
            <a:spLocks xmlns:a="http://schemas.openxmlformats.org/drawingml/2006/main" noGrp="1"/>
          </p:cNvSpPr>
          <p:nvPr/>
        </p:nvSpPr>
        <p:spPr>
          <a:xfrm xmlns:a="http://schemas.openxmlformats.org/drawingml/2006/main">
            <a:off x="6191250" y="5029200"/>
            <a:ext cx="508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 What did each model call cost? Route, attempts, tokens, context, latency, and errors</a:t>
            </a:r>
          </a:p>
        </p:txBody>
      </p:sp>
      <p:sp>
        <p:nvSpPr>
          <p:cNvPr id="18" name="">
            <a:extLst xmlns:a="http://schemas.openxmlformats.org/drawingml/2006/main">
              <a:ext uri="{FF2B5EF4-FFF2-40B4-BE49-F238E27FC236}">
                <a16:creationId xmlns:a16="http://schemas.microsoft.com/office/drawing/2014/main" id="{9F9FA838-7EE9-4AA8-9DFA-8F7CB129AA30}"/>
              </a:ext>
            </a:extLst>
          </p:cNvPr>
          <p:cNvSpPr>
            <a:spLocks xmlns:a="http://schemas.openxmlformats.org/drawingml/2006/main" noGrp="1"/>
          </p:cNvSpPr>
          <p:nvPr/>
        </p:nvSpPr>
        <p:spPr>
          <a:xfrm xmlns:a="http://schemas.openxmlformats.org/drawingml/2006/main">
            <a:off x="457200" y="5962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Five logical memories, three physical databases — durable across restarts, but primarily scoped to one research run.</a:t>
            </a:r>
          </a:p>
        </p:txBody>
      </p:sp>
    </p:spTree>
    <p:extLst>
      <p:ext uri="{BB962C8B-B14F-4D97-AF65-F5344CB8AC3E}">
        <p14:creationId xmlns:p14="http://schemas.microsoft.com/office/powerpoint/2010/main" val="10102341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16FED97-0856-430B-B194-D08DF5177DBF}"/>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MEMORY DEEP DIVE · SEMANTIC MEMORY</a:t>
            </a:r>
          </a:p>
        </p:txBody>
      </p:sp>
      <p:sp>
        <p:nvSpPr>
          <p:cNvPr id="2" name="">
            <a:extLst xmlns:a="http://schemas.openxmlformats.org/drawingml/2006/main">
              <a:ext uri="{FF2B5EF4-FFF2-40B4-BE49-F238E27FC236}">
                <a16:creationId xmlns:a16="http://schemas.microsoft.com/office/drawing/2014/main" id="{8C7A0F8F-EA76-4A90-AC40-15EE86EF4581}"/>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Semantic memory is an evidence ledger—not chat history</a:t>
            </a:r>
          </a:p>
        </p:txBody>
      </p:sp>
      <p:sp>
        <p:nvSpPr>
          <p:cNvPr id="3" name="">
            <a:extLst xmlns:a="http://schemas.openxmlformats.org/drawingml/2006/main">
              <a:ext uri="{FF2B5EF4-FFF2-40B4-BE49-F238E27FC236}">
                <a16:creationId xmlns:a16="http://schemas.microsoft.com/office/drawing/2014/main" id="{701FD6B4-45FF-439B-B63D-621EEC18EDB6}"/>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0D29EF5D-CD47-4B39-9674-41056FA29521}"/>
              </a:ext>
            </a:extLst>
          </p:cNvPr>
          <p:cNvSpPr>
            <a:spLocks xmlns:a="http://schemas.openxmlformats.org/drawingml/2006/main" noGrp="1"/>
          </p:cNvSpPr>
          <p:nvPr/>
        </p:nvSpPr>
        <p:spPr>
          <a:xfrm xmlns:a="http://schemas.openxmlformats.org/drawingml/2006/main">
            <a:off x="457200" y="15621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WHY RAW PAGES ARE NOT ENOUGH</a:t>
            </a:r>
          </a:p>
        </p:txBody>
      </p:sp>
      <p:sp>
        <p:nvSpPr>
          <p:cNvPr id="5" name="">
            <a:extLst xmlns:a="http://schemas.openxmlformats.org/drawingml/2006/main">
              <a:ext uri="{FF2B5EF4-FFF2-40B4-BE49-F238E27FC236}">
                <a16:creationId xmlns:a16="http://schemas.microsoft.com/office/drawing/2014/main" id="{BCDF547A-4032-4330-99B9-8729C9D51139}"/>
              </a:ext>
            </a:extLst>
          </p:cNvPr>
          <p:cNvSpPr>
            <a:spLocks xmlns:a="http://schemas.openxmlformats.org/drawingml/2006/main" noGrp="1"/>
          </p:cNvSpPr>
          <p:nvPr/>
        </p:nvSpPr>
        <p:spPr>
          <a:xfrm xmlns:a="http://schemas.openxmlformats.org/drawingml/2006/main">
            <a:off x="457200" y="2019300"/>
            <a:ext cx="4953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 A page is large and noisy; only a few passages may answer the task.</a:t>
            </a:r>
          </a:p>
          <a:p xmlns:a="http://schemas.openxmlformats.org/drawingml/2006/main">
            <a:r>
              <a:t/>
            </a:r>
          </a:p>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 A conclusion needs the exact quote, URL, source quality, and task provenance.</a:t>
            </a:r>
          </a:p>
          <a:p xmlns:a="http://schemas.openxmlformats.org/drawingml/2006/main">
            <a:r>
              <a:t/>
            </a:r>
          </a:p>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 Later Agents need selective retrieval—not the entire browsing history.</a:t>
            </a:r>
          </a:p>
        </p:txBody>
      </p:sp>
      <p:sp>
        <p:nvSpPr>
          <p:cNvPr id="6" name="">
            <a:extLst xmlns:a="http://schemas.openxmlformats.org/drawingml/2006/main">
              <a:ext uri="{FF2B5EF4-FFF2-40B4-BE49-F238E27FC236}">
                <a16:creationId xmlns:a16="http://schemas.microsoft.com/office/drawing/2014/main" id="{5711287F-F8A3-4162-BD26-B8F19F7A032B}"/>
              </a:ext>
            </a:extLst>
          </p:cNvPr>
          <p:cNvSpPr>
            <a:spLocks xmlns:a="http://schemas.openxmlformats.org/drawingml/2006/main" noGrp="1"/>
          </p:cNvSpPr>
          <p:nvPr/>
        </p:nvSpPr>
        <p:spPr>
          <a:xfrm xmlns:a="http://schemas.openxmlformats.org/drawingml/2006/main">
            <a:off x="6191250" y="1562100"/>
            <a:ext cx="508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WHAT RESEARCH.SQLITE PRESERVES</a:t>
            </a:r>
          </a:p>
        </p:txBody>
      </p:sp>
      <p:sp>
        <p:nvSpPr>
          <p:cNvPr id="7" name="">
            <a:extLst xmlns:a="http://schemas.openxmlformats.org/drawingml/2006/main">
              <a:ext uri="{FF2B5EF4-FFF2-40B4-BE49-F238E27FC236}">
                <a16:creationId xmlns:a16="http://schemas.microsoft.com/office/drawing/2014/main" id="{A1EA5F29-D3E7-46E6-A8FD-AED9B09D7776}"/>
              </a:ext>
            </a:extLst>
          </p:cNvPr>
          <p:cNvSpPr>
            <a:spLocks xmlns:a="http://schemas.openxmlformats.org/drawingml/2006/main" noGrp="1"/>
          </p:cNvSpPr>
          <p:nvPr/>
        </p:nvSpPr>
        <p:spPr>
          <a:xfrm xmlns:a="http://schemas.openxmlformats.org/drawingml/2006/main">
            <a:off x="6191250" y="20383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Source records</a:t>
            </a:r>
          </a:p>
        </p:txBody>
      </p:sp>
      <p:sp>
        <p:nvSpPr>
          <p:cNvPr id="8" name="">
            <a:extLst xmlns:a="http://schemas.openxmlformats.org/drawingml/2006/main">
              <a:ext uri="{FF2B5EF4-FFF2-40B4-BE49-F238E27FC236}">
                <a16:creationId xmlns:a16="http://schemas.microsoft.com/office/drawing/2014/main" id="{64C566C7-821F-48F2-8C54-705BFB608BB8}"/>
              </a:ext>
            </a:extLst>
          </p:cNvPr>
          <p:cNvSpPr>
            <a:spLocks xmlns:a="http://schemas.openxmlformats.org/drawingml/2006/main" noGrp="1"/>
          </p:cNvSpPr>
          <p:nvPr/>
        </p:nvSpPr>
        <p:spPr>
          <a:xfrm xmlns:a="http://schemas.openxmlformats.org/drawingml/2006/main">
            <a:off x="8305800" y="2057400"/>
            <a:ext cx="2971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647"/>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URL, title, full page text, retrieval status</a:t>
            </a:r>
          </a:p>
        </p:txBody>
      </p:sp>
      <p:sp>
        <p:nvSpPr>
          <p:cNvPr id="9" name="">
            <a:extLst xmlns:a="http://schemas.openxmlformats.org/drawingml/2006/main">
              <a:ext uri="{FF2B5EF4-FFF2-40B4-BE49-F238E27FC236}">
                <a16:creationId xmlns:a16="http://schemas.microsoft.com/office/drawing/2014/main" id="{73D4C6FC-1A3B-46FE-9864-9AA29152F86A}"/>
              </a:ext>
            </a:extLst>
          </p:cNvPr>
          <p:cNvSpPr>
            <a:spLocks xmlns:a="http://schemas.openxmlformats.org/drawingml/2006/main" noGrp="1"/>
          </p:cNvSpPr>
          <p:nvPr/>
        </p:nvSpPr>
        <p:spPr>
          <a:xfrm xmlns:a="http://schemas.openxmlformats.org/drawingml/2006/main">
            <a:off x="6191250" y="28003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Evidence atoms</a:t>
            </a:r>
          </a:p>
        </p:txBody>
      </p:sp>
      <p:sp>
        <p:nvSpPr>
          <p:cNvPr id="10" name="">
            <a:extLst xmlns:a="http://schemas.openxmlformats.org/drawingml/2006/main">
              <a:ext uri="{FF2B5EF4-FFF2-40B4-BE49-F238E27FC236}">
                <a16:creationId xmlns:a16="http://schemas.microsoft.com/office/drawing/2014/main" id="{B7E79134-3E91-47B5-B664-A56A13B8ABE4}"/>
              </a:ext>
            </a:extLst>
          </p:cNvPr>
          <p:cNvSpPr>
            <a:spLocks xmlns:a="http://schemas.openxmlformats.org/drawingml/2006/main" noGrp="1"/>
          </p:cNvSpPr>
          <p:nvPr/>
        </p:nvSpPr>
        <p:spPr>
          <a:xfrm xmlns:a="http://schemas.openxmlformats.org/drawingml/2006/main">
            <a:off x="8305800" y="2819400"/>
            <a:ext cx="2971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Claim, verbatim quote, source ID, task ID, quality signals</a:t>
            </a:r>
          </a:p>
        </p:txBody>
      </p:sp>
      <p:sp>
        <p:nvSpPr>
          <p:cNvPr id="11" name="">
            <a:extLst xmlns:a="http://schemas.openxmlformats.org/drawingml/2006/main">
              <a:ext uri="{FF2B5EF4-FFF2-40B4-BE49-F238E27FC236}">
                <a16:creationId xmlns:a16="http://schemas.microsoft.com/office/drawing/2014/main" id="{2FEFC72D-9F46-4983-8434-4A1BD1F6B448}"/>
              </a:ext>
            </a:extLst>
          </p:cNvPr>
          <p:cNvSpPr>
            <a:spLocks xmlns:a="http://schemas.openxmlformats.org/drawingml/2006/main" noGrp="1"/>
          </p:cNvSpPr>
          <p:nvPr/>
        </p:nvSpPr>
        <p:spPr>
          <a:xfrm xmlns:a="http://schemas.openxmlformats.org/drawingml/2006/main">
            <a:off x="6191250" y="36957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Research judgments</a:t>
            </a:r>
          </a:p>
        </p:txBody>
      </p:sp>
      <p:sp>
        <p:nvSpPr>
          <p:cNvPr id="12" name="">
            <a:extLst xmlns:a="http://schemas.openxmlformats.org/drawingml/2006/main">
              <a:ext uri="{FF2B5EF4-FFF2-40B4-BE49-F238E27FC236}">
                <a16:creationId xmlns:a16="http://schemas.microsoft.com/office/drawing/2014/main" id="{225B431A-A89A-4A64-B361-6766994B65A2}"/>
              </a:ext>
            </a:extLst>
          </p:cNvPr>
          <p:cNvSpPr>
            <a:spLocks xmlns:a="http://schemas.openxmlformats.org/drawingml/2006/main" noGrp="1"/>
          </p:cNvSpPr>
          <p:nvPr/>
        </p:nvSpPr>
        <p:spPr>
          <a:xfrm xmlns:a="http://schemas.openxmlformats.org/drawingml/2006/main">
            <a:off x="8305800" y="3714750"/>
            <a:ext cx="2971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Source assessments, audit findings, conflicts, and digests</a:t>
            </a:r>
          </a:p>
        </p:txBody>
      </p:sp>
      <p:sp>
        <p:nvSpPr>
          <p:cNvPr id="13" name="">
            <a:extLst xmlns:a="http://schemas.openxmlformats.org/drawingml/2006/main">
              <a:ext uri="{FF2B5EF4-FFF2-40B4-BE49-F238E27FC236}">
                <a16:creationId xmlns:a16="http://schemas.microsoft.com/office/drawing/2014/main" id="{E808206C-7FA9-446C-AD30-779F1A9832C3}"/>
              </a:ext>
            </a:extLst>
          </p:cNvPr>
          <p:cNvSpPr>
            <a:spLocks xmlns:a="http://schemas.openxmlformats.org/drawingml/2006/main" noGrp="1"/>
          </p:cNvSpPr>
          <p:nvPr/>
        </p:nvSpPr>
        <p:spPr>
          <a:xfrm xmlns:a="http://schemas.openxmlformats.org/drawingml/2006/main">
            <a:off x="457200" y="4800600"/>
            <a:ext cx="108204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4" name="">
            <a:extLst xmlns:a="http://schemas.openxmlformats.org/drawingml/2006/main">
              <a:ext uri="{FF2B5EF4-FFF2-40B4-BE49-F238E27FC236}">
                <a16:creationId xmlns:a16="http://schemas.microsoft.com/office/drawing/2014/main" id="{DE08808F-9BD4-4439-A7AC-CB76F14C38D8}"/>
              </a:ext>
            </a:extLst>
          </p:cNvPr>
          <p:cNvSpPr>
            <a:spLocks xmlns:a="http://schemas.openxmlformats.org/drawingml/2006/main" noGrp="1"/>
          </p:cNvSpPr>
          <p:nvPr/>
        </p:nvSpPr>
        <p:spPr>
          <a:xfrm xmlns:a="http://schemas.openxmlformats.org/drawingml/2006/main">
            <a:off x="457200" y="50673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HOW IT BECOMES AGENT CONTEXT</a:t>
            </a:r>
          </a:p>
        </p:txBody>
      </p:sp>
      <p:sp>
        <p:nvSpPr>
          <p:cNvPr id="15" name="">
            <a:extLst xmlns:a="http://schemas.openxmlformats.org/drawingml/2006/main">
              <a:ext uri="{FF2B5EF4-FFF2-40B4-BE49-F238E27FC236}">
                <a16:creationId xmlns:a16="http://schemas.microsoft.com/office/drawing/2014/main" id="{79B2D301-B197-4BE5-B37F-BE27B17FD1D4}"/>
              </a:ext>
            </a:extLst>
          </p:cNvPr>
          <p:cNvSpPr>
            <a:spLocks xmlns:a="http://schemas.openxmlformats.org/drawingml/2006/main" noGrp="1"/>
          </p:cNvSpPr>
          <p:nvPr/>
        </p:nvSpPr>
        <p:spPr>
          <a:xfrm xmlns:a="http://schemas.openxmlformats.org/drawingml/2006/main">
            <a:off x="457200" y="5486400"/>
            <a:ext cx="333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630"/>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1  Worker persists full sources and atomic evidence</a:t>
            </a:r>
          </a:p>
        </p:txBody>
      </p:sp>
      <p:sp>
        <p:nvSpPr>
          <p:cNvPr id="16" name="">
            <a:extLst xmlns:a="http://schemas.openxmlformats.org/drawingml/2006/main">
              <a:ext uri="{FF2B5EF4-FFF2-40B4-BE49-F238E27FC236}">
                <a16:creationId xmlns:a16="http://schemas.microsoft.com/office/drawing/2014/main" id="{91DAFCC1-A069-4C4B-90DE-A30583489F03}"/>
              </a:ext>
            </a:extLst>
          </p:cNvPr>
          <p:cNvSpPr>
            <a:spLocks xmlns:a="http://schemas.openxmlformats.org/drawingml/2006/main" noGrp="1"/>
          </p:cNvSpPr>
          <p:nvPr/>
        </p:nvSpPr>
        <p:spPr>
          <a:xfrm xmlns:a="http://schemas.openxmlformats.org/drawingml/2006/main">
            <a:off x="4171950" y="5486400"/>
            <a:ext cx="295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58"/>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2  GraphState carries only evidence IDs</a:t>
            </a:r>
          </a:p>
        </p:txBody>
      </p:sp>
      <p:sp>
        <p:nvSpPr>
          <p:cNvPr id="17" name="">
            <a:extLst xmlns:a="http://schemas.openxmlformats.org/drawingml/2006/main">
              <a:ext uri="{FF2B5EF4-FFF2-40B4-BE49-F238E27FC236}">
                <a16:creationId xmlns:a16="http://schemas.microsoft.com/office/drawing/2014/main" id="{3B146E47-5CB6-4632-BE2D-97315B7BF95E}"/>
              </a:ext>
            </a:extLst>
          </p:cNvPr>
          <p:cNvSpPr>
            <a:spLocks xmlns:a="http://schemas.openxmlformats.org/drawingml/2006/main" noGrp="1"/>
          </p:cNvSpPr>
          <p:nvPr/>
        </p:nvSpPr>
        <p:spPr>
          <a:xfrm xmlns:a="http://schemas.openxmlformats.org/drawingml/2006/main">
            <a:off x="7505700" y="5486400"/>
            <a:ext cx="3771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3  Runtime reloads the smallest relevant set for Audit, Report, or follow-up</a:t>
            </a:r>
          </a:p>
        </p:txBody>
      </p:sp>
    </p:spTree>
    <p:extLst>
      <p:ext uri="{BB962C8B-B14F-4D97-AF65-F5344CB8AC3E}">
        <p14:creationId xmlns:p14="http://schemas.microsoft.com/office/powerpoint/2010/main" val="28799757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C3C4CF5-8DBC-477F-A1B1-0D9940BA0D43}"/>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MEMORY FLOW · ONE RESEARCH RUN</a:t>
            </a:r>
          </a:p>
        </p:txBody>
      </p:sp>
      <p:sp>
        <p:nvSpPr>
          <p:cNvPr id="2" name="">
            <a:extLst xmlns:a="http://schemas.openxmlformats.org/drawingml/2006/main">
              <a:ext uri="{FF2B5EF4-FFF2-40B4-BE49-F238E27FC236}">
                <a16:creationId xmlns:a16="http://schemas.microsoft.com/office/drawing/2014/main" id="{A4980D2E-F5EA-4E14-9F52-77064885F7E5}"/>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How one graph node uses memory</a:t>
            </a:r>
          </a:p>
        </p:txBody>
      </p:sp>
      <p:sp>
        <p:nvSpPr>
          <p:cNvPr id="3" name="">
            <a:extLst xmlns:a="http://schemas.openxmlformats.org/drawingml/2006/main">
              <a:ext uri="{FF2B5EF4-FFF2-40B4-BE49-F238E27FC236}">
                <a16:creationId xmlns:a16="http://schemas.microsoft.com/office/drawing/2014/main" id="{F5A301F1-9523-4B92-A55D-E6595CD44655}"/>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488D5B72-3E75-4C26-8BFD-3F386BF93FE2}"/>
              </a:ext>
            </a:extLst>
          </p:cNvPr>
          <p:cNvSpPr>
            <a:spLocks xmlns:a="http://schemas.openxmlformats.org/drawingml/2006/main" noGrp="1"/>
          </p:cNvSpPr>
          <p:nvPr/>
        </p:nvSpPr>
        <p:spPr>
          <a:xfrm xmlns:a="http://schemas.openxmlformats.org/drawingml/2006/main">
            <a:off x="457200" y="158115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buNone/>
              <a:defRPr sz="1575" b="1">
                <a:solidFill>
                  <a:srgbClr val="3D8DFF"/>
                </a:solidFill>
                <a:latin typeface="Arial"/>
                <a:ea typeface="Arial"/>
                <a:cs typeface="Arial"/>
              </a:defRPr>
            </a:pPr>
            <a:r>
              <a:rPr sz="1575" b="1">
                <a:solidFill>
                  <a:srgbClr val="3D8D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17461BD-81EC-4ECE-BC9B-FAF2C107910E}"/>
              </a:ext>
            </a:extLst>
          </p:cNvPr>
          <p:cNvSpPr>
            <a:spLocks xmlns:a="http://schemas.openxmlformats.org/drawingml/2006/main" noGrp="1"/>
          </p:cNvSpPr>
          <p:nvPr/>
        </p:nvSpPr>
        <p:spPr>
          <a:xfrm xmlns:a="http://schemas.openxmlformats.org/drawingml/2006/main">
            <a:off x="1066800" y="15621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Graph reads GraphState</a:t>
            </a:r>
          </a:p>
        </p:txBody>
      </p:sp>
      <p:sp>
        <p:nvSpPr>
          <p:cNvPr id="6" name="">
            <a:extLst xmlns:a="http://schemas.openxmlformats.org/drawingml/2006/main">
              <a:ext uri="{FF2B5EF4-FFF2-40B4-BE49-F238E27FC236}">
                <a16:creationId xmlns:a16="http://schemas.microsoft.com/office/drawing/2014/main" id="{0CA1AD99-9BBD-455D-A156-2BB4C8C900FF}"/>
              </a:ext>
            </a:extLst>
          </p:cNvPr>
          <p:cNvSpPr>
            <a:spLocks xmlns:a="http://schemas.openxmlformats.org/drawingml/2006/main" noGrp="1"/>
          </p:cNvSpPr>
          <p:nvPr/>
        </p:nvSpPr>
        <p:spPr>
          <a:xfrm xmlns:a="http://schemas.openxmlformats.org/drawingml/2006/main">
            <a:off x="1066800" y="1924050"/>
            <a:ext cx="561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Select the current task, research round, and evidence IDs.</a:t>
            </a:r>
          </a:p>
        </p:txBody>
      </p:sp>
      <p:sp>
        <p:nvSpPr>
          <p:cNvPr id="7" name="">
            <a:extLst xmlns:a="http://schemas.openxmlformats.org/drawingml/2006/main">
              <a:ext uri="{FF2B5EF4-FFF2-40B4-BE49-F238E27FC236}">
                <a16:creationId xmlns:a16="http://schemas.microsoft.com/office/drawing/2014/main" id="{53423BA5-1AC8-4434-A8BA-E953D5BD0BF2}"/>
              </a:ext>
            </a:extLst>
          </p:cNvPr>
          <p:cNvSpPr>
            <a:spLocks xmlns:a="http://schemas.openxmlformats.org/drawingml/2006/main" noGrp="1"/>
          </p:cNvSpPr>
          <p:nvPr/>
        </p:nvSpPr>
        <p:spPr>
          <a:xfrm xmlns:a="http://schemas.openxmlformats.org/drawingml/2006/main">
            <a:off x="457200" y="24003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buNone/>
              <a:defRPr sz="1575" b="1">
                <a:solidFill>
                  <a:srgbClr val="3D8DFF"/>
                </a:solidFill>
                <a:latin typeface="Arial"/>
                <a:ea typeface="Arial"/>
                <a:cs typeface="Arial"/>
              </a:defRPr>
            </a:pPr>
            <a:r>
              <a:rPr sz="1575" b="1">
                <a:solidFill>
                  <a:srgbClr val="3D8DF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7D91F07-6502-4755-A131-951BA7F99117}"/>
              </a:ext>
            </a:extLst>
          </p:cNvPr>
          <p:cNvSpPr>
            <a:spLocks xmlns:a="http://schemas.openxmlformats.org/drawingml/2006/main" noGrp="1"/>
          </p:cNvSpPr>
          <p:nvPr/>
        </p:nvSpPr>
        <p:spPr>
          <a:xfrm xmlns:a="http://schemas.openxmlformats.org/drawingml/2006/main">
            <a:off x="1066800" y="23812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Runtime reloads durable evidence</a:t>
            </a:r>
          </a:p>
        </p:txBody>
      </p:sp>
      <p:sp>
        <p:nvSpPr>
          <p:cNvPr id="9" name="">
            <a:extLst xmlns:a="http://schemas.openxmlformats.org/drawingml/2006/main">
              <a:ext uri="{FF2B5EF4-FFF2-40B4-BE49-F238E27FC236}">
                <a16:creationId xmlns:a16="http://schemas.microsoft.com/office/drawing/2014/main" id="{6871C0DA-F9D2-4175-A160-B89C26CF1F84}"/>
              </a:ext>
            </a:extLst>
          </p:cNvPr>
          <p:cNvSpPr>
            <a:spLocks xmlns:a="http://schemas.openxmlformats.org/drawingml/2006/main" noGrp="1"/>
          </p:cNvSpPr>
          <p:nvPr/>
        </p:nvSpPr>
        <p:spPr>
          <a:xfrm xmlns:a="http://schemas.openxmlformats.org/drawingml/2006/main">
            <a:off x="1066800" y="2743200"/>
            <a:ext cx="561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Resolve those IDs against research.sqlite; rank and trim the context.</a:t>
            </a:r>
          </a:p>
        </p:txBody>
      </p:sp>
      <p:sp>
        <p:nvSpPr>
          <p:cNvPr id="10" name="">
            <a:extLst xmlns:a="http://schemas.openxmlformats.org/drawingml/2006/main">
              <a:ext uri="{FF2B5EF4-FFF2-40B4-BE49-F238E27FC236}">
                <a16:creationId xmlns:a16="http://schemas.microsoft.com/office/drawing/2014/main" id="{E373AC0B-6C42-45C0-99BE-9DAE3C3F53F2}"/>
              </a:ext>
            </a:extLst>
          </p:cNvPr>
          <p:cNvSpPr>
            <a:spLocks xmlns:a="http://schemas.openxmlformats.org/drawingml/2006/main" noGrp="1"/>
          </p:cNvSpPr>
          <p:nvPr/>
        </p:nvSpPr>
        <p:spPr>
          <a:xfrm xmlns:a="http://schemas.openxmlformats.org/drawingml/2006/main">
            <a:off x="457200" y="321945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buNone/>
              <a:defRPr sz="1575" b="1">
                <a:solidFill>
                  <a:srgbClr val="3D8DFF"/>
                </a:solidFill>
                <a:latin typeface="Arial"/>
                <a:ea typeface="Arial"/>
                <a:cs typeface="Arial"/>
              </a:defRPr>
            </a:pPr>
            <a:r>
              <a:rPr sz="1575" b="1">
                <a:solidFill>
                  <a:srgbClr val="3D8DF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FEF09B7-7D01-464B-912D-ACEBB75BAB06}"/>
              </a:ext>
            </a:extLst>
          </p:cNvPr>
          <p:cNvSpPr>
            <a:spLocks xmlns:a="http://schemas.openxmlformats.org/drawingml/2006/main" noGrp="1"/>
          </p:cNvSpPr>
          <p:nvPr/>
        </p:nvSpPr>
        <p:spPr>
          <a:xfrm xmlns:a="http://schemas.openxmlformats.org/drawingml/2006/main">
            <a:off x="1066800" y="32004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Runtime checks the operation cache</a:t>
            </a:r>
          </a:p>
        </p:txBody>
      </p:sp>
      <p:sp>
        <p:nvSpPr>
          <p:cNvPr id="12" name="">
            <a:extLst xmlns:a="http://schemas.openxmlformats.org/drawingml/2006/main">
              <a:ext uri="{FF2B5EF4-FFF2-40B4-BE49-F238E27FC236}">
                <a16:creationId xmlns:a16="http://schemas.microsoft.com/office/drawing/2014/main" id="{CCBDA600-F64D-45FB-BAFD-F6747E7BFB67}"/>
              </a:ext>
            </a:extLst>
          </p:cNvPr>
          <p:cNvSpPr>
            <a:spLocks xmlns:a="http://schemas.openxmlformats.org/drawingml/2006/main" noGrp="1"/>
          </p:cNvSpPr>
          <p:nvPr/>
        </p:nvSpPr>
        <p:spPr>
          <a:xfrm xmlns:a="http://schemas.openxmlformats.org/drawingml/2006/main">
            <a:off x="1066800" y="3562350"/>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518"/>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Before Tavily or DeepSeek, reuse a successful result with the same operation key.</a:t>
            </a:r>
          </a:p>
        </p:txBody>
      </p:sp>
      <p:sp>
        <p:nvSpPr>
          <p:cNvPr id="13" name="">
            <a:extLst xmlns:a="http://schemas.openxmlformats.org/drawingml/2006/main">
              <a:ext uri="{FF2B5EF4-FFF2-40B4-BE49-F238E27FC236}">
                <a16:creationId xmlns:a16="http://schemas.microsoft.com/office/drawing/2014/main" id="{2E424B8C-EEFC-48B6-8081-4839C2772F71}"/>
              </a:ext>
            </a:extLst>
          </p:cNvPr>
          <p:cNvSpPr>
            <a:spLocks xmlns:a="http://schemas.openxmlformats.org/drawingml/2006/main" noGrp="1"/>
          </p:cNvSpPr>
          <p:nvPr/>
        </p:nvSpPr>
        <p:spPr>
          <a:xfrm xmlns:a="http://schemas.openxmlformats.org/drawingml/2006/main">
            <a:off x="457200" y="41910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buNone/>
              <a:defRPr sz="1575" b="1">
                <a:solidFill>
                  <a:srgbClr val="3D8DFF"/>
                </a:solidFill>
                <a:latin typeface="Arial"/>
                <a:ea typeface="Arial"/>
                <a:cs typeface="Arial"/>
              </a:defRPr>
            </a:pPr>
            <a:r>
              <a:rPr sz="1575" b="1">
                <a:solidFill>
                  <a:srgbClr val="3D8DFF"/>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3810948E-8CE6-4B0E-8EEF-BC4D6D90CBA1}"/>
              </a:ext>
            </a:extLst>
          </p:cNvPr>
          <p:cNvSpPr>
            <a:spLocks xmlns:a="http://schemas.openxmlformats.org/drawingml/2006/main" noGrp="1"/>
          </p:cNvSpPr>
          <p:nvPr/>
        </p:nvSpPr>
        <p:spPr>
          <a:xfrm xmlns:a="http://schemas.openxmlformats.org/drawingml/2006/main">
            <a:off x="1066800" y="41719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Agent receives only selected context</a:t>
            </a:r>
          </a:p>
        </p:txBody>
      </p:sp>
      <p:sp>
        <p:nvSpPr>
          <p:cNvPr id="15" name="">
            <a:extLst xmlns:a="http://schemas.openxmlformats.org/drawingml/2006/main">
              <a:ext uri="{FF2B5EF4-FFF2-40B4-BE49-F238E27FC236}">
                <a16:creationId xmlns:a16="http://schemas.microsoft.com/office/drawing/2014/main" id="{0A164D9E-D019-4DA4-8A88-A51A02561D80}"/>
              </a:ext>
            </a:extLst>
          </p:cNvPr>
          <p:cNvSpPr>
            <a:spLocks xmlns:a="http://schemas.openxmlformats.org/drawingml/2006/main" noGrp="1"/>
          </p:cNvSpPr>
          <p:nvPr/>
        </p:nvSpPr>
        <p:spPr>
          <a:xfrm xmlns:a="http://schemas.openxmlformats.org/drawingml/2006/main">
            <a:off x="1066800" y="4533900"/>
            <a:ext cx="561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75"/>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Planner, Worker, Evaluator, or Auditor returns typed output to the graph.</a:t>
            </a:r>
          </a:p>
        </p:txBody>
      </p:sp>
      <p:sp>
        <p:nvSpPr>
          <p:cNvPr id="16" name="">
            <a:extLst xmlns:a="http://schemas.openxmlformats.org/drawingml/2006/main">
              <a:ext uri="{FF2B5EF4-FFF2-40B4-BE49-F238E27FC236}">
                <a16:creationId xmlns:a16="http://schemas.microsoft.com/office/drawing/2014/main" id="{68E8963E-BDC2-47D9-8259-BCFB168FFBE9}"/>
              </a:ext>
            </a:extLst>
          </p:cNvPr>
          <p:cNvSpPr>
            <a:spLocks xmlns:a="http://schemas.openxmlformats.org/drawingml/2006/main" noGrp="1"/>
          </p:cNvSpPr>
          <p:nvPr/>
        </p:nvSpPr>
        <p:spPr>
          <a:xfrm xmlns:a="http://schemas.openxmlformats.org/drawingml/2006/main">
            <a:off x="457200" y="51054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buNone/>
              <a:defRPr sz="1575" b="1">
                <a:solidFill>
                  <a:srgbClr val="3D8DFF"/>
                </a:solidFill>
                <a:latin typeface="Arial"/>
                <a:ea typeface="Arial"/>
                <a:cs typeface="Arial"/>
              </a:defRPr>
            </a:pPr>
            <a:r>
              <a:rPr sz="1575" b="1">
                <a:solidFill>
                  <a:srgbClr val="3D8DFF"/>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45331835-963D-4C2E-95F1-D1B218A98A30}"/>
              </a:ext>
            </a:extLst>
          </p:cNvPr>
          <p:cNvSpPr>
            <a:spLocks xmlns:a="http://schemas.openxmlformats.org/drawingml/2006/main" noGrp="1"/>
          </p:cNvSpPr>
          <p:nvPr/>
        </p:nvSpPr>
        <p:spPr>
          <a:xfrm xmlns:a="http://schemas.openxmlformats.org/drawingml/2006/main">
            <a:off x="1066800" y="50863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The system records the result</a:t>
            </a:r>
          </a:p>
        </p:txBody>
      </p:sp>
      <p:sp>
        <p:nvSpPr>
          <p:cNvPr id="18" name="">
            <a:extLst xmlns:a="http://schemas.openxmlformats.org/drawingml/2006/main">
              <a:ext uri="{FF2B5EF4-FFF2-40B4-BE49-F238E27FC236}">
                <a16:creationId xmlns:a16="http://schemas.microsoft.com/office/drawing/2014/main" id="{6BFF7F24-4D65-41F5-A368-537076DAE8B5}"/>
              </a:ext>
            </a:extLst>
          </p:cNvPr>
          <p:cNvSpPr>
            <a:spLocks xmlns:a="http://schemas.openxmlformats.org/drawingml/2006/main" noGrp="1"/>
          </p:cNvSpPr>
          <p:nvPr/>
        </p:nvSpPr>
        <p:spPr>
          <a:xfrm xmlns:a="http://schemas.openxmlformats.org/drawingml/2006/main">
            <a:off x="1066800" y="5448300"/>
            <a:ext cx="561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Graph checkpoints the new state; the Gateway logs tokens, latency, cost, and errors.</a:t>
            </a:r>
          </a:p>
        </p:txBody>
      </p:sp>
      <p:sp>
        <p:nvSpPr>
          <p:cNvPr id="19" name="">
            <a:extLst xmlns:a="http://schemas.openxmlformats.org/drawingml/2006/main">
              <a:ext uri="{FF2B5EF4-FFF2-40B4-BE49-F238E27FC236}">
                <a16:creationId xmlns:a16="http://schemas.microsoft.com/office/drawing/2014/main" id="{87336E07-FC5B-4708-BA3C-350CD0BFFF24}"/>
              </a:ext>
            </a:extLst>
          </p:cNvPr>
          <p:cNvSpPr>
            <a:spLocks xmlns:a="http://schemas.openxmlformats.org/drawingml/2006/main" noGrp="1"/>
          </p:cNvSpPr>
          <p:nvPr/>
        </p:nvSpPr>
        <p:spPr>
          <a:xfrm xmlns:a="http://schemas.openxmlformats.org/drawingml/2006/main">
            <a:off x="7353300" y="1581150"/>
            <a:ext cx="19050" cy="40386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0" name="">
            <a:extLst xmlns:a="http://schemas.openxmlformats.org/drawingml/2006/main">
              <a:ext uri="{FF2B5EF4-FFF2-40B4-BE49-F238E27FC236}">
                <a16:creationId xmlns:a16="http://schemas.microsoft.com/office/drawing/2014/main" id="{2004E49B-B9A2-4CFB-92BE-37686947B23A}"/>
              </a:ext>
            </a:extLst>
          </p:cNvPr>
          <p:cNvSpPr>
            <a:spLocks xmlns:a="http://schemas.openxmlformats.org/drawingml/2006/main" noGrp="1"/>
          </p:cNvSpPr>
          <p:nvPr/>
        </p:nvSpPr>
        <p:spPr>
          <a:xfrm xmlns:a="http://schemas.openxmlformats.org/drawingml/2006/main">
            <a:off x="7848600" y="15811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WHAT THIS PREVENTS</a:t>
            </a:r>
          </a:p>
        </p:txBody>
      </p:sp>
      <p:sp>
        <p:nvSpPr>
          <p:cNvPr id="21" name="">
            <a:extLst xmlns:a="http://schemas.openxmlformats.org/drawingml/2006/main">
              <a:ext uri="{FF2B5EF4-FFF2-40B4-BE49-F238E27FC236}">
                <a16:creationId xmlns:a16="http://schemas.microsoft.com/office/drawing/2014/main" id="{03CC28C5-32A3-44AD-882E-7C08D82D033B}"/>
              </a:ext>
            </a:extLst>
          </p:cNvPr>
          <p:cNvSpPr>
            <a:spLocks xmlns:a="http://schemas.openxmlformats.org/drawingml/2006/main" noGrp="1"/>
          </p:cNvSpPr>
          <p:nvPr/>
        </p:nvSpPr>
        <p:spPr>
          <a:xfrm xmlns:a="http://schemas.openxmlformats.org/drawingml/2006/main">
            <a:off x="7848600" y="2095500"/>
            <a:ext cx="3429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a:solidFill>
                  <a:srgbClr val="5F6670"/>
                </a:solidFill>
                <a:latin typeface="Arial"/>
                <a:ea typeface="Arial"/>
                <a:cs typeface="Arial"/>
              </a:defRPr>
            </a:pPr>
            <a:r>
              <a:rPr sz="1650" b="0">
                <a:solidFill>
                  <a:srgbClr val="5F6670"/>
                </a:solidFill>
                <a:latin typeface="Arial"/>
                <a:ea typeface="Arial"/>
                <a:cs typeface="Arial"/>
              </a:rPr>
              <a:t>• Full page text copied through GraphState</a:t>
            </a:r>
          </a:p>
          <a:p xmlns:a="http://schemas.openxmlformats.org/drawingml/2006/main">
            <a:r>
              <a:t/>
            </a:r>
          </a:p>
          <a:p xmlns:a="http://schemas.openxmlformats.org/drawingml/2006/main">
            <a:pPr algn="l">
              <a:buNone/>
              <a:defRPr sz="1650" b="0">
                <a:solidFill>
                  <a:srgbClr val="5F6670"/>
                </a:solidFill>
                <a:latin typeface="Arial"/>
                <a:ea typeface="Arial"/>
                <a:cs typeface="Arial"/>
              </a:defRPr>
            </a:pPr>
            <a:r>
              <a:rPr sz="1650" b="0">
                <a:solidFill>
                  <a:srgbClr val="5F6670"/>
                </a:solidFill>
                <a:latin typeface="Arial"/>
                <a:ea typeface="Arial"/>
                <a:cs typeface="Arial"/>
              </a:rPr>
              <a:t>• Every Agent receiving the entire evidence corpus</a:t>
            </a:r>
          </a:p>
          <a:p xmlns:a="http://schemas.openxmlformats.org/drawingml/2006/main">
            <a:r>
              <a:t/>
            </a:r>
          </a:p>
          <a:p xmlns:a="http://schemas.openxmlformats.org/drawingml/2006/main">
            <a:pPr algn="l">
              <a:buNone/>
              <a:defRPr sz="1650" b="0">
                <a:solidFill>
                  <a:srgbClr val="5F6670"/>
                </a:solidFill>
                <a:latin typeface="Arial"/>
                <a:ea typeface="Arial"/>
                <a:cs typeface="Arial"/>
              </a:defRPr>
            </a:pPr>
            <a:r>
              <a:rPr sz="1650" b="0">
                <a:solidFill>
                  <a:srgbClr val="5F6670"/>
                </a:solidFill>
                <a:latin typeface="Arial"/>
                <a:ea typeface="Arial"/>
                <a:cs typeface="Arial"/>
              </a:rPr>
              <a:t>• A restart repeating the same paid operation</a:t>
            </a:r>
          </a:p>
        </p:txBody>
      </p:sp>
      <p:sp>
        <p:nvSpPr>
          <p:cNvPr id="22" name="">
            <a:extLst xmlns:a="http://schemas.openxmlformats.org/drawingml/2006/main">
              <a:ext uri="{FF2B5EF4-FFF2-40B4-BE49-F238E27FC236}">
                <a16:creationId xmlns:a16="http://schemas.microsoft.com/office/drawing/2014/main" id="{50BCB92A-6738-4157-802C-5F705733116A}"/>
              </a:ext>
            </a:extLst>
          </p:cNvPr>
          <p:cNvSpPr>
            <a:spLocks xmlns:a="http://schemas.openxmlformats.org/drawingml/2006/main" noGrp="1"/>
          </p:cNvSpPr>
          <p:nvPr/>
        </p:nvSpPr>
        <p:spPr>
          <a:xfrm xmlns:a="http://schemas.openxmlformats.org/drawingml/2006/main">
            <a:off x="7848600" y="48387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The key idea</a:t>
            </a:r>
          </a:p>
        </p:txBody>
      </p:sp>
      <p:sp>
        <p:nvSpPr>
          <p:cNvPr id="23" name="">
            <a:extLst xmlns:a="http://schemas.openxmlformats.org/drawingml/2006/main">
              <a:ext uri="{FF2B5EF4-FFF2-40B4-BE49-F238E27FC236}">
                <a16:creationId xmlns:a16="http://schemas.microsoft.com/office/drawing/2014/main" id="{85157CDC-7A81-4867-9418-0BA6B65D89DA}"/>
              </a:ext>
            </a:extLst>
          </p:cNvPr>
          <p:cNvSpPr>
            <a:spLocks xmlns:a="http://schemas.openxmlformats.org/drawingml/2006/main" noGrp="1"/>
          </p:cNvSpPr>
          <p:nvPr/>
        </p:nvSpPr>
        <p:spPr>
          <a:xfrm xmlns:a="http://schemas.openxmlformats.org/drawingml/2006/main">
            <a:off x="7848600" y="5219700"/>
            <a:ext cx="342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35"/>
          </a:bodyPr>
          <a:lstStyle xmlns:a="http://schemas.openxmlformats.org/drawingml/2006/main"/>
          <a:p xmlns:a="http://schemas.openxmlformats.org/drawingml/2006/main">
            <a:pPr algn="l">
              <a:buNone/>
              <a:defRPr sz="1800" b="1">
                <a:solidFill>
                  <a:srgbClr val="111111"/>
                </a:solidFill>
                <a:latin typeface="Arial"/>
                <a:ea typeface="Arial"/>
                <a:cs typeface="Arial"/>
              </a:defRPr>
            </a:pPr>
            <a:r>
              <a:rPr sz="1800" b="1">
                <a:solidFill>
                  <a:srgbClr val="111111"/>
                </a:solidFill>
                <a:latin typeface="Arial"/>
                <a:ea typeface="Arial"/>
                <a:cs typeface="Arial"/>
              </a:rPr>
              <a:t>IDs connect lightweight control state to durable research memory.</a:t>
            </a:r>
          </a:p>
        </p:txBody>
      </p:sp>
    </p:spTree>
    <p:extLst>
      <p:ext uri="{BB962C8B-B14F-4D97-AF65-F5344CB8AC3E}">
        <p14:creationId xmlns:p14="http://schemas.microsoft.com/office/powerpoint/2010/main" val="424564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A682E9A-48A9-4A59-BDD8-8D68D51BA943}"/>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DESIGN HIGHLIGHT · RECOVERY SEMANTICS</a:t>
            </a:r>
          </a:p>
        </p:txBody>
      </p:sp>
      <p:sp>
        <p:nvSpPr>
          <p:cNvPr id="2" name="">
            <a:extLst xmlns:a="http://schemas.openxmlformats.org/drawingml/2006/main">
              <a:ext uri="{FF2B5EF4-FFF2-40B4-BE49-F238E27FC236}">
                <a16:creationId xmlns:a16="http://schemas.microsoft.com/office/drawing/2014/main" id="{5C7FCFDB-9FF3-4C1E-99C6-80E95AC0C445}"/>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Problem: checkpoints alone do not preserve paid work</a:t>
            </a:r>
          </a:p>
        </p:txBody>
      </p:sp>
      <p:sp>
        <p:nvSpPr>
          <p:cNvPr id="3" name="">
            <a:extLst xmlns:a="http://schemas.openxmlformats.org/drawingml/2006/main">
              <a:ext uri="{FF2B5EF4-FFF2-40B4-BE49-F238E27FC236}">
                <a16:creationId xmlns:a16="http://schemas.microsoft.com/office/drawing/2014/main" id="{34B04D21-FBA3-4990-83BC-6DEC85F7EE03}"/>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A1B557DA-57C2-43C7-AEDC-8A99CE37D647}"/>
              </a:ext>
            </a:extLst>
          </p:cNvPr>
          <p:cNvSpPr>
            <a:spLocks xmlns:a="http://schemas.openxmlformats.org/drawingml/2006/main" noGrp="1"/>
          </p:cNvSpPr>
          <p:nvPr/>
        </p:nvSpPr>
        <p:spPr>
          <a:xfrm xmlns:a="http://schemas.openxmlformats.org/drawingml/2006/main">
            <a:off x="457200" y="15811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FAILURE CASE</a:t>
            </a:r>
          </a:p>
        </p:txBody>
      </p:sp>
      <p:sp>
        <p:nvSpPr>
          <p:cNvPr id="5" name="">
            <a:extLst xmlns:a="http://schemas.openxmlformats.org/drawingml/2006/main">
              <a:ext uri="{FF2B5EF4-FFF2-40B4-BE49-F238E27FC236}">
                <a16:creationId xmlns:a16="http://schemas.microsoft.com/office/drawing/2014/main" id="{8F327441-A27C-4568-802F-7B86E809AFB3}"/>
              </a:ext>
            </a:extLst>
          </p:cNvPr>
          <p:cNvSpPr>
            <a:spLocks xmlns:a="http://schemas.openxmlformats.org/drawingml/2006/main" noGrp="1"/>
          </p:cNvSpPr>
          <p:nvPr/>
        </p:nvSpPr>
        <p:spPr>
          <a:xfrm xmlns:a="http://schemas.openxmlformats.org/drawingml/2006/main">
            <a:off x="457200" y="2038350"/>
            <a:ext cx="5619750" cy="3295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1. Tavily or DeepSeek returns successfully.</a:t>
            </a:r>
          </a:p>
          <a:p xmlns:a="http://schemas.openxmlformats.org/drawingml/2006/main">
            <a:r>
              <a:t/>
            </a:r>
          </a:p>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2. Runtime stores the response in operations.</a:t>
            </a:r>
          </a:p>
          <a:p xmlns:a="http://schemas.openxmlformats.org/drawingml/2006/main">
            <a:r>
              <a:t/>
            </a:r>
          </a:p>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3. The process crashes before the next checkpoint commits.</a:t>
            </a:r>
          </a:p>
          <a:p xmlns:a="http://schemas.openxmlformats.org/drawingml/2006/main">
            <a:r>
              <a:t/>
            </a:r>
          </a:p>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4. Resume may replay the same graph node.</a:t>
            </a:r>
          </a:p>
          <a:p xmlns:a="http://schemas.openxmlformats.org/drawingml/2006/main">
            <a:r>
              <a:t/>
            </a:r>
          </a:p>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5. The same operation key returns a cache hit — no second API call.</a:t>
            </a:r>
          </a:p>
        </p:txBody>
      </p:sp>
      <p:sp>
        <p:nvSpPr>
          <p:cNvPr id="6" name="">
            <a:extLst xmlns:a="http://schemas.openxmlformats.org/drawingml/2006/main">
              <a:ext uri="{FF2B5EF4-FFF2-40B4-BE49-F238E27FC236}">
                <a16:creationId xmlns:a16="http://schemas.microsoft.com/office/drawing/2014/main" id="{157A688A-F34E-4F05-A23F-A22E639F422E}"/>
              </a:ext>
            </a:extLst>
          </p:cNvPr>
          <p:cNvSpPr>
            <a:spLocks xmlns:a="http://schemas.openxmlformats.org/drawingml/2006/main" noGrp="1"/>
          </p:cNvSpPr>
          <p:nvPr/>
        </p:nvSpPr>
        <p:spPr>
          <a:xfrm xmlns:a="http://schemas.openxmlformats.org/drawingml/2006/main">
            <a:off x="6515100" y="1581150"/>
            <a:ext cx="19050" cy="37528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7" name="">
            <a:extLst xmlns:a="http://schemas.openxmlformats.org/drawingml/2006/main">
              <a:ext uri="{FF2B5EF4-FFF2-40B4-BE49-F238E27FC236}">
                <a16:creationId xmlns:a16="http://schemas.microsoft.com/office/drawing/2014/main" id="{A6221031-51C0-4903-8E1C-210A94291E36}"/>
              </a:ext>
            </a:extLst>
          </p:cNvPr>
          <p:cNvSpPr>
            <a:spLocks xmlns:a="http://schemas.openxmlformats.org/drawingml/2006/main" noGrp="1"/>
          </p:cNvSpPr>
          <p:nvPr/>
        </p:nvSpPr>
        <p:spPr>
          <a:xfrm xmlns:a="http://schemas.openxmlformats.org/drawingml/2006/main">
            <a:off x="7010400" y="15811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EACH MEMORY HAS ONE JOB</a:t>
            </a:r>
          </a:p>
        </p:txBody>
      </p:sp>
      <p:sp>
        <p:nvSpPr>
          <p:cNvPr id="8" name="">
            <a:extLst xmlns:a="http://schemas.openxmlformats.org/drawingml/2006/main">
              <a:ext uri="{FF2B5EF4-FFF2-40B4-BE49-F238E27FC236}">
                <a16:creationId xmlns:a16="http://schemas.microsoft.com/office/drawing/2014/main" id="{41D6F1B4-F640-4CA9-A6A1-47824068DD27}"/>
              </a:ext>
            </a:extLst>
          </p:cNvPr>
          <p:cNvSpPr>
            <a:spLocks xmlns:a="http://schemas.openxmlformats.org/drawingml/2006/main" noGrp="1"/>
          </p:cNvSpPr>
          <p:nvPr/>
        </p:nvSpPr>
        <p:spPr>
          <a:xfrm xmlns:a="http://schemas.openxmlformats.org/drawingml/2006/main">
            <a:off x="7010400" y="20574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11111"/>
                </a:solidFill>
                <a:latin typeface="Arial"/>
                <a:ea typeface="Arial"/>
                <a:cs typeface="Arial"/>
              </a:defRPr>
            </a:pPr>
            <a:r>
              <a:rPr sz="1575" b="1">
                <a:solidFill>
                  <a:srgbClr val="111111"/>
                </a:solidFill>
                <a:latin typeface="Arial"/>
                <a:ea typeface="Arial"/>
                <a:cs typeface="Arial"/>
              </a:rPr>
              <a:t>Checkpoint</a:t>
            </a:r>
          </a:p>
        </p:txBody>
      </p:sp>
      <p:sp>
        <p:nvSpPr>
          <p:cNvPr id="9" name="">
            <a:extLst xmlns:a="http://schemas.openxmlformats.org/drawingml/2006/main">
              <a:ext uri="{FF2B5EF4-FFF2-40B4-BE49-F238E27FC236}">
                <a16:creationId xmlns:a16="http://schemas.microsoft.com/office/drawing/2014/main" id="{BA96C5B1-8965-495C-BEED-34469B5B55D2}"/>
              </a:ext>
            </a:extLst>
          </p:cNvPr>
          <p:cNvSpPr>
            <a:spLocks xmlns:a="http://schemas.openxmlformats.org/drawingml/2006/main" noGrp="1"/>
          </p:cNvSpPr>
          <p:nvPr/>
        </p:nvSpPr>
        <p:spPr>
          <a:xfrm xmlns:a="http://schemas.openxmlformats.org/drawingml/2006/main">
            <a:off x="8724900" y="2076450"/>
            <a:ext cx="2552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819"/>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Where should execution continue?</a:t>
            </a:r>
          </a:p>
        </p:txBody>
      </p:sp>
      <p:sp>
        <p:nvSpPr>
          <p:cNvPr id="10" name="">
            <a:extLst xmlns:a="http://schemas.openxmlformats.org/drawingml/2006/main">
              <a:ext uri="{FF2B5EF4-FFF2-40B4-BE49-F238E27FC236}">
                <a16:creationId xmlns:a16="http://schemas.microsoft.com/office/drawing/2014/main" id="{9B27AC31-5CD6-45BD-AB1B-781B1DC8760F}"/>
              </a:ext>
            </a:extLst>
          </p:cNvPr>
          <p:cNvSpPr>
            <a:spLocks xmlns:a="http://schemas.openxmlformats.org/drawingml/2006/main" noGrp="1"/>
          </p:cNvSpPr>
          <p:nvPr/>
        </p:nvSpPr>
        <p:spPr>
          <a:xfrm xmlns:a="http://schemas.openxmlformats.org/drawingml/2006/main">
            <a:off x="7010400" y="28003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11111"/>
                </a:solidFill>
                <a:latin typeface="Arial"/>
                <a:ea typeface="Arial"/>
                <a:cs typeface="Arial"/>
              </a:defRPr>
            </a:pPr>
            <a:r>
              <a:rPr sz="1575" b="1">
                <a:solidFill>
                  <a:srgbClr val="111111"/>
                </a:solidFill>
                <a:latin typeface="Arial"/>
                <a:ea typeface="Arial"/>
                <a:cs typeface="Arial"/>
              </a:rPr>
              <a:t>Operation cache</a:t>
            </a:r>
          </a:p>
        </p:txBody>
      </p:sp>
      <p:sp>
        <p:nvSpPr>
          <p:cNvPr id="11" name="">
            <a:extLst xmlns:a="http://schemas.openxmlformats.org/drawingml/2006/main">
              <a:ext uri="{FF2B5EF4-FFF2-40B4-BE49-F238E27FC236}">
                <a16:creationId xmlns:a16="http://schemas.microsoft.com/office/drawing/2014/main" id="{46FBE477-7809-43E1-96CE-AAFD7ED16CC3}"/>
              </a:ext>
            </a:extLst>
          </p:cNvPr>
          <p:cNvSpPr>
            <a:spLocks xmlns:a="http://schemas.openxmlformats.org/drawingml/2006/main" noGrp="1"/>
          </p:cNvSpPr>
          <p:nvPr/>
        </p:nvSpPr>
        <p:spPr>
          <a:xfrm xmlns:a="http://schemas.openxmlformats.org/drawingml/2006/main">
            <a:off x="8724900" y="28194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518"/>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What external work already succeeded?</a:t>
            </a:r>
          </a:p>
        </p:txBody>
      </p:sp>
      <p:sp>
        <p:nvSpPr>
          <p:cNvPr id="12" name="">
            <a:extLst xmlns:a="http://schemas.openxmlformats.org/drawingml/2006/main">
              <a:ext uri="{FF2B5EF4-FFF2-40B4-BE49-F238E27FC236}">
                <a16:creationId xmlns:a16="http://schemas.microsoft.com/office/drawing/2014/main" id="{45BF0590-1D66-4F30-ABF1-30BD6DCE3512}"/>
              </a:ext>
            </a:extLst>
          </p:cNvPr>
          <p:cNvSpPr>
            <a:spLocks xmlns:a="http://schemas.openxmlformats.org/drawingml/2006/main" noGrp="1"/>
          </p:cNvSpPr>
          <p:nvPr/>
        </p:nvSpPr>
        <p:spPr>
          <a:xfrm xmlns:a="http://schemas.openxmlformats.org/drawingml/2006/main">
            <a:off x="7010400" y="36766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11111"/>
                </a:solidFill>
                <a:latin typeface="Arial"/>
                <a:ea typeface="Arial"/>
                <a:cs typeface="Arial"/>
              </a:defRPr>
            </a:pPr>
            <a:r>
              <a:rPr sz="1575" b="1">
                <a:solidFill>
                  <a:srgbClr val="111111"/>
                </a:solidFill>
                <a:latin typeface="Arial"/>
                <a:ea typeface="Arial"/>
                <a:cs typeface="Arial"/>
              </a:rPr>
              <a:t>Semantic store</a:t>
            </a:r>
          </a:p>
        </p:txBody>
      </p:sp>
      <p:sp>
        <p:nvSpPr>
          <p:cNvPr id="13" name="">
            <a:extLst xmlns:a="http://schemas.openxmlformats.org/drawingml/2006/main">
              <a:ext uri="{FF2B5EF4-FFF2-40B4-BE49-F238E27FC236}">
                <a16:creationId xmlns:a16="http://schemas.microsoft.com/office/drawing/2014/main" id="{DBC3B9BC-3847-4BFD-B641-AED983BC6ADA}"/>
              </a:ext>
            </a:extLst>
          </p:cNvPr>
          <p:cNvSpPr>
            <a:spLocks xmlns:a="http://schemas.openxmlformats.org/drawingml/2006/main" noGrp="1"/>
          </p:cNvSpPr>
          <p:nvPr/>
        </p:nvSpPr>
        <p:spPr>
          <a:xfrm xmlns:a="http://schemas.openxmlformats.org/drawingml/2006/main">
            <a:off x="8724900" y="36957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075"/>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What evidence did the run learn?</a:t>
            </a:r>
          </a:p>
        </p:txBody>
      </p:sp>
      <p:sp>
        <p:nvSpPr>
          <p:cNvPr id="14" name="">
            <a:extLst xmlns:a="http://schemas.openxmlformats.org/drawingml/2006/main">
              <a:ext uri="{FF2B5EF4-FFF2-40B4-BE49-F238E27FC236}">
                <a16:creationId xmlns:a16="http://schemas.microsoft.com/office/drawing/2014/main" id="{301DC456-0910-4258-8A24-FD262D476FB7}"/>
              </a:ext>
            </a:extLst>
          </p:cNvPr>
          <p:cNvSpPr>
            <a:spLocks xmlns:a="http://schemas.openxmlformats.org/drawingml/2006/main" noGrp="1"/>
          </p:cNvSpPr>
          <p:nvPr/>
        </p:nvSpPr>
        <p:spPr>
          <a:xfrm xmlns:a="http://schemas.openxmlformats.org/drawingml/2006/main">
            <a:off x="7010400" y="45529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11111"/>
                </a:solidFill>
                <a:latin typeface="Arial"/>
                <a:ea typeface="Arial"/>
                <a:cs typeface="Arial"/>
              </a:defRPr>
            </a:pPr>
            <a:r>
              <a:rPr sz="1575" b="1">
                <a:solidFill>
                  <a:srgbClr val="111111"/>
                </a:solidFill>
                <a:latin typeface="Arial"/>
                <a:ea typeface="Arial"/>
                <a:cs typeface="Arial"/>
              </a:rPr>
              <a:t>Telemetry ledger</a:t>
            </a:r>
          </a:p>
        </p:txBody>
      </p:sp>
      <p:sp>
        <p:nvSpPr>
          <p:cNvPr id="15" name="">
            <a:extLst xmlns:a="http://schemas.openxmlformats.org/drawingml/2006/main">
              <a:ext uri="{FF2B5EF4-FFF2-40B4-BE49-F238E27FC236}">
                <a16:creationId xmlns:a16="http://schemas.microsoft.com/office/drawing/2014/main" id="{61185877-E29B-4FC9-AE98-ABCE3C063F79}"/>
              </a:ext>
            </a:extLst>
          </p:cNvPr>
          <p:cNvSpPr>
            <a:spLocks xmlns:a="http://schemas.openxmlformats.org/drawingml/2006/main" noGrp="1"/>
          </p:cNvSpPr>
          <p:nvPr/>
        </p:nvSpPr>
        <p:spPr>
          <a:xfrm xmlns:a="http://schemas.openxmlformats.org/drawingml/2006/main">
            <a:off x="8724900" y="4572000"/>
            <a:ext cx="2552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What did the call cost?</a:t>
            </a:r>
          </a:p>
        </p:txBody>
      </p:sp>
      <p:sp>
        <p:nvSpPr>
          <p:cNvPr id="16" name="">
            <a:extLst xmlns:a="http://schemas.openxmlformats.org/drawingml/2006/main">
              <a:ext uri="{FF2B5EF4-FFF2-40B4-BE49-F238E27FC236}">
                <a16:creationId xmlns:a16="http://schemas.microsoft.com/office/drawing/2014/main" id="{E21C9D00-328C-443E-8117-9603CE72F024}"/>
              </a:ext>
            </a:extLst>
          </p:cNvPr>
          <p:cNvSpPr>
            <a:spLocks xmlns:a="http://schemas.openxmlformats.org/drawingml/2006/main" noGrp="1"/>
          </p:cNvSpPr>
          <p:nvPr/>
        </p:nvSpPr>
        <p:spPr>
          <a:xfrm xmlns:a="http://schemas.openxmlformats.org/drawingml/2006/main">
            <a:off x="457200" y="5695950"/>
            <a:ext cx="10820400" cy="552450"/>
          </a:xfrm>
          <a:prstGeom xmlns:a="http://schemas.openxmlformats.org/drawingml/2006/main" prst="roundRect">
            <a:avLst>
              <a:gd name="adj" fmla="val 10345"/>
            </a:avLst>
          </a:prstGeom>
          <a:solidFill xmlns:a="http://schemas.openxmlformats.org/drawingml/2006/main">
            <a:srgbClr val="E7F4FA"/>
          </a:solidFill>
          <a:ln xmlns:a="http://schemas.openxmlformats.org/drawingml/2006/main" w="0">
            <a:solidFill>
              <a:srgbClr val="E7F4FA"/>
            </a:solidFill>
            <a:prstDash val="solid"/>
          </a:ln>
        </p:spPr>
      </p:sp>
      <p:sp>
        <p:nvSpPr>
          <p:cNvPr id="17" name="">
            <a:extLst xmlns:a="http://schemas.openxmlformats.org/drawingml/2006/main">
              <a:ext uri="{FF2B5EF4-FFF2-40B4-BE49-F238E27FC236}">
                <a16:creationId xmlns:a16="http://schemas.microsoft.com/office/drawing/2014/main" id="{3B21E7F4-3523-4005-8C96-95143580D07A}"/>
              </a:ext>
            </a:extLst>
          </p:cNvPr>
          <p:cNvSpPr>
            <a:spLocks xmlns:a="http://schemas.openxmlformats.org/drawingml/2006/main" noGrp="1"/>
          </p:cNvSpPr>
          <p:nvPr/>
        </p:nvSpPr>
        <p:spPr>
          <a:xfrm xmlns:a="http://schemas.openxmlformats.org/drawingml/2006/main">
            <a:off x="685800" y="5857875"/>
            <a:ext cx="1036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ctr">
              <a:buNone/>
              <a:defRPr sz="1575" b="1">
                <a:solidFill>
                  <a:srgbClr val="111111"/>
                </a:solidFill>
                <a:latin typeface="Arial"/>
                <a:ea typeface="Arial"/>
                <a:cs typeface="Arial"/>
              </a:defRPr>
            </a:pPr>
            <a:r>
              <a:rPr sz="1575" b="1">
                <a:solidFill>
                  <a:srgbClr val="111111"/>
                </a:solidFill>
                <a:latin typeface="Arial"/>
                <a:ea typeface="Arial"/>
                <a:cs typeface="Arial"/>
              </a:rPr>
              <a:t>Checkpoint + operation cache + evidence store = recoverable execution without paying twice.</a:t>
            </a:r>
          </a:p>
        </p:txBody>
      </p:sp>
    </p:spTree>
    <p:extLst>
      <p:ext uri="{BB962C8B-B14F-4D97-AF65-F5344CB8AC3E}">
        <p14:creationId xmlns:p14="http://schemas.microsoft.com/office/powerpoint/2010/main" val="198349801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4509BF5-C494-4FC5-A5DA-5FC74D272723}"/>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DESIGN HIGHLIGHT · OBSERVABILITY</a:t>
            </a:r>
          </a:p>
        </p:txBody>
      </p:sp>
      <p:sp>
        <p:nvSpPr>
          <p:cNvPr id="2" name="">
            <a:extLst xmlns:a="http://schemas.openxmlformats.org/drawingml/2006/main">
              <a:ext uri="{FF2B5EF4-FFF2-40B4-BE49-F238E27FC236}">
                <a16:creationId xmlns:a16="http://schemas.microsoft.com/office/drawing/2014/main" id="{555C7DD1-7B60-4B48-8E06-0275E987EEFE}"/>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Problem: aggregate latency hides the real bottleneck</a:t>
            </a:r>
          </a:p>
        </p:txBody>
      </p:sp>
      <p:sp>
        <p:nvSpPr>
          <p:cNvPr id="3" name="">
            <a:extLst xmlns:a="http://schemas.openxmlformats.org/drawingml/2006/main">
              <a:ext uri="{FF2B5EF4-FFF2-40B4-BE49-F238E27FC236}">
                <a16:creationId xmlns:a16="http://schemas.microsoft.com/office/drawing/2014/main" id="{908776EB-DC93-48C7-82BC-138E09E1468B}"/>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0AE01454-572B-47E2-BE8A-E48D23C2CCB6}"/>
              </a:ext>
            </a:extLst>
          </p:cNvPr>
          <p:cNvSpPr>
            <a:spLocks xmlns:a="http://schemas.openxmlformats.org/drawingml/2006/main" noGrp="1"/>
          </p:cNvSpPr>
          <p:nvPr/>
        </p:nvSpPr>
        <p:spPr>
          <a:xfrm xmlns:a="http://schemas.openxmlformats.org/drawingml/2006/main">
            <a:off x="457200" y="1581150"/>
            <a:ext cx="2952750" cy="4000500"/>
          </a:xfrm>
          <a:prstGeom xmlns:a="http://schemas.openxmlformats.org/drawingml/2006/main" prst="roundRect">
            <a:avLst>
              <a:gd name="adj" fmla="val 3226"/>
            </a:avLst>
          </a:prstGeom>
          <a:solidFill xmlns:a="http://schemas.openxmlformats.org/drawingml/2006/main">
            <a:srgbClr val="E7F4FA"/>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7C786AAD-C602-4F0A-8F9A-AAC7647E1928}"/>
              </a:ext>
            </a:extLst>
          </p:cNvPr>
          <p:cNvSpPr>
            <a:spLocks xmlns:a="http://schemas.openxmlformats.org/drawingml/2006/main" noGrp="1"/>
          </p:cNvSpPr>
          <p:nvPr/>
        </p:nvSpPr>
        <p:spPr>
          <a:xfrm xmlns:a="http://schemas.openxmlformats.org/drawingml/2006/main">
            <a:off x="723900" y="1952625"/>
            <a:ext cx="238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4350" b="1">
                <a:solidFill>
                  <a:srgbClr val="3D8DFF"/>
                </a:solidFill>
                <a:latin typeface="Arial"/>
                <a:ea typeface="Arial"/>
                <a:cs typeface="Arial"/>
              </a:defRPr>
            </a:pPr>
            <a:r>
              <a:rPr sz="4350" b="1">
                <a:solidFill>
                  <a:srgbClr val="3D8DFF"/>
                </a:solidFill>
                <a:latin typeface="Arial"/>
                <a:ea typeface="Arial"/>
                <a:cs typeface="Arial"/>
              </a:rPr>
              <a:t>598</a:t>
            </a:r>
          </a:p>
        </p:txBody>
      </p:sp>
      <p:sp>
        <p:nvSpPr>
          <p:cNvPr id="6" name="">
            <a:extLst xmlns:a="http://schemas.openxmlformats.org/drawingml/2006/main">
              <a:ext uri="{FF2B5EF4-FFF2-40B4-BE49-F238E27FC236}">
                <a16:creationId xmlns:a16="http://schemas.microsoft.com/office/drawing/2014/main" id="{BE7224FC-126F-41E4-AF7A-616E3CE0D38D}"/>
              </a:ext>
            </a:extLst>
          </p:cNvPr>
          <p:cNvSpPr>
            <a:spLocks xmlns:a="http://schemas.openxmlformats.org/drawingml/2006/main" noGrp="1"/>
          </p:cNvSpPr>
          <p:nvPr/>
        </p:nvSpPr>
        <p:spPr>
          <a:xfrm xmlns:a="http://schemas.openxmlformats.org/drawingml/2006/main">
            <a:off x="723900" y="2724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model attempts</a:t>
            </a:r>
          </a:p>
        </p:txBody>
      </p:sp>
      <p:sp>
        <p:nvSpPr>
          <p:cNvPr id="7" name="">
            <a:extLst xmlns:a="http://schemas.openxmlformats.org/drawingml/2006/main">
              <a:ext uri="{FF2B5EF4-FFF2-40B4-BE49-F238E27FC236}">
                <a16:creationId xmlns:a16="http://schemas.microsoft.com/office/drawing/2014/main" id="{D1730655-E6EB-425A-93F7-11FE26B68C62}"/>
              </a:ext>
            </a:extLst>
          </p:cNvPr>
          <p:cNvSpPr>
            <a:spLocks xmlns:a="http://schemas.openxmlformats.org/drawingml/2006/main" noGrp="1"/>
          </p:cNvSpPr>
          <p:nvPr/>
        </p:nvSpPr>
        <p:spPr>
          <a:xfrm xmlns:a="http://schemas.openxmlformats.org/drawingml/2006/main">
            <a:off x="800100" y="3409950"/>
            <a:ext cx="22669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a:solidFill>
                  <a:srgbClr val="5F6670"/>
                </a:solidFill>
                <a:latin typeface="Arial"/>
                <a:ea typeface="Arial"/>
                <a:cs typeface="Arial"/>
              </a:defRPr>
            </a:pPr>
            <a:r>
              <a:rPr sz="1500" b="0">
                <a:solidFill>
                  <a:srgbClr val="5F6670"/>
                </a:solidFill>
                <a:latin typeface="Arial"/>
                <a:ea typeface="Arial"/>
                <a:cs typeface="Arial"/>
              </a:rPr>
              <a:t>154 top-level operations</a:t>
            </a:r>
          </a:p>
          <a:p xmlns:a="http://schemas.openxmlformats.org/drawingml/2006/main">
            <a:pPr algn="ctr">
              <a:buNone/>
              <a:defRPr sz="1500" b="0">
                <a:solidFill>
                  <a:srgbClr val="5F6670"/>
                </a:solidFill>
                <a:latin typeface="Arial"/>
                <a:ea typeface="Arial"/>
                <a:cs typeface="Arial"/>
              </a:defRPr>
            </a:pPr>
            <a:r>
              <a:rPr sz="1500" b="0">
                <a:solidFill>
                  <a:srgbClr val="5F6670"/>
                </a:solidFill>
                <a:latin typeface="Arial"/>
                <a:ea typeface="Arial"/>
                <a:cs typeface="Arial"/>
              </a:rPr>
              <a:t>27 Tavily searches</a:t>
            </a:r>
          </a:p>
          <a:p xmlns:a="http://schemas.openxmlformats.org/drawingml/2006/main">
            <a:pPr algn="ctr">
              <a:buNone/>
              <a:defRPr sz="1500" b="0">
                <a:solidFill>
                  <a:srgbClr val="5F6670"/>
                </a:solidFill>
                <a:latin typeface="Arial"/>
                <a:ea typeface="Arial"/>
                <a:cs typeface="Arial"/>
              </a:defRPr>
            </a:pPr>
            <a:r>
              <a:rPr sz="1500" b="0">
                <a:solidFill>
                  <a:srgbClr val="5F6670"/>
                </a:solidFill>
                <a:latin typeface="Arial"/>
                <a:ea typeface="Arial"/>
                <a:cs typeface="Arial"/>
              </a:rPr>
              <a:t>2 research waves</a:t>
            </a:r>
          </a:p>
          <a:p xmlns:a="http://schemas.openxmlformats.org/drawingml/2006/main">
            <a:pPr algn="ctr">
              <a:buNone/>
              <a:defRPr sz="1500" b="0">
                <a:solidFill>
                  <a:srgbClr val="5F6670"/>
                </a:solidFill>
                <a:latin typeface="Arial"/>
                <a:ea typeface="Arial"/>
                <a:cs typeface="Arial"/>
              </a:defRPr>
            </a:pPr>
            <a:r>
              <a:rPr sz="1500" b="0">
                <a:solidFill>
                  <a:srgbClr val="5F6670"/>
                </a:solidFill>
                <a:latin typeface="Arial"/>
                <a:ea typeface="Arial"/>
                <a:cs typeface="Arial"/>
              </a:rPr>
              <a:t>3.23M input tokens</a:t>
            </a:r>
          </a:p>
        </p:txBody>
      </p:sp>
      <p:graphicFrame>
        <p:nvGraphicFramePr>
          <p:cNvPr id="27" name="Chart"/>
          <p:cNvGraphicFramePr/>
          <p:nvPr/>
        </p:nvGraphicFramePr>
        <p:xfrm>
          <a:off xmlns:a="http://schemas.openxmlformats.org/drawingml/2006/main" x="3905250" y="1714500"/>
          <a:ext xmlns:a="http://schemas.openxmlformats.org/drawingml/2006/main" cx="4762500" cy="3619500"/>
        </p:xfrm>
        <a:graphic xmlns:a="http://schemas.openxmlformats.org/drawingml/2006/main">
          <a:graphicData uri="http://schemas.openxmlformats.org/drawingml/2006/chart">
            <c:chart xmlns:r="http://schemas.openxmlformats.org/officeDocument/2006/relationships" xmlns:c="http://schemas.openxmlformats.org/drawingml/2006/chart" r:id="R1d2019e16fd64ca1"/>
          </a:graphicData>
        </a:graphic>
      </p:graphicFrame>
      <p:sp>
        <p:nvSpPr>
          <p:cNvPr id="9" name="">
            <a:extLst xmlns:a="http://schemas.openxmlformats.org/drawingml/2006/main">
              <a:ext uri="{FF2B5EF4-FFF2-40B4-BE49-F238E27FC236}">
                <a16:creationId xmlns:a16="http://schemas.microsoft.com/office/drawing/2014/main" id="{26E8652B-C2BA-43E7-A88D-6D17E66D85DC}"/>
              </a:ext>
            </a:extLst>
          </p:cNvPr>
          <p:cNvSpPr>
            <a:spLocks xmlns:a="http://schemas.openxmlformats.org/drawingml/2006/main" noGrp="1"/>
          </p:cNvSpPr>
          <p:nvPr/>
        </p:nvSpPr>
        <p:spPr>
          <a:xfrm xmlns:a="http://schemas.openxmlformats.org/drawingml/2006/main">
            <a:off x="9048750" y="1714500"/>
            <a:ext cx="2686050" cy="1676400"/>
          </a:xfrm>
          <a:prstGeom xmlns:a="http://schemas.openxmlformats.org/drawingml/2006/main" prst="roundRect">
            <a:avLst>
              <a:gd name="adj" fmla="val 5682"/>
            </a:avLst>
          </a:prstGeom>
          <a:solidFill xmlns:a="http://schemas.openxmlformats.org/drawingml/2006/main">
            <a:srgbClr val="F1F2F4"/>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06AD579D-005D-424A-8AE3-58CDF831281D}"/>
              </a:ext>
            </a:extLst>
          </p:cNvPr>
          <p:cNvSpPr>
            <a:spLocks xmlns:a="http://schemas.openxmlformats.org/drawingml/2006/main" noGrp="1"/>
          </p:cNvSpPr>
          <p:nvPr/>
        </p:nvSpPr>
        <p:spPr>
          <a:xfrm xmlns:a="http://schemas.openxmlformats.org/drawingml/2006/main">
            <a:off x="9258300" y="18859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3D8DFF"/>
                </a:solidFill>
                <a:latin typeface="Arial"/>
                <a:ea typeface="Arial"/>
                <a:cs typeface="Arial"/>
              </a:defRPr>
            </a:pPr>
            <a:r>
              <a:rPr sz="1050" b="1">
                <a:solidFill>
                  <a:srgbClr val="3D8DFF"/>
                </a:solidFill>
                <a:latin typeface="Arial"/>
                <a:ea typeface="Arial"/>
                <a:cs typeface="Arial"/>
              </a:rPr>
              <a:t>RESEARCH TRACE</a:t>
            </a:r>
          </a:p>
        </p:txBody>
      </p:sp>
      <p:sp>
        <p:nvSpPr>
          <p:cNvPr id="11" name="">
            <a:extLst xmlns:a="http://schemas.openxmlformats.org/drawingml/2006/main">
              <a:ext uri="{FF2B5EF4-FFF2-40B4-BE49-F238E27FC236}">
                <a16:creationId xmlns:a16="http://schemas.microsoft.com/office/drawing/2014/main" id="{D6387B4C-5C09-485F-BE68-35B16A9690A0}"/>
              </a:ext>
            </a:extLst>
          </p:cNvPr>
          <p:cNvSpPr>
            <a:spLocks xmlns:a="http://schemas.openxmlformats.org/drawingml/2006/main" noGrp="1"/>
          </p:cNvSpPr>
          <p:nvPr/>
        </p:nvSpPr>
        <p:spPr>
          <a:xfrm xmlns:a="http://schemas.openxmlformats.org/drawingml/2006/main">
            <a:off x="9258300" y="217170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run_view.html</a:t>
            </a:r>
          </a:p>
        </p:txBody>
      </p:sp>
      <p:sp>
        <p:nvSpPr>
          <p:cNvPr id="12" name="">
            <a:extLst xmlns:a="http://schemas.openxmlformats.org/drawingml/2006/main">
              <a:ext uri="{FF2B5EF4-FFF2-40B4-BE49-F238E27FC236}">
                <a16:creationId xmlns:a16="http://schemas.microsoft.com/office/drawing/2014/main" id="{9CD19AFB-2425-4E45-8169-C87DCAC6316C}"/>
              </a:ext>
            </a:extLst>
          </p:cNvPr>
          <p:cNvSpPr>
            <a:spLocks xmlns:a="http://schemas.openxmlformats.org/drawingml/2006/main" noGrp="1"/>
          </p:cNvSpPr>
          <p:nvPr/>
        </p:nvSpPr>
        <p:spPr>
          <a:xfrm xmlns:a="http://schemas.openxmlformats.org/drawingml/2006/main">
            <a:off x="9258300" y="2686050"/>
            <a:ext cx="2266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5F6670"/>
                </a:solidFill>
                <a:latin typeface="Arial"/>
                <a:ea typeface="Arial"/>
                <a:cs typeface="Arial"/>
              </a:defRPr>
            </a:pPr>
            <a:r>
              <a:rPr sz="1200" b="0">
                <a:solidFill>
                  <a:srgbClr val="5F6670"/>
                </a:solidFill>
                <a:latin typeface="Arial"/>
                <a:ea typeface="Arial"/>
                <a:cs typeface="Arial"/>
              </a:rPr>
              <a:t>Roles, tasks, every operation, evidence, and the final audit.</a:t>
            </a:r>
          </a:p>
        </p:txBody>
      </p:sp>
      <p:sp>
        <p:nvSpPr>
          <p:cNvPr id="13" name="">
            <a:extLst xmlns:a="http://schemas.openxmlformats.org/drawingml/2006/main">
              <a:ext uri="{FF2B5EF4-FFF2-40B4-BE49-F238E27FC236}">
                <a16:creationId xmlns:a16="http://schemas.microsoft.com/office/drawing/2014/main" id="{2153187C-5B64-4E49-96EA-1C7025A667DC}"/>
              </a:ext>
            </a:extLst>
          </p:cNvPr>
          <p:cNvSpPr>
            <a:spLocks xmlns:a="http://schemas.openxmlformats.org/drawingml/2006/main" noGrp="1"/>
          </p:cNvSpPr>
          <p:nvPr/>
        </p:nvSpPr>
        <p:spPr>
          <a:xfrm xmlns:a="http://schemas.openxmlformats.org/drawingml/2006/main">
            <a:off x="9048750" y="3657600"/>
            <a:ext cx="2686050" cy="1676400"/>
          </a:xfrm>
          <a:prstGeom xmlns:a="http://schemas.openxmlformats.org/drawingml/2006/main" prst="roundRect">
            <a:avLst>
              <a:gd name="adj" fmla="val 5682"/>
            </a:avLst>
          </a:prstGeom>
          <a:solidFill xmlns:a="http://schemas.openxmlformats.org/drawingml/2006/main">
            <a:srgbClr val="E7F4FA"/>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4A72A218-9814-4681-A24E-9C772D968202}"/>
              </a:ext>
            </a:extLst>
          </p:cNvPr>
          <p:cNvSpPr>
            <a:spLocks xmlns:a="http://schemas.openxmlformats.org/drawingml/2006/main" noGrp="1"/>
          </p:cNvSpPr>
          <p:nvPr/>
        </p:nvSpPr>
        <p:spPr>
          <a:xfrm xmlns:a="http://schemas.openxmlformats.org/drawingml/2006/main">
            <a:off x="9258300" y="38290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3D8DFF"/>
                </a:solidFill>
                <a:latin typeface="Arial"/>
                <a:ea typeface="Arial"/>
                <a:cs typeface="Arial"/>
              </a:defRPr>
            </a:pPr>
            <a:r>
              <a:rPr sz="1050" b="1">
                <a:solidFill>
                  <a:srgbClr val="3D8DFF"/>
                </a:solidFill>
                <a:latin typeface="Arial"/>
                <a:ea typeface="Arial"/>
                <a:cs typeface="Arial"/>
              </a:rPr>
              <a:t>MODEL TRACE</a:t>
            </a:r>
          </a:p>
        </p:txBody>
      </p:sp>
      <p:sp>
        <p:nvSpPr>
          <p:cNvPr id="15" name="">
            <a:extLst xmlns:a="http://schemas.openxmlformats.org/drawingml/2006/main">
              <a:ext uri="{FF2B5EF4-FFF2-40B4-BE49-F238E27FC236}">
                <a16:creationId xmlns:a16="http://schemas.microsoft.com/office/drawing/2014/main" id="{25B37523-F3AF-482F-A871-409DCFB30E52}"/>
              </a:ext>
            </a:extLst>
          </p:cNvPr>
          <p:cNvSpPr>
            <a:spLocks xmlns:a="http://schemas.openxmlformats.org/drawingml/2006/main" noGrp="1"/>
          </p:cNvSpPr>
          <p:nvPr/>
        </p:nvSpPr>
        <p:spPr>
          <a:xfrm xmlns:a="http://schemas.openxmlformats.org/drawingml/2006/main">
            <a:off x="9258300" y="411480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model_observability</a:t>
            </a:r>
          </a:p>
        </p:txBody>
      </p:sp>
      <p:sp>
        <p:nvSpPr>
          <p:cNvPr id="16" name="">
            <a:extLst xmlns:a="http://schemas.openxmlformats.org/drawingml/2006/main">
              <a:ext uri="{FF2B5EF4-FFF2-40B4-BE49-F238E27FC236}">
                <a16:creationId xmlns:a16="http://schemas.microsoft.com/office/drawing/2014/main" id="{2EFD6451-13F3-4BAA-AD05-270526107DE7}"/>
              </a:ext>
            </a:extLst>
          </p:cNvPr>
          <p:cNvSpPr>
            <a:spLocks xmlns:a="http://schemas.openxmlformats.org/drawingml/2006/main" noGrp="1"/>
          </p:cNvSpPr>
          <p:nvPr/>
        </p:nvSpPr>
        <p:spPr>
          <a:xfrm xmlns:a="http://schemas.openxmlformats.org/drawingml/2006/main">
            <a:off x="9258300" y="4629150"/>
            <a:ext cx="2266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5F6670"/>
                </a:solidFill>
                <a:latin typeface="Arial"/>
                <a:ea typeface="Arial"/>
                <a:cs typeface="Arial"/>
              </a:defRPr>
            </a:pPr>
            <a:r>
              <a:rPr sz="1200" b="0">
                <a:solidFill>
                  <a:srgbClr val="5F6670"/>
                </a:solidFill>
                <a:latin typeface="Arial"/>
                <a:ea typeface="Arial"/>
                <a:cs typeface="Arial"/>
              </a:rPr>
              <a:t>routing / attempts / tokens</a:t>
            </a:r>
          </a:p>
          <a:p xmlns:a="http://schemas.openxmlformats.org/drawingml/2006/main">
            <a:pPr algn="l">
              <a:buNone/>
              <a:defRPr sz="1200" b="0">
                <a:solidFill>
                  <a:srgbClr val="5F6670"/>
                </a:solidFill>
                <a:latin typeface="Arial"/>
                <a:ea typeface="Arial"/>
                <a:cs typeface="Arial"/>
              </a:defRPr>
            </a:pPr>
            <a:r>
              <a:rPr sz="1200" b="0">
                <a:solidFill>
                  <a:srgbClr val="5F6670"/>
                </a:solidFill>
                <a:latin typeface="Arial"/>
                <a:ea typeface="Arial"/>
                <a:cs typeface="Arial"/>
              </a:rPr>
              <a:t>context / latency / cost</a:t>
            </a:r>
          </a:p>
        </p:txBody>
      </p:sp>
      <p:sp>
        <p:nvSpPr>
          <p:cNvPr id="17" name="">
            <a:extLst xmlns:a="http://schemas.openxmlformats.org/drawingml/2006/main">
              <a:ext uri="{FF2B5EF4-FFF2-40B4-BE49-F238E27FC236}">
                <a16:creationId xmlns:a16="http://schemas.microsoft.com/office/drawing/2014/main" id="{18DA8A45-3604-4B79-9C3A-8271152B1262}"/>
              </a:ext>
            </a:extLst>
          </p:cNvPr>
          <p:cNvSpPr>
            <a:spLocks xmlns:a="http://schemas.openxmlformats.org/drawingml/2006/main" noGrp="1"/>
          </p:cNvSpPr>
          <p:nvPr/>
        </p:nvSpPr>
        <p:spPr>
          <a:xfrm xmlns:a="http://schemas.openxmlformats.org/drawingml/2006/main">
            <a:off x="457200" y="5857875"/>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The trace exposes the next bottleneck: extraction and schema repair still dominate call volume.</a:t>
            </a:r>
          </a:p>
        </p:txBody>
      </p:sp>
    </p:spTree>
    <p:extLst>
      <p:ext uri="{BB962C8B-B14F-4D97-AF65-F5344CB8AC3E}">
        <p14:creationId xmlns:p14="http://schemas.microsoft.com/office/powerpoint/2010/main" val="18995786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AC85C84-04DF-42EA-9071-ACCC84A5350B}"/>
              </a:ext>
            </a:extLst>
          </p:cNvPr>
          <p:cNvSpPr>
            <a:spLocks xmlns:a="http://schemas.openxmlformats.org/drawingml/2006/main" noGrp="1"/>
          </p:cNvSpPr>
          <p:nvPr/>
        </p:nvSpPr>
        <p:spPr>
          <a:xfrm xmlns:a="http://schemas.openxmlformats.org/drawingml/2006/main">
            <a:off x="457200" y="26670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D8DFF"/>
                </a:solidFill>
                <a:latin typeface="Arial"/>
                <a:ea typeface="Arial"/>
                <a:cs typeface="Arial"/>
              </a:defRPr>
            </a:pPr>
            <a:r>
              <a:rPr sz="1125" b="1">
                <a:solidFill>
                  <a:srgbClr val="3D8DFF"/>
                </a:solidFill>
                <a:latin typeface="Arial"/>
                <a:ea typeface="Arial"/>
                <a:cs typeface="Arial"/>
              </a:rPr>
              <a:t>NEXT DESIGN STEP · MEMORY MANAGEMENT</a:t>
            </a:r>
          </a:p>
        </p:txBody>
      </p:sp>
      <p:sp>
        <p:nvSpPr>
          <p:cNvPr id="2" name="">
            <a:extLst xmlns:a="http://schemas.openxmlformats.org/drawingml/2006/main">
              <a:ext uri="{FF2B5EF4-FFF2-40B4-BE49-F238E27FC236}">
                <a16:creationId xmlns:a16="http://schemas.microsoft.com/office/drawing/2014/main" id="{C7C5997B-CCBC-41BC-8984-1E94DD53E2C3}"/>
              </a:ext>
            </a:extLst>
          </p:cNvPr>
          <p:cNvSpPr>
            <a:spLocks xmlns:a="http://schemas.openxmlformats.org/drawingml/2006/main" noGrp="1"/>
          </p:cNvSpPr>
          <p:nvPr/>
        </p:nvSpPr>
        <p:spPr>
          <a:xfrm xmlns:a="http://schemas.openxmlformats.org/drawingml/2006/main">
            <a:off x="457200" y="59055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955"/>
          </a:bodyPr>
          <a:lstStyle xmlns:a="http://schemas.openxmlformats.org/drawingml/2006/main"/>
          <a:p xmlns:a="http://schemas.openxmlformats.org/drawingml/2006/main">
            <a:pPr algn="l">
              <a:buNone/>
              <a:defRPr sz="2925" b="1">
                <a:solidFill>
                  <a:srgbClr val="111111"/>
                </a:solidFill>
                <a:latin typeface="Arial"/>
                <a:ea typeface="Arial"/>
                <a:cs typeface="Arial"/>
              </a:defRPr>
            </a:pPr>
            <a:r>
              <a:rPr sz="2925" b="1">
                <a:solidFill>
                  <a:srgbClr val="111111"/>
                </a:solidFill>
                <a:latin typeface="Arial"/>
                <a:ea typeface="Arial"/>
                <a:cs typeface="Arial"/>
              </a:rPr>
              <a:t>Problem: persistence alone does not create reusable memory</a:t>
            </a:r>
          </a:p>
        </p:txBody>
      </p:sp>
      <p:sp>
        <p:nvSpPr>
          <p:cNvPr id="3" name="">
            <a:extLst xmlns:a="http://schemas.openxmlformats.org/drawingml/2006/main">
              <a:ext uri="{FF2B5EF4-FFF2-40B4-BE49-F238E27FC236}">
                <a16:creationId xmlns:a16="http://schemas.microsoft.com/office/drawing/2014/main" id="{A3347E76-BBCD-47F9-8535-6211D7DCE57C}"/>
              </a:ext>
            </a:extLst>
          </p:cNvPr>
          <p:cNvSpPr>
            <a:spLocks xmlns:a="http://schemas.openxmlformats.org/drawingml/2006/main" noGrp="1"/>
          </p:cNvSpPr>
          <p:nvPr/>
        </p:nvSpPr>
        <p:spPr>
          <a:xfrm xmlns:a="http://schemas.openxmlformats.org/drawingml/2006/main">
            <a:off x="113157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r">
              <a:buNone/>
              <a:defRPr sz="900" b="0">
                <a:solidFill>
                  <a:srgbClr val="5F6670"/>
                </a:solidFill>
                <a:latin typeface="Arial"/>
                <a:ea typeface="Arial"/>
                <a:cs typeface="Arial"/>
              </a:defRPr>
            </a:pPr>
            <a:r>
              <a:rPr sz="900" b="0">
                <a:solidFill>
                  <a:srgbClr val="5F6670"/>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78A08F6D-DF9D-4E11-815E-7149D8D5502E}"/>
              </a:ext>
            </a:extLst>
          </p:cNvPr>
          <p:cNvSpPr>
            <a:spLocks xmlns:a="http://schemas.openxmlformats.org/drawingml/2006/main" noGrp="1"/>
          </p:cNvSpPr>
          <p:nvPr/>
        </p:nvSpPr>
        <p:spPr>
          <a:xfrm xmlns:a="http://schemas.openxmlformats.org/drawingml/2006/main">
            <a:off x="457200" y="16192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01 · NOW</a:t>
            </a:r>
          </a:p>
        </p:txBody>
      </p:sp>
      <p:sp>
        <p:nvSpPr>
          <p:cNvPr id="5" name="">
            <a:extLst xmlns:a="http://schemas.openxmlformats.org/drawingml/2006/main">
              <a:ext uri="{FF2B5EF4-FFF2-40B4-BE49-F238E27FC236}">
                <a16:creationId xmlns:a16="http://schemas.microsoft.com/office/drawing/2014/main" id="{BC798856-5BBC-498C-855B-6BA9E867118A}"/>
              </a:ext>
            </a:extLst>
          </p:cNvPr>
          <p:cNvSpPr>
            <a:spLocks xmlns:a="http://schemas.openxmlformats.org/drawingml/2006/main" noGrp="1"/>
          </p:cNvSpPr>
          <p:nvPr/>
        </p:nvSpPr>
        <p:spPr>
          <a:xfrm xmlns:a="http://schemas.openxmlformats.org/drawingml/2006/main">
            <a:off x="2095500" y="15811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436"/>
          </a:bodyPr>
          <a:lstStyle xmlns:a="http://schemas.openxmlformats.org/drawingml/2006/main"/>
          <a:p xmlns:a="http://schemas.openxmlformats.org/drawingml/2006/main">
            <a:pPr algn="l">
              <a:buNone/>
              <a:defRPr sz="1950" b="1">
                <a:solidFill>
                  <a:srgbClr val="111111"/>
                </a:solidFill>
                <a:latin typeface="Arial"/>
                <a:ea typeface="Arial"/>
                <a:cs typeface="Arial"/>
              </a:defRPr>
            </a:pPr>
            <a:r>
              <a:rPr sz="1950" b="1">
                <a:solidFill>
                  <a:srgbClr val="111111"/>
                </a:solidFill>
                <a:latin typeface="Arial"/>
                <a:ea typeface="Arial"/>
                <a:cs typeface="Arial"/>
              </a:rPr>
              <a:t>Run-scoped memory</a:t>
            </a:r>
          </a:p>
        </p:txBody>
      </p:sp>
      <p:sp>
        <p:nvSpPr>
          <p:cNvPr id="6" name="">
            <a:extLst xmlns:a="http://schemas.openxmlformats.org/drawingml/2006/main">
              <a:ext uri="{FF2B5EF4-FFF2-40B4-BE49-F238E27FC236}">
                <a16:creationId xmlns:a16="http://schemas.microsoft.com/office/drawing/2014/main" id="{B47FC621-0FA0-4810-9DE0-3E00423F40DF}"/>
              </a:ext>
            </a:extLst>
          </p:cNvPr>
          <p:cNvSpPr>
            <a:spLocks xmlns:a="http://schemas.openxmlformats.org/drawingml/2006/main" noGrp="1"/>
          </p:cNvSpPr>
          <p:nvPr/>
        </p:nvSpPr>
        <p:spPr>
          <a:xfrm xmlns:a="http://schemas.openxmlformats.org/drawingml/2006/main">
            <a:off x="5048250" y="1619250"/>
            <a:ext cx="6229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5F6670"/>
                </a:solidFill>
                <a:latin typeface="Arial"/>
                <a:ea typeface="Arial"/>
                <a:cs typeface="Arial"/>
              </a:defRPr>
            </a:pPr>
            <a:r>
              <a:rPr sz="1425" b="0">
                <a:solidFill>
                  <a:srgbClr val="5F6670"/>
                </a:solidFill>
                <a:latin typeface="Arial"/>
                <a:ea typeface="Arial"/>
                <a:cs typeface="Arial"/>
              </a:rPr>
              <a:t>Persist GraphState, evidence, operations, audits, and telemetry for one research run.</a:t>
            </a:r>
          </a:p>
        </p:txBody>
      </p:sp>
      <p:sp>
        <p:nvSpPr>
          <p:cNvPr id="7" name="">
            <a:extLst xmlns:a="http://schemas.openxmlformats.org/drawingml/2006/main">
              <a:ext uri="{FF2B5EF4-FFF2-40B4-BE49-F238E27FC236}">
                <a16:creationId xmlns:a16="http://schemas.microsoft.com/office/drawing/2014/main" id="{E8BF94E9-C804-49E0-86B7-2CED1667E320}"/>
              </a:ext>
            </a:extLst>
          </p:cNvPr>
          <p:cNvSpPr>
            <a:spLocks xmlns:a="http://schemas.openxmlformats.org/drawingml/2006/main" noGrp="1"/>
          </p:cNvSpPr>
          <p:nvPr/>
        </p:nvSpPr>
        <p:spPr>
          <a:xfrm xmlns:a="http://schemas.openxmlformats.org/drawingml/2006/main">
            <a:off x="457200" y="28765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02 · NEXT</a:t>
            </a:r>
          </a:p>
        </p:txBody>
      </p:sp>
      <p:sp>
        <p:nvSpPr>
          <p:cNvPr id="8" name="">
            <a:extLst xmlns:a="http://schemas.openxmlformats.org/drawingml/2006/main">
              <a:ext uri="{FF2B5EF4-FFF2-40B4-BE49-F238E27FC236}">
                <a16:creationId xmlns:a16="http://schemas.microsoft.com/office/drawing/2014/main" id="{0590ED0E-4EC8-4A44-9190-524176883910}"/>
              </a:ext>
            </a:extLst>
          </p:cNvPr>
          <p:cNvSpPr>
            <a:spLocks xmlns:a="http://schemas.openxmlformats.org/drawingml/2006/main" noGrp="1"/>
          </p:cNvSpPr>
          <p:nvPr/>
        </p:nvSpPr>
        <p:spPr>
          <a:xfrm xmlns:a="http://schemas.openxmlformats.org/drawingml/2006/main">
            <a:off x="2095500" y="28384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436"/>
          </a:bodyPr>
          <a:lstStyle xmlns:a="http://schemas.openxmlformats.org/drawingml/2006/main"/>
          <a:p xmlns:a="http://schemas.openxmlformats.org/drawingml/2006/main">
            <a:pPr algn="l">
              <a:buNone/>
              <a:defRPr sz="1950" b="1">
                <a:solidFill>
                  <a:srgbClr val="111111"/>
                </a:solidFill>
                <a:latin typeface="Arial"/>
                <a:ea typeface="Arial"/>
                <a:cs typeface="Arial"/>
              </a:defRPr>
            </a:pPr>
            <a:r>
              <a:rPr sz="1950" b="1">
                <a:solidFill>
                  <a:srgbClr val="111111"/>
                </a:solidFill>
                <a:latin typeface="Arial"/>
                <a:ea typeface="Arial"/>
                <a:cs typeface="Arial"/>
              </a:rPr>
              <a:t>Context compiler</a:t>
            </a:r>
          </a:p>
        </p:txBody>
      </p:sp>
      <p:sp>
        <p:nvSpPr>
          <p:cNvPr id="9" name="">
            <a:extLst xmlns:a="http://schemas.openxmlformats.org/drawingml/2006/main">
              <a:ext uri="{FF2B5EF4-FFF2-40B4-BE49-F238E27FC236}">
                <a16:creationId xmlns:a16="http://schemas.microsoft.com/office/drawing/2014/main" id="{DACD738F-712A-4728-B71C-4FC1AA9E697D}"/>
              </a:ext>
            </a:extLst>
          </p:cNvPr>
          <p:cNvSpPr>
            <a:spLocks xmlns:a="http://schemas.openxmlformats.org/drawingml/2006/main" noGrp="1"/>
          </p:cNvSpPr>
          <p:nvPr/>
        </p:nvSpPr>
        <p:spPr>
          <a:xfrm xmlns:a="http://schemas.openxmlformats.org/drawingml/2006/main">
            <a:off x="5048250" y="2876550"/>
            <a:ext cx="6229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5F6670"/>
                </a:solidFill>
                <a:latin typeface="Arial"/>
                <a:ea typeface="Arial"/>
                <a:cs typeface="Arial"/>
              </a:defRPr>
            </a:pPr>
            <a:r>
              <a:rPr sz="1425" b="0">
                <a:solidFill>
                  <a:srgbClr val="5F6670"/>
                </a:solidFill>
                <a:latin typeface="Arial"/>
                <a:ea typeface="Arial"/>
                <a:cs typeface="Arial"/>
              </a:rPr>
              <a:t>Select the smallest useful context by task, claim gap, provenance diversity, and token budget.</a:t>
            </a:r>
          </a:p>
        </p:txBody>
      </p:sp>
      <p:sp>
        <p:nvSpPr>
          <p:cNvPr id="10" name="">
            <a:extLst xmlns:a="http://schemas.openxmlformats.org/drawingml/2006/main">
              <a:ext uri="{FF2B5EF4-FFF2-40B4-BE49-F238E27FC236}">
                <a16:creationId xmlns:a16="http://schemas.microsoft.com/office/drawing/2014/main" id="{D2BD6E9F-D412-4C4A-AFE9-552CD6A90D65}"/>
              </a:ext>
            </a:extLst>
          </p:cNvPr>
          <p:cNvSpPr>
            <a:spLocks xmlns:a="http://schemas.openxmlformats.org/drawingml/2006/main" noGrp="1"/>
          </p:cNvSpPr>
          <p:nvPr/>
        </p:nvSpPr>
        <p:spPr>
          <a:xfrm xmlns:a="http://schemas.openxmlformats.org/drawingml/2006/main">
            <a:off x="457200" y="41338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03 · LATER</a:t>
            </a:r>
          </a:p>
        </p:txBody>
      </p:sp>
      <p:sp>
        <p:nvSpPr>
          <p:cNvPr id="11" name="">
            <a:extLst xmlns:a="http://schemas.openxmlformats.org/drawingml/2006/main">
              <a:ext uri="{FF2B5EF4-FFF2-40B4-BE49-F238E27FC236}">
                <a16:creationId xmlns:a16="http://schemas.microsoft.com/office/drawing/2014/main" id="{70CF6994-F26A-4838-9C11-11F97A800112}"/>
              </a:ext>
            </a:extLst>
          </p:cNvPr>
          <p:cNvSpPr>
            <a:spLocks xmlns:a="http://schemas.openxmlformats.org/drawingml/2006/main" noGrp="1"/>
          </p:cNvSpPr>
          <p:nvPr/>
        </p:nvSpPr>
        <p:spPr>
          <a:xfrm xmlns:a="http://schemas.openxmlformats.org/drawingml/2006/main">
            <a:off x="2095500" y="40957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436"/>
          </a:bodyPr>
          <a:lstStyle xmlns:a="http://schemas.openxmlformats.org/drawingml/2006/main"/>
          <a:p xmlns:a="http://schemas.openxmlformats.org/drawingml/2006/main">
            <a:pPr algn="l">
              <a:buNone/>
              <a:defRPr sz="1950" b="1">
                <a:solidFill>
                  <a:srgbClr val="111111"/>
                </a:solidFill>
                <a:latin typeface="Arial"/>
                <a:ea typeface="Arial"/>
                <a:cs typeface="Arial"/>
              </a:defRPr>
            </a:pPr>
            <a:r>
              <a:rPr sz="1950" b="1">
                <a:solidFill>
                  <a:srgbClr val="111111"/>
                </a:solidFill>
                <a:latin typeface="Arial"/>
                <a:ea typeface="Arial"/>
                <a:cs typeface="Arial"/>
              </a:rPr>
              <a:t>Cross-run memory</a:t>
            </a:r>
          </a:p>
        </p:txBody>
      </p:sp>
      <p:sp>
        <p:nvSpPr>
          <p:cNvPr id="12" name="">
            <a:extLst xmlns:a="http://schemas.openxmlformats.org/drawingml/2006/main">
              <a:ext uri="{FF2B5EF4-FFF2-40B4-BE49-F238E27FC236}">
                <a16:creationId xmlns:a16="http://schemas.microsoft.com/office/drawing/2014/main" id="{F7FC8E04-BCA0-4DBC-8438-5237B2F12CA0}"/>
              </a:ext>
            </a:extLst>
          </p:cNvPr>
          <p:cNvSpPr>
            <a:spLocks xmlns:a="http://schemas.openxmlformats.org/drawingml/2006/main" noGrp="1"/>
          </p:cNvSpPr>
          <p:nvPr/>
        </p:nvSpPr>
        <p:spPr>
          <a:xfrm xmlns:a="http://schemas.openxmlformats.org/drawingml/2006/main">
            <a:off x="5048250" y="4133850"/>
            <a:ext cx="6229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5F6670"/>
                </a:solidFill>
                <a:latin typeface="Arial"/>
                <a:ea typeface="Arial"/>
                <a:cs typeface="Arial"/>
              </a:defRPr>
            </a:pPr>
            <a:r>
              <a:rPr sz="1425" b="0">
                <a:solidFill>
                  <a:srgbClr val="5F6670"/>
                </a:solidFill>
                <a:latin typeface="Arial"/>
                <a:ea typeface="Arial"/>
                <a:cs typeface="Arial"/>
              </a:rPr>
              <a:t>Consolidate reusable findings with hybrid retrieval, versioning, decay, and stale-fact controls.</a:t>
            </a:r>
          </a:p>
        </p:txBody>
      </p:sp>
      <p:sp>
        <p:nvSpPr>
          <p:cNvPr id="13" name="">
            <a:extLst xmlns:a="http://schemas.openxmlformats.org/drawingml/2006/main">
              <a:ext uri="{FF2B5EF4-FFF2-40B4-BE49-F238E27FC236}">
                <a16:creationId xmlns:a16="http://schemas.microsoft.com/office/drawing/2014/main" id="{35E887E4-EC4B-4D90-B605-6337837F02D6}"/>
              </a:ext>
            </a:extLst>
          </p:cNvPr>
          <p:cNvSpPr>
            <a:spLocks xmlns:a="http://schemas.openxmlformats.org/drawingml/2006/main" noGrp="1"/>
          </p:cNvSpPr>
          <p:nvPr/>
        </p:nvSpPr>
        <p:spPr>
          <a:xfrm xmlns:a="http://schemas.openxmlformats.org/drawingml/2006/main">
            <a:off x="457200" y="5448300"/>
            <a:ext cx="108204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4" name="">
            <a:extLst xmlns:a="http://schemas.openxmlformats.org/drawingml/2006/main">
              <a:ext uri="{FF2B5EF4-FFF2-40B4-BE49-F238E27FC236}">
                <a16:creationId xmlns:a16="http://schemas.microsoft.com/office/drawing/2014/main" id="{0D2EECF8-2339-4AB4-A295-2D4B532BC10C}"/>
              </a:ext>
            </a:extLst>
          </p:cNvPr>
          <p:cNvSpPr>
            <a:spLocks xmlns:a="http://schemas.openxmlformats.org/drawingml/2006/main" noGrp="1"/>
          </p:cNvSpPr>
          <p:nvPr/>
        </p:nvSpPr>
        <p:spPr>
          <a:xfrm xmlns:a="http://schemas.openxmlformats.org/drawingml/2006/main">
            <a:off x="457200" y="57340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buNone/>
              <a:defRPr sz="1650" b="1">
                <a:solidFill>
                  <a:srgbClr val="111111"/>
                </a:solidFill>
                <a:latin typeface="Arial"/>
                <a:ea typeface="Arial"/>
                <a:cs typeface="Arial"/>
              </a:defRPr>
            </a:pPr>
            <a:r>
              <a:rPr sz="1650" b="1">
                <a:solidFill>
                  <a:srgbClr val="111111"/>
                </a:solidFill>
                <a:latin typeface="Arial"/>
                <a:ea typeface="Arial"/>
                <a:cs typeface="Arial"/>
              </a:rPr>
              <a:t>Design rules</a:t>
            </a:r>
          </a:p>
        </p:txBody>
      </p:sp>
      <p:sp>
        <p:nvSpPr>
          <p:cNvPr id="15" name="">
            <a:extLst xmlns:a="http://schemas.openxmlformats.org/drawingml/2006/main">
              <a:ext uri="{FF2B5EF4-FFF2-40B4-BE49-F238E27FC236}">
                <a16:creationId xmlns:a16="http://schemas.microsoft.com/office/drawing/2014/main" id="{41518B7C-9C64-4496-B139-EFB768A1D8D5}"/>
              </a:ext>
            </a:extLst>
          </p:cNvPr>
          <p:cNvSpPr>
            <a:spLocks xmlns:a="http://schemas.openxmlformats.org/drawingml/2006/main" noGrp="1"/>
          </p:cNvSpPr>
          <p:nvPr/>
        </p:nvSpPr>
        <p:spPr>
          <a:xfrm xmlns:a="http://schemas.openxmlformats.org/drawingml/2006/main">
            <a:off x="2286000" y="5753100"/>
            <a:ext cx="8991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181"/>
          </a:bodyPr>
          <a:lstStyle xmlns:a="http://schemas.openxmlformats.org/drawingml/2006/main"/>
          <a:p xmlns:a="http://schemas.openxmlformats.org/drawingml/2006/main">
            <a:pPr algn="l">
              <a:buNone/>
              <a:defRPr sz="1350" b="0">
                <a:solidFill>
                  <a:srgbClr val="5F6670"/>
                </a:solidFill>
                <a:latin typeface="Arial"/>
                <a:ea typeface="Arial"/>
                <a:cs typeface="Arial"/>
              </a:defRPr>
            </a:pPr>
            <a:r>
              <a:rPr sz="1350" b="0">
                <a:solidFill>
                  <a:srgbClr val="5F6670"/>
                </a:solidFill>
                <a:latin typeface="Arial"/>
                <a:ea typeface="Arial"/>
                <a:cs typeface="Arial"/>
              </a:rPr>
              <a:t>Preserve raw evidence · compress on demand · retrieve with provenance · prevent stale facts · trace every memory use</a:t>
            </a:r>
          </a:p>
        </p:txBody>
      </p:sp>
    </p:spTree>
    <p:extLst>
      <p:ext uri="{BB962C8B-B14F-4D97-AF65-F5344CB8AC3E}">
        <p14:creationId xmlns:p14="http://schemas.microsoft.com/office/powerpoint/2010/main" val="37467472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10DDC51-CBFA-4FDF-9462-8C8F4E22727C}"/>
              </a:ext>
            </a:extLst>
          </p:cNvPr>
          <p:cNvSpPr>
            <a:spLocks xmlns:a="http://schemas.openxmlformats.org/drawingml/2006/main" noGrp="1"/>
          </p:cNvSpPr>
          <p:nvPr/>
        </p:nvSpPr>
        <p:spPr>
          <a:xfrm xmlns:a="http://schemas.openxmlformats.org/drawingml/2006/main">
            <a:off x="457200" y="4000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TAKEAWAY</a:t>
            </a:r>
          </a:p>
        </p:txBody>
      </p:sp>
      <p:sp>
        <p:nvSpPr>
          <p:cNvPr id="2" name="">
            <a:extLst xmlns:a="http://schemas.openxmlformats.org/drawingml/2006/main">
              <a:ext uri="{FF2B5EF4-FFF2-40B4-BE49-F238E27FC236}">
                <a16:creationId xmlns:a16="http://schemas.microsoft.com/office/drawing/2014/main" id="{DE267AF7-9C96-4EE5-A085-136D2436E062}"/>
              </a:ext>
            </a:extLst>
          </p:cNvPr>
          <p:cNvSpPr>
            <a:spLocks xmlns:a="http://schemas.openxmlformats.org/drawingml/2006/main" noGrp="1"/>
          </p:cNvSpPr>
          <p:nvPr/>
        </p:nvSpPr>
        <p:spPr>
          <a:xfrm xmlns:a="http://schemas.openxmlformats.org/drawingml/2006/main">
            <a:off x="457200" y="1428750"/>
            <a:ext cx="9810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4950" b="1">
                <a:solidFill>
                  <a:srgbClr val="111111"/>
                </a:solidFill>
                <a:latin typeface="Arial"/>
                <a:ea typeface="Arial"/>
                <a:cs typeface="Arial"/>
              </a:defRPr>
            </a:pPr>
            <a:r>
              <a:rPr sz="4950" b="1">
                <a:solidFill>
                  <a:srgbClr val="111111"/>
                </a:solidFill>
                <a:latin typeface="Arial"/>
                <a:ea typeface="Arial"/>
                <a:cs typeface="Arial"/>
              </a:rPr>
              <a:t>The system is deep</a:t>
            </a:r>
          </a:p>
          <a:p xmlns:a="http://schemas.openxmlformats.org/drawingml/2006/main">
            <a:pPr algn="l">
              <a:buNone/>
              <a:defRPr sz="4950" b="1">
                <a:solidFill>
                  <a:srgbClr val="111111"/>
                </a:solidFill>
                <a:latin typeface="Arial"/>
                <a:ea typeface="Arial"/>
                <a:cs typeface="Arial"/>
              </a:defRPr>
            </a:pPr>
            <a:r>
              <a:rPr sz="4950" b="1">
                <a:solidFill>
                  <a:srgbClr val="111111"/>
                </a:solidFill>
                <a:latin typeface="Arial"/>
                <a:ea typeface="Arial"/>
                <a:cs typeface="Arial"/>
              </a:rPr>
              <a:t>because it can revise itself.</a:t>
            </a:r>
          </a:p>
        </p:txBody>
      </p:sp>
      <p:sp>
        <p:nvSpPr>
          <p:cNvPr id="3" name="">
            <a:extLst xmlns:a="http://schemas.openxmlformats.org/drawingml/2006/main">
              <a:ext uri="{FF2B5EF4-FFF2-40B4-BE49-F238E27FC236}">
                <a16:creationId xmlns:a16="http://schemas.microsoft.com/office/drawing/2014/main" id="{E05BC525-2B8B-4701-9963-31F091E63B33}"/>
              </a:ext>
            </a:extLst>
          </p:cNvPr>
          <p:cNvSpPr>
            <a:spLocks xmlns:a="http://schemas.openxmlformats.org/drawingml/2006/main" noGrp="1"/>
          </p:cNvSpPr>
          <p:nvPr/>
        </p:nvSpPr>
        <p:spPr>
          <a:xfrm xmlns:a="http://schemas.openxmlformats.org/drawingml/2006/main">
            <a:off x="457200" y="3943350"/>
            <a:ext cx="1333500" cy="762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4" name="">
            <a:extLst xmlns:a="http://schemas.openxmlformats.org/drawingml/2006/main">
              <a:ext uri="{FF2B5EF4-FFF2-40B4-BE49-F238E27FC236}">
                <a16:creationId xmlns:a16="http://schemas.microsoft.com/office/drawing/2014/main" id="{01B76ECD-AB1E-4B89-A318-894F2E328078}"/>
              </a:ext>
            </a:extLst>
          </p:cNvPr>
          <p:cNvSpPr>
            <a:spLocks xmlns:a="http://schemas.openxmlformats.org/drawingml/2006/main" noGrp="1"/>
          </p:cNvSpPr>
          <p:nvPr/>
        </p:nvSpPr>
        <p:spPr>
          <a:xfrm xmlns:a="http://schemas.openxmlformats.org/drawingml/2006/main">
            <a:off x="457200" y="4514850"/>
            <a:ext cx="5334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111111"/>
                </a:solidFill>
                <a:latin typeface="Arial"/>
                <a:ea typeface="Arial"/>
                <a:cs typeface="Arial"/>
              </a:defRPr>
            </a:pPr>
            <a:r>
              <a:rPr sz="1800" b="0">
                <a:solidFill>
                  <a:srgbClr val="111111"/>
                </a:solidFill>
                <a:latin typeface="Arial"/>
                <a:ea typeface="Arial"/>
                <a:cs typeface="Arial"/>
              </a:rPr>
              <a:t>Evidence-first contracts</a:t>
            </a:r>
          </a:p>
          <a:p xmlns:a="http://schemas.openxmlformats.org/drawingml/2006/main">
            <a:pPr algn="l">
              <a:buNone/>
              <a:defRPr sz="1800" b="0">
                <a:solidFill>
                  <a:srgbClr val="111111"/>
                </a:solidFill>
                <a:latin typeface="Arial"/>
                <a:ea typeface="Arial"/>
                <a:cs typeface="Arial"/>
              </a:defRPr>
            </a:pPr>
            <a:r>
              <a:rPr sz="1800" b="0">
                <a:solidFill>
                  <a:srgbClr val="111111"/>
                </a:solidFill>
                <a:latin typeface="Arial"/>
                <a:ea typeface="Arial"/>
                <a:cs typeface="Arial"/>
              </a:rPr>
              <a:t>Bounded adaptive loops</a:t>
            </a:r>
          </a:p>
          <a:p xmlns:a="http://schemas.openxmlformats.org/drawingml/2006/main">
            <a:pPr algn="l">
              <a:buNone/>
              <a:defRPr sz="1800" b="0">
                <a:solidFill>
                  <a:srgbClr val="111111"/>
                </a:solidFill>
                <a:latin typeface="Arial"/>
                <a:ea typeface="Arial"/>
                <a:cs typeface="Arial"/>
              </a:defRPr>
            </a:pPr>
            <a:r>
              <a:rPr sz="1800" b="0">
                <a:solidFill>
                  <a:srgbClr val="111111"/>
                </a:solidFill>
                <a:latin typeface="Arial"/>
                <a:ea typeface="Arial"/>
                <a:cs typeface="Arial"/>
              </a:rPr>
              <a:t>Durable recovery</a:t>
            </a:r>
          </a:p>
          <a:p xmlns:a="http://schemas.openxmlformats.org/drawingml/2006/main">
            <a:pPr algn="l">
              <a:buNone/>
              <a:defRPr sz="1800" b="0">
                <a:solidFill>
                  <a:srgbClr val="111111"/>
                </a:solidFill>
                <a:latin typeface="Arial"/>
                <a:ea typeface="Arial"/>
                <a:cs typeface="Arial"/>
              </a:defRPr>
            </a:pPr>
            <a:r>
              <a:rPr sz="1800" b="0">
                <a:solidFill>
                  <a:srgbClr val="111111"/>
                </a:solidFill>
                <a:latin typeface="Arial"/>
                <a:ea typeface="Arial"/>
                <a:cs typeface="Arial"/>
              </a:rPr>
              <a:t>Observable model economics</a:t>
            </a:r>
          </a:p>
        </p:txBody>
      </p:sp>
      <p:sp>
        <p:nvSpPr>
          <p:cNvPr id="5" name="">
            <a:extLst xmlns:a="http://schemas.openxmlformats.org/drawingml/2006/main">
              <a:ext uri="{FF2B5EF4-FFF2-40B4-BE49-F238E27FC236}">
                <a16:creationId xmlns:a16="http://schemas.microsoft.com/office/drawing/2014/main" id="{18AFB3E2-74DD-4CAF-B0BD-F1B1047E297A}"/>
              </a:ext>
            </a:extLst>
          </p:cNvPr>
          <p:cNvSpPr>
            <a:spLocks xmlns:a="http://schemas.openxmlformats.org/drawingml/2006/main" noGrp="1"/>
          </p:cNvSpPr>
          <p:nvPr/>
        </p:nvSpPr>
        <p:spPr>
          <a:xfrm xmlns:a="http://schemas.openxmlformats.org/drawingml/2006/main">
            <a:off x="8858250" y="52387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buNone/>
              <a:defRPr sz="2625" b="1">
                <a:solidFill>
                  <a:srgbClr val="111111"/>
                </a:solidFill>
                <a:latin typeface="Arial"/>
                <a:ea typeface="Arial"/>
                <a:cs typeface="Arial"/>
              </a:defRPr>
            </a:pPr>
            <a:r>
              <a:rPr sz="2625" b="1">
                <a:solidFill>
                  <a:srgbClr val="111111"/>
                </a:solidFill>
                <a:latin typeface="Arial"/>
                <a:ea typeface="Arial"/>
                <a:cs typeface="Arial"/>
              </a:rPr>
              <a:t>Questions</a:t>
            </a:r>
          </a:p>
        </p:txBody>
      </p:sp>
    </p:spTree>
    <p:extLst>
      <p:ext uri="{BB962C8B-B14F-4D97-AF65-F5344CB8AC3E}">
        <p14:creationId xmlns:p14="http://schemas.microsoft.com/office/powerpoint/2010/main" val="21221289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2026-08-05T07:17:47.7780000Z</dcterms:created>
  <dcterms:modified xsi:type="dcterms:W3CDTF">2026-08-05T07:17:47.7780000Z</dcterms:modified>
</coreProperties>
</file>